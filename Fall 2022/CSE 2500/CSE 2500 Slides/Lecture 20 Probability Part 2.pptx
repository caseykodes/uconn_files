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257" r:id="rId2"/>
    <p:sldId id="258" r:id="rId3"/>
    <p:sldId id="299" r:id="rId4"/>
    <p:sldId id="277" r:id="rId5"/>
    <p:sldId id="278" r:id="rId6"/>
    <p:sldId id="279" r:id="rId7"/>
    <p:sldId id="280" r:id="rId8"/>
    <p:sldId id="281" r:id="rId9"/>
    <p:sldId id="282" r:id="rId10"/>
    <p:sldId id="283" r:id="rId11"/>
    <p:sldId id="284" r:id="rId12"/>
    <p:sldId id="285" r:id="rId13"/>
    <p:sldId id="286" r:id="rId14"/>
    <p:sldId id="287" r:id="rId15"/>
    <p:sldId id="288" r:id="rId16"/>
    <p:sldId id="289" r:id="rId17"/>
    <p:sldId id="290" r:id="rId18"/>
    <p:sldId id="291" r:id="rId19"/>
    <p:sldId id="292" r:id="rId20"/>
    <p:sldId id="293" r:id="rId21"/>
    <p:sldId id="263" r:id="rId22"/>
    <p:sldId id="264" r:id="rId23"/>
    <p:sldId id="265" r:id="rId24"/>
    <p:sldId id="266" r:id="rId25"/>
    <p:sldId id="294" r:id="rId26"/>
    <p:sldId id="295" r:id="rId27"/>
    <p:sldId id="296" r:id="rId28"/>
    <p:sldId id="297" r:id="rId29"/>
    <p:sldId id="298" r:id="rId30"/>
    <p:sldId id="300" r:id="rId31"/>
    <p:sldId id="301" r:id="rId32"/>
    <p:sldId id="302" r:id="rId33"/>
    <p:sldId id="303" r:id="rId34"/>
    <p:sldId id="304" r:id="rId35"/>
    <p:sldId id="306" r:id="rId36"/>
    <p:sldId id="307" r:id="rId37"/>
    <p:sldId id="308" r:id="rId38"/>
    <p:sldId id="309" r:id="rId39"/>
    <p:sldId id="310" r:id="rId40"/>
    <p:sldId id="311" r:id="rId41"/>
    <p:sldId id="312" r:id="rId42"/>
    <p:sldId id="313" r:id="rId43"/>
    <p:sldId id="314" r:id="rId44"/>
    <p:sldId id="26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58229E-8C57-45D5-80B5-EC500A39B088}" type="datetimeFigureOut">
              <a:rPr lang="en-US" smtClean="0"/>
              <a:t>11/14/2022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0E58B5-AD85-4ADD-8244-B53B243E6069}" type="slidenum">
              <a:rPr lang="en-US" smtClean="0"/>
              <a:t>‹#›</a:t>
            </a:fld>
            <a:endParaRPr lang="en-US"/>
          </a:p>
        </p:txBody>
      </p:sp>
    </p:spTree>
    <p:extLst>
      <p:ext uri="{BB962C8B-B14F-4D97-AF65-F5344CB8AC3E}">
        <p14:creationId xmlns:p14="http://schemas.microsoft.com/office/powerpoint/2010/main" val="2462843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0E58B5-AD85-4ADD-8244-B53B243E6069}" type="slidenum">
              <a:rPr lang="en-US" smtClean="0"/>
              <a:t>38</a:t>
            </a:fld>
            <a:endParaRPr lang="en-US"/>
          </a:p>
        </p:txBody>
      </p:sp>
    </p:spTree>
    <p:extLst>
      <p:ext uri="{BB962C8B-B14F-4D97-AF65-F5344CB8AC3E}">
        <p14:creationId xmlns:p14="http://schemas.microsoft.com/office/powerpoint/2010/main" val="1904794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0E58B5-AD85-4ADD-8244-B53B243E6069}" type="slidenum">
              <a:rPr lang="en-US" smtClean="0"/>
              <a:t>39</a:t>
            </a:fld>
            <a:endParaRPr lang="en-US"/>
          </a:p>
        </p:txBody>
      </p:sp>
    </p:spTree>
    <p:extLst>
      <p:ext uri="{BB962C8B-B14F-4D97-AF65-F5344CB8AC3E}">
        <p14:creationId xmlns:p14="http://schemas.microsoft.com/office/powerpoint/2010/main" val="96848419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2AEA2-2B8F-E941-1D46-D19B83FE0F9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5E3ECCA-0923-03C0-13C4-8B7B67FBBF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6C0100B-83AD-DA34-6C5B-392CA6AE783E}"/>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A7D29C29-0488-3E3B-A525-EC0A5CE97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8B1BE2-6522-8740-34E3-C0E805C2013D}"/>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937669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95BB-E432-8341-ABE5-D53C4DE35C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825BFCF-AE16-962B-A601-29D341B018D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4370EE-10E9-2801-3F2A-FB7A4F9DB8C5}"/>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2ABEE98F-3511-63F5-0856-A987BC180F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BAA224-B19E-2E1A-E3D0-D0B7321205F6}"/>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14350609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D30BC-33E8-AAED-C9F2-0C70381C52B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B7197A8-C0F6-C26D-C1C4-BB3D724F8D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0A0EFE-58A9-B7C0-D1EC-83BBC9A29484}"/>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4DFDF8AE-F019-9A90-828C-6B7BFDEBBD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6401C2-03ED-2EB5-0A1B-C0D1A269D1EC}"/>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2773901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4965B-EF11-15B5-7194-BA8987E5B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8172CA-B60D-6D2A-4AE9-A886BB3B3C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BC1BE67-7A5D-60A6-8460-4CADF2808D4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4B61790-AB76-DB7D-915F-EB8FCA5F860A}"/>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6" name="Footer Placeholder 5">
            <a:extLst>
              <a:ext uri="{FF2B5EF4-FFF2-40B4-BE49-F238E27FC236}">
                <a16:creationId xmlns:a16="http://schemas.microsoft.com/office/drawing/2014/main" id="{D0A6A81D-85C9-3771-323A-6CD2D5DCAD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2079DC-1B7D-1415-CE13-20AFF6E292DD}"/>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24853756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351EA-A6C0-8281-48A9-ECC33A1429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DB09AC-59AE-D691-15E1-4FE3447FDC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73EDF6-D66F-7F80-60EE-DC141E0E3EC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E4C7D3-8D51-0159-E729-71ACEEF2095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9920B78-4713-B67C-4C95-A74D2A61514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79B513F-EA10-E368-970D-3F4131219F77}"/>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8" name="Footer Placeholder 7">
            <a:extLst>
              <a:ext uri="{FF2B5EF4-FFF2-40B4-BE49-F238E27FC236}">
                <a16:creationId xmlns:a16="http://schemas.microsoft.com/office/drawing/2014/main" id="{6A1ED990-3A71-8B17-0BC7-6C55127D45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F524C5-8780-2838-1F49-D7EA83ADE8D7}"/>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19530189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4450D-4685-F71F-F073-050AE1B46C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D6BC04F-499D-211D-D1A0-9E9E3957AB97}"/>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4" name="Footer Placeholder 3">
            <a:extLst>
              <a:ext uri="{FF2B5EF4-FFF2-40B4-BE49-F238E27FC236}">
                <a16:creationId xmlns:a16="http://schemas.microsoft.com/office/drawing/2014/main" id="{61CF2389-EB82-E841-AA84-7C026E10DB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A47F3E6-8037-D6E8-4BFB-C2B31C8C364C}"/>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416696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E90B22-C928-34B6-919D-094D55C4AC66}"/>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3" name="Footer Placeholder 2">
            <a:extLst>
              <a:ext uri="{FF2B5EF4-FFF2-40B4-BE49-F238E27FC236}">
                <a16:creationId xmlns:a16="http://schemas.microsoft.com/office/drawing/2014/main" id="{DBBEF4CE-E51E-5668-B203-35D3C05598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E237F83-8D9E-EDA0-2F71-67FA9A231E4D}"/>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2373921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AB9F-7880-9CF4-05D3-2CF537CDBA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28BC88-6B5B-77AE-6501-9FEF1B3921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454B4A4-71AE-A9A3-C85A-956A9E6039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269346-7E32-DAAE-9A38-FD02F2191433}"/>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6" name="Footer Placeholder 5">
            <a:extLst>
              <a:ext uri="{FF2B5EF4-FFF2-40B4-BE49-F238E27FC236}">
                <a16:creationId xmlns:a16="http://schemas.microsoft.com/office/drawing/2014/main" id="{2EA36D45-A89B-E273-27D7-E7098610B0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BC8BAAF-DF04-0B2F-AA94-B50BC93F2D44}"/>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2949815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BAD26-C7D8-7DE1-CF24-48E61BCFFA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EF3DEED-0761-506F-3049-28AE626B4D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2ECA5D-318A-9639-BD4F-5D0C5C4D65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7AB3CDF-054D-CBEA-3EC9-35371D1D9BAE}"/>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6" name="Footer Placeholder 5">
            <a:extLst>
              <a:ext uri="{FF2B5EF4-FFF2-40B4-BE49-F238E27FC236}">
                <a16:creationId xmlns:a16="http://schemas.microsoft.com/office/drawing/2014/main" id="{700CFC9E-DA23-E294-C506-93CD2EAE1B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6B2CDF-24B4-CA57-D183-F3BC7E2DC599}"/>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13670773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6F196-317D-C8BB-24B2-29F8A949F3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C85AEB-77C9-B155-4E6E-30F73C806D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3D0D55-EECD-1123-3E19-2CF34E965CE0}"/>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AC1F5EEF-52F4-F5F3-02A7-C324F7A448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8102660-5929-009A-CE9A-0A5AED28B654}"/>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4175546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B12239-A6BC-6EB8-B0E3-7519CAD93BC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71A435D-3236-4A0C-3993-31F659BDCA3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60D892-B438-A607-A684-C159E7EFBECD}"/>
              </a:ext>
            </a:extLst>
          </p:cNvPr>
          <p:cNvSpPr>
            <a:spLocks noGrp="1"/>
          </p:cNvSpPr>
          <p:nvPr>
            <p:ph type="dt" sz="half" idx="10"/>
          </p:nvPr>
        </p:nvSpPr>
        <p:spPr/>
        <p:txBody>
          <a:body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3168E6BD-C547-424E-BA02-55A0DA7FFD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5B6AB-1CDF-EF92-543E-A4371D843945}"/>
              </a:ext>
            </a:extLst>
          </p:cNvPr>
          <p:cNvSpPr>
            <a:spLocks noGrp="1"/>
          </p:cNvSpPr>
          <p:nvPr>
            <p:ph type="sldNum" sz="quarter" idx="12"/>
          </p:nvPr>
        </p:nvSpPr>
        <p:spPr/>
        <p:txBody>
          <a:bodyPr/>
          <a:lstStyle/>
          <a:p>
            <a:fld id="{A72F5B69-67D8-467C-8C50-4F73B1976713}" type="slidenum">
              <a:rPr lang="en-US" smtClean="0"/>
              <a:t>‹#›</a:t>
            </a:fld>
            <a:endParaRPr lang="en-US"/>
          </a:p>
        </p:txBody>
      </p:sp>
    </p:spTree>
    <p:extLst>
      <p:ext uri="{BB962C8B-B14F-4D97-AF65-F5344CB8AC3E}">
        <p14:creationId xmlns:p14="http://schemas.microsoft.com/office/powerpoint/2010/main" val="17341689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B7045E-226F-576D-39A9-3FCE425FD9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774F8C1-79FC-4518-8B28-CC27FEDE02E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1B1D5E-1D6C-ACC5-65DD-9F7D8711FA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19057B2-F643-4423-9CB1-DCBDF9F9ADA3}" type="datetimeFigureOut">
              <a:rPr lang="en-US" smtClean="0"/>
              <a:t>11/14/2022</a:t>
            </a:fld>
            <a:endParaRPr lang="en-US"/>
          </a:p>
        </p:txBody>
      </p:sp>
      <p:sp>
        <p:nvSpPr>
          <p:cNvPr id="5" name="Footer Placeholder 4">
            <a:extLst>
              <a:ext uri="{FF2B5EF4-FFF2-40B4-BE49-F238E27FC236}">
                <a16:creationId xmlns:a16="http://schemas.microsoft.com/office/drawing/2014/main" id="{ADD2150E-C1CC-B073-973E-9992683271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8C7F639-266A-637A-FA6C-99D8C937F7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2F5B69-67D8-467C-8C50-4F73B1976713}" type="slidenum">
              <a:rPr lang="en-US" smtClean="0"/>
              <a:t>‹#›</a:t>
            </a:fld>
            <a:endParaRPr lang="en-US"/>
          </a:p>
        </p:txBody>
      </p:sp>
    </p:spTree>
    <p:extLst>
      <p:ext uri="{BB962C8B-B14F-4D97-AF65-F5344CB8AC3E}">
        <p14:creationId xmlns:p14="http://schemas.microsoft.com/office/powerpoint/2010/main" val="361123107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2.png"/><Relationship Id="rId1" Type="http://schemas.openxmlformats.org/officeDocument/2006/relationships/slideLayout" Target="../slideLayouts/slideLayout7.xml"/><Relationship Id="rId4" Type="http://schemas.microsoft.com/office/2007/relationships/hdphoto" Target="../media/hdphoto1.wdp"/></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26.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45.png"/><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7.png"/><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4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hyperlink" Target="https://theawesomedaily.com/wp-content/uploads/2020/04/puts-on-sunglasses-feat-1-1.jpg" TargetMode="External"/><Relationship Id="rId13" Type="http://schemas.openxmlformats.org/officeDocument/2006/relationships/hyperlink" Target="https://focusgn.com/wp-content/uploads/2020/08/monte-carlo-casino-introduces-digital-french-roulette-600x400.jpg" TargetMode="External"/><Relationship Id="rId3" Type="http://schemas.openxmlformats.org/officeDocument/2006/relationships/hyperlink" Target="https://upload.wikimedia.org/wikipedia/commons/thumb/0/0d/Sim%C3%A9onDenisPoisson.jpg/800px-Sim%C3%A9onDenisPoisson.jpg" TargetMode="External"/><Relationship Id="rId7" Type="http://schemas.openxmlformats.org/officeDocument/2006/relationships/hyperlink" Target="https://herway.net/wp-content/uploads/2020/03/Confused-Man-8-Reasons-For-His-Uncertainty-And-How-To-Deal-With-It.jpg" TargetMode="External"/><Relationship Id="rId12" Type="http://schemas.openxmlformats.org/officeDocument/2006/relationships/hyperlink" Target="https://ocw.mit.edu/courses/18-05-introduction-to-probability-and-statistics-spring-2014/pages/class-slides/" TargetMode="External"/><Relationship Id="rId2" Type="http://schemas.openxmlformats.org/officeDocument/2006/relationships/hyperlink" Target="https://gdb.voanews.com/2DAA72F0-CF5B-4D84-B996-8351DF7C1193_cx0_cy6_cw0_w1080_h608.jpg" TargetMode="External"/><Relationship Id="rId1" Type="http://schemas.openxmlformats.org/officeDocument/2006/relationships/slideLayout" Target="../slideLayouts/slideLayout2.xml"/><Relationship Id="rId6" Type="http://schemas.openxmlformats.org/officeDocument/2006/relationships/hyperlink" Target="https://upload.wikimedia.org/wikipedia/commons/1/1a/Crystal_Project_computer.png" TargetMode="External"/><Relationship Id="rId11" Type="http://schemas.openxmlformats.org/officeDocument/2006/relationships/hyperlink" Target="https://1000logos.net/wp-content/uploads/2022/08/MIT-Logo.png" TargetMode="External"/><Relationship Id="rId5" Type="http://schemas.openxmlformats.org/officeDocument/2006/relationships/hyperlink" Target="https://upload.wikimedia.org/wikipedia/commons/thumb/a/ab/Florence_Nightingale_%28H_Hering_NPG_x82368%29.jpg/800px-Florence_Nightingale_%28H_Hering_NPG_x82368%29.jpg" TargetMode="External"/><Relationship Id="rId10" Type="http://schemas.openxmlformats.org/officeDocument/2006/relationships/hyperlink" Target="https://i.ytimg.com/vi/elmZ-SFw5a4/maxresdefault.jpg" TargetMode="External"/><Relationship Id="rId4" Type="http://schemas.openxmlformats.org/officeDocument/2006/relationships/hyperlink" Target="https://cdn.britannica.com/27/190027-050-A9A35298/Carl-Friedrich-Gauss-engraving.jpg" TargetMode="External"/><Relationship Id="rId9" Type="http://schemas.openxmlformats.org/officeDocument/2006/relationships/hyperlink" Target="https://cdn.vox-cdn.com/thumbor/mFiywP9BUHDC8AIRBDYJvXdfQiA=/1400x1050/filters:format(jpeg)/cdn.vox-cdn.com/uploads/chorus_asset/file/23265504/Spider_Man_meme.jp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3C04B-99DA-465F-9622-6B3B5A36CF10}"/>
              </a:ext>
            </a:extLst>
          </p:cNvPr>
          <p:cNvSpPr>
            <a:spLocks noGrp="1"/>
          </p:cNvSpPr>
          <p:nvPr>
            <p:ph type="ctrTitle"/>
          </p:nvPr>
        </p:nvSpPr>
        <p:spPr>
          <a:xfrm>
            <a:off x="0" y="0"/>
            <a:ext cx="12192000" cy="839902"/>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spPr>
        <p:txBody>
          <a:bodyPr>
            <a:normAutofit/>
          </a:bodyPr>
          <a:lstStyle/>
          <a:p>
            <a:r>
              <a:rPr lang="en-US" sz="4800" dirty="0"/>
              <a:t>CSE 2500: Introduction to Discrete Systems</a:t>
            </a:r>
          </a:p>
        </p:txBody>
      </p:sp>
      <p:sp>
        <p:nvSpPr>
          <p:cNvPr id="3" name="Subtitle 2">
            <a:extLst>
              <a:ext uri="{FF2B5EF4-FFF2-40B4-BE49-F238E27FC236}">
                <a16:creationId xmlns:a16="http://schemas.microsoft.com/office/drawing/2014/main" id="{59245AFA-748C-4441-9A3A-253D6A215DF6}"/>
              </a:ext>
            </a:extLst>
          </p:cNvPr>
          <p:cNvSpPr>
            <a:spLocks noGrp="1"/>
          </p:cNvSpPr>
          <p:nvPr>
            <p:ph type="subTitle" idx="1"/>
          </p:nvPr>
        </p:nvSpPr>
        <p:spPr>
          <a:xfrm>
            <a:off x="1430693" y="5202238"/>
            <a:ext cx="9144000" cy="1655762"/>
          </a:xfrm>
        </p:spPr>
        <p:txBody>
          <a:bodyPr/>
          <a:lstStyle/>
          <a:p>
            <a:r>
              <a:rPr lang="en-US" dirty="0"/>
              <a:t>Kaleel Mahmood </a:t>
            </a:r>
          </a:p>
          <a:p>
            <a:r>
              <a:rPr lang="en-US" dirty="0"/>
              <a:t>Department of Computer Science and Engineering</a:t>
            </a:r>
          </a:p>
          <a:p>
            <a:r>
              <a:rPr lang="en-US" dirty="0"/>
              <a:t>University of Connecticut</a:t>
            </a:r>
          </a:p>
        </p:txBody>
      </p:sp>
      <p:sp>
        <p:nvSpPr>
          <p:cNvPr id="4" name="Subtitle 2">
            <a:extLst>
              <a:ext uri="{FF2B5EF4-FFF2-40B4-BE49-F238E27FC236}">
                <a16:creationId xmlns:a16="http://schemas.microsoft.com/office/drawing/2014/main" id="{02CB5F35-6329-406D-89BD-C9BBF92B1EAD}"/>
              </a:ext>
            </a:extLst>
          </p:cNvPr>
          <p:cNvSpPr txBox="1">
            <a:spLocks/>
          </p:cNvSpPr>
          <p:nvPr/>
        </p:nvSpPr>
        <p:spPr>
          <a:xfrm>
            <a:off x="0" y="2761861"/>
            <a:ext cx="12192000" cy="1510287"/>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4800" dirty="0"/>
              <a:t>Lecture 20: Probability Part 2</a:t>
            </a:r>
          </a:p>
        </p:txBody>
      </p:sp>
    </p:spTree>
    <p:extLst>
      <p:ext uri="{BB962C8B-B14F-4D97-AF65-F5344CB8AC3E}">
        <p14:creationId xmlns:p14="http://schemas.microsoft.com/office/powerpoint/2010/main" val="25212347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52ABE-08EB-8729-43A1-151D3A7F8683}"/>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Review From Last Lecture</a:t>
            </a:r>
          </a:p>
        </p:txBody>
      </p:sp>
      <p:pic>
        <p:nvPicPr>
          <p:cNvPr id="3" name="Picture 2">
            <a:extLst>
              <a:ext uri="{FF2B5EF4-FFF2-40B4-BE49-F238E27FC236}">
                <a16:creationId xmlns:a16="http://schemas.microsoft.com/office/drawing/2014/main" id="{CD913BD6-6E59-2261-1F93-7606E2664D65}"/>
              </a:ext>
            </a:extLst>
          </p:cNvPr>
          <p:cNvPicPr>
            <a:picLocks noChangeAspect="1"/>
          </p:cNvPicPr>
          <p:nvPr/>
        </p:nvPicPr>
        <p:blipFill>
          <a:blip r:embed="rId2"/>
          <a:stretch>
            <a:fillRect/>
          </a:stretch>
        </p:blipFill>
        <p:spPr>
          <a:xfrm>
            <a:off x="4345207" y="5312765"/>
            <a:ext cx="7418906" cy="1180110"/>
          </a:xfrm>
          <a:prstGeom prst="rect">
            <a:avLst/>
          </a:prstGeom>
        </p:spPr>
      </p:pic>
      <p:pic>
        <p:nvPicPr>
          <p:cNvPr id="4" name="Picture 3">
            <a:extLst>
              <a:ext uri="{FF2B5EF4-FFF2-40B4-BE49-F238E27FC236}">
                <a16:creationId xmlns:a16="http://schemas.microsoft.com/office/drawing/2014/main" id="{EE5B0591-19BE-AD83-E3B1-15CF294620C1}"/>
              </a:ext>
            </a:extLst>
          </p:cNvPr>
          <p:cNvPicPr>
            <a:picLocks noChangeAspect="1"/>
          </p:cNvPicPr>
          <p:nvPr/>
        </p:nvPicPr>
        <p:blipFill>
          <a:blip r:embed="rId3"/>
          <a:stretch>
            <a:fillRect/>
          </a:stretch>
        </p:blipFill>
        <p:spPr>
          <a:xfrm>
            <a:off x="1006152" y="5117906"/>
            <a:ext cx="3131190" cy="1740094"/>
          </a:xfrm>
          <a:prstGeom prst="rect">
            <a:avLst/>
          </a:prstGeom>
        </p:spPr>
      </p:pic>
      <p:sp>
        <p:nvSpPr>
          <p:cNvPr id="5" name="TextBox 4">
            <a:extLst>
              <a:ext uri="{FF2B5EF4-FFF2-40B4-BE49-F238E27FC236}">
                <a16:creationId xmlns:a16="http://schemas.microsoft.com/office/drawing/2014/main" id="{A26931FC-9E6D-E8F6-22F6-70DB1505AACC}"/>
              </a:ext>
            </a:extLst>
          </p:cNvPr>
          <p:cNvSpPr txBox="1"/>
          <p:nvPr/>
        </p:nvSpPr>
        <p:spPr>
          <a:xfrm>
            <a:off x="1006152" y="4546563"/>
            <a:ext cx="10515600" cy="523220"/>
          </a:xfrm>
          <a:prstGeom prst="rect">
            <a:avLst/>
          </a:prstGeom>
          <a:noFill/>
        </p:spPr>
        <p:txBody>
          <a:bodyPr wrap="square" rtlCol="0">
            <a:spAutoFit/>
          </a:bodyPr>
          <a:lstStyle/>
          <a:p>
            <a:pPr algn="ctr"/>
            <a:r>
              <a:rPr lang="en-US" sz="2800" u="sng" dirty="0"/>
              <a:t>The Monty Hall Problem</a:t>
            </a:r>
          </a:p>
        </p:txBody>
      </p:sp>
      <p:pic>
        <p:nvPicPr>
          <p:cNvPr id="6" name="Picture 5">
            <a:extLst>
              <a:ext uri="{FF2B5EF4-FFF2-40B4-BE49-F238E27FC236}">
                <a16:creationId xmlns:a16="http://schemas.microsoft.com/office/drawing/2014/main" id="{3D0BF3BB-42A4-96C7-EF05-E7D12571CCB6}"/>
              </a:ext>
            </a:extLst>
          </p:cNvPr>
          <p:cNvPicPr>
            <a:picLocks noChangeAspect="1"/>
          </p:cNvPicPr>
          <p:nvPr/>
        </p:nvPicPr>
        <p:blipFill>
          <a:blip r:embed="rId4"/>
          <a:stretch>
            <a:fillRect/>
          </a:stretch>
        </p:blipFill>
        <p:spPr>
          <a:xfrm>
            <a:off x="346230" y="2055054"/>
            <a:ext cx="5252094" cy="1973348"/>
          </a:xfrm>
          <a:prstGeom prst="rect">
            <a:avLst/>
          </a:prstGeom>
        </p:spPr>
      </p:pic>
      <p:pic>
        <p:nvPicPr>
          <p:cNvPr id="7" name="Picture 6">
            <a:extLst>
              <a:ext uri="{FF2B5EF4-FFF2-40B4-BE49-F238E27FC236}">
                <a16:creationId xmlns:a16="http://schemas.microsoft.com/office/drawing/2014/main" id="{5ED2185B-BC4C-9056-E5DC-67D516DFB082}"/>
              </a:ext>
            </a:extLst>
          </p:cNvPr>
          <p:cNvPicPr>
            <a:picLocks noChangeAspect="1"/>
          </p:cNvPicPr>
          <p:nvPr/>
        </p:nvPicPr>
        <p:blipFill>
          <a:blip r:embed="rId5"/>
          <a:stretch>
            <a:fillRect/>
          </a:stretch>
        </p:blipFill>
        <p:spPr>
          <a:xfrm>
            <a:off x="5666840" y="1846513"/>
            <a:ext cx="6246576" cy="2457068"/>
          </a:xfrm>
          <a:prstGeom prst="rect">
            <a:avLst/>
          </a:prstGeom>
        </p:spPr>
      </p:pic>
    </p:spTree>
    <p:extLst>
      <p:ext uri="{BB962C8B-B14F-4D97-AF65-F5344CB8AC3E}">
        <p14:creationId xmlns:p14="http://schemas.microsoft.com/office/powerpoint/2010/main" val="207709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500" fill="hold"/>
                                        <p:tgtEl>
                                          <p:spTgt spid="5"/>
                                        </p:tgtEl>
                                        <p:attrNameLst>
                                          <p:attrName>ppt_x</p:attrName>
                                        </p:attrNameLst>
                                      </p:cBhvr>
                                      <p:tavLst>
                                        <p:tav tm="0">
                                          <p:val>
                                            <p:strVal val="#ppt_x"/>
                                          </p:val>
                                        </p:tav>
                                        <p:tav tm="100000">
                                          <p:val>
                                            <p:strVal val="#ppt_x"/>
                                          </p:val>
                                        </p:tav>
                                      </p:tavLst>
                                    </p:anim>
                                    <p:anim calcmode="lin" valueType="num">
                                      <p:cBhvr additive="base">
                                        <p:cTn id="17" dur="500" fill="hold"/>
                                        <p:tgtEl>
                                          <p:spTgt spid="5"/>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additive="base">
                                        <p:cTn id="20" dur="500" fill="hold"/>
                                        <p:tgtEl>
                                          <p:spTgt spid="3"/>
                                        </p:tgtEl>
                                        <p:attrNameLst>
                                          <p:attrName>ppt_x</p:attrName>
                                        </p:attrNameLst>
                                      </p:cBhvr>
                                      <p:tavLst>
                                        <p:tav tm="0">
                                          <p:val>
                                            <p:strVal val="#ppt_x"/>
                                          </p:val>
                                        </p:tav>
                                        <p:tav tm="100000">
                                          <p:val>
                                            <p:strVal val="#ppt_x"/>
                                          </p:val>
                                        </p:tav>
                                      </p:tavLst>
                                    </p:anim>
                                    <p:anim calcmode="lin" valueType="num">
                                      <p:cBhvr additive="base">
                                        <p:cTn id="2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249BA-F031-A1ED-3518-D3EC9E2487DD}"/>
              </a:ext>
            </a:extLst>
          </p:cNvPr>
          <p:cNvSpPr>
            <a:spLocks noGrp="1"/>
          </p:cNvSpPr>
          <p:nvPr>
            <p:ph type="title"/>
          </p:nvPr>
        </p:nvSpPr>
        <p:spPr>
          <a:xfrm>
            <a:off x="0" y="63285"/>
            <a:ext cx="12192000" cy="1325563"/>
          </a:xfrm>
        </p:spPr>
        <p:txBody>
          <a:bodyPr>
            <a:normAutofit/>
          </a:bodyPr>
          <a:lstStyle/>
          <a:p>
            <a:r>
              <a:rPr lang="en-US" sz="3200" dirty="0"/>
              <a:t>A quick aside: </a:t>
            </a:r>
            <a:r>
              <a:rPr lang="en-US" sz="3200" i="1" dirty="0"/>
              <a:t>What is the difference between probability and statistics? </a:t>
            </a:r>
          </a:p>
        </p:txBody>
      </p:sp>
      <p:sp>
        <p:nvSpPr>
          <p:cNvPr id="3" name="Content Placeholder 2">
            <a:extLst>
              <a:ext uri="{FF2B5EF4-FFF2-40B4-BE49-F238E27FC236}">
                <a16:creationId xmlns:a16="http://schemas.microsoft.com/office/drawing/2014/main" id="{376762FC-4198-CD9C-A2EF-68AC014B2B1C}"/>
              </a:ext>
            </a:extLst>
          </p:cNvPr>
          <p:cNvSpPr>
            <a:spLocks noGrp="1"/>
          </p:cNvSpPr>
          <p:nvPr>
            <p:ph idx="1"/>
          </p:nvPr>
        </p:nvSpPr>
        <p:spPr>
          <a:xfrm>
            <a:off x="4199138" y="1467035"/>
            <a:ext cx="7652551" cy="4623048"/>
          </a:xfrm>
        </p:spPr>
        <p:style>
          <a:lnRef idx="2">
            <a:schemeClr val="dk1"/>
          </a:lnRef>
          <a:fillRef idx="1">
            <a:schemeClr val="lt1"/>
          </a:fillRef>
          <a:effectRef idx="0">
            <a:schemeClr val="dk1"/>
          </a:effectRef>
          <a:fontRef idx="minor">
            <a:schemeClr val="dk1"/>
          </a:fontRef>
        </p:style>
        <p:txBody>
          <a:bodyPr>
            <a:normAutofit fontScale="92500" lnSpcReduction="10000"/>
          </a:bodyPr>
          <a:lstStyle/>
          <a:p>
            <a:r>
              <a:rPr lang="en-US" sz="3200" dirty="0"/>
              <a:t>The problems considered by probability and statistics are inverse to each other. </a:t>
            </a:r>
          </a:p>
          <a:p>
            <a:r>
              <a:rPr lang="en-US" sz="3200" dirty="0"/>
              <a:t>In probability theory we consider some underlying process which has some randomness or uncertainty modeled by random variables, and we try to predict </a:t>
            </a:r>
            <a:r>
              <a:rPr lang="en-US" sz="3200" i="1" u="sng" dirty="0"/>
              <a:t>what will happen</a:t>
            </a:r>
            <a:r>
              <a:rPr lang="en-US" sz="3200" dirty="0"/>
              <a:t>. </a:t>
            </a:r>
          </a:p>
          <a:p>
            <a:r>
              <a:rPr lang="en-US" sz="3200" dirty="0"/>
              <a:t>In statistics we observe something that </a:t>
            </a:r>
            <a:r>
              <a:rPr lang="en-US" sz="3200" i="1" u="sng" dirty="0"/>
              <a:t>has happened</a:t>
            </a:r>
            <a:r>
              <a:rPr lang="en-US" sz="3200" dirty="0"/>
              <a:t>, and try to figure out what underlying process would explain those observations.</a:t>
            </a:r>
          </a:p>
        </p:txBody>
      </p:sp>
      <p:pic>
        <p:nvPicPr>
          <p:cNvPr id="1026" name="Picture 2" descr="Spider-Man: No Way Home's Spider-Mans recreate the pointing meme - Polygon">
            <a:extLst>
              <a:ext uri="{FF2B5EF4-FFF2-40B4-BE49-F238E27FC236}">
                <a16:creationId xmlns:a16="http://schemas.microsoft.com/office/drawing/2014/main" id="{C0560698-06E2-6044-375B-82BCF85661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94" y="2057400"/>
            <a:ext cx="3657600"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13729EC-BC37-554B-4CD0-EBED8E7C8703}"/>
              </a:ext>
            </a:extLst>
          </p:cNvPr>
          <p:cNvSpPr txBox="1"/>
          <p:nvPr/>
        </p:nvSpPr>
        <p:spPr>
          <a:xfrm>
            <a:off x="497149" y="2995464"/>
            <a:ext cx="1020932"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i="1" dirty="0">
                <a:solidFill>
                  <a:schemeClr val="tx1"/>
                </a:solidFill>
              </a:rPr>
              <a:t>probability</a:t>
            </a:r>
            <a:endParaRPr lang="en-US" sz="1400" dirty="0">
              <a:solidFill>
                <a:schemeClr val="tx1"/>
              </a:solidFill>
            </a:endParaRPr>
          </a:p>
        </p:txBody>
      </p:sp>
      <p:sp>
        <p:nvSpPr>
          <p:cNvPr id="5" name="TextBox 4">
            <a:extLst>
              <a:ext uri="{FF2B5EF4-FFF2-40B4-BE49-F238E27FC236}">
                <a16:creationId xmlns:a16="http://schemas.microsoft.com/office/drawing/2014/main" id="{2AAA4046-AD19-23DB-2D6D-90C7333C131E}"/>
              </a:ext>
            </a:extLst>
          </p:cNvPr>
          <p:cNvSpPr txBox="1"/>
          <p:nvPr/>
        </p:nvSpPr>
        <p:spPr>
          <a:xfrm>
            <a:off x="2954784" y="2841575"/>
            <a:ext cx="877411" cy="307777"/>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r>
              <a:rPr lang="en-US" sz="1400" i="1" dirty="0">
                <a:solidFill>
                  <a:schemeClr val="tx1"/>
                </a:solidFill>
              </a:rPr>
              <a:t>statistics</a:t>
            </a:r>
            <a:endParaRPr lang="en-US" sz="1400" dirty="0">
              <a:solidFill>
                <a:schemeClr val="tx1"/>
              </a:solidFill>
            </a:endParaRPr>
          </a:p>
        </p:txBody>
      </p:sp>
      <p:sp>
        <p:nvSpPr>
          <p:cNvPr id="7" name="TextBox 6">
            <a:extLst>
              <a:ext uri="{FF2B5EF4-FFF2-40B4-BE49-F238E27FC236}">
                <a16:creationId xmlns:a16="http://schemas.microsoft.com/office/drawing/2014/main" id="{85A177FC-AE2A-A595-BF96-E8A1C9A1FC97}"/>
              </a:ext>
            </a:extLst>
          </p:cNvPr>
          <p:cNvSpPr txBox="1"/>
          <p:nvPr/>
        </p:nvSpPr>
        <p:spPr>
          <a:xfrm>
            <a:off x="766439" y="6361709"/>
            <a:ext cx="11425561" cy="369332"/>
          </a:xfrm>
          <a:prstGeom prst="rect">
            <a:avLst/>
          </a:prstGeom>
          <a:noFill/>
        </p:spPr>
        <p:txBody>
          <a:bodyPr wrap="square">
            <a:spAutoFit/>
          </a:bodyPr>
          <a:lstStyle/>
          <a:p>
            <a:r>
              <a:rPr lang="en-US" dirty="0"/>
              <a:t>Source: https://stats.stackexchange.com/questions/665/whats-the-difference-between-probability-and-statistics</a:t>
            </a:r>
          </a:p>
        </p:txBody>
      </p:sp>
    </p:spTree>
    <p:extLst>
      <p:ext uri="{BB962C8B-B14F-4D97-AF65-F5344CB8AC3E}">
        <p14:creationId xmlns:p14="http://schemas.microsoft.com/office/powerpoint/2010/main" val="38968206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9CA5E7-2215-44EC-A4AF-22AA0141434B}"/>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A Process with Multiple Random Experiments</a:t>
            </a:r>
          </a:p>
        </p:txBody>
      </p:sp>
      <p:pic>
        <p:nvPicPr>
          <p:cNvPr id="5" name="Picture 4">
            <a:extLst>
              <a:ext uri="{FF2B5EF4-FFF2-40B4-BE49-F238E27FC236}">
                <a16:creationId xmlns:a16="http://schemas.microsoft.com/office/drawing/2014/main" id="{8F07FBA3-571A-4CF4-8116-D335197093E3}"/>
              </a:ext>
            </a:extLst>
          </p:cNvPr>
          <p:cNvPicPr>
            <a:picLocks noChangeAspect="1"/>
          </p:cNvPicPr>
          <p:nvPr/>
        </p:nvPicPr>
        <p:blipFill>
          <a:blip r:embed="rId2"/>
          <a:stretch>
            <a:fillRect/>
          </a:stretch>
        </p:blipFill>
        <p:spPr>
          <a:xfrm>
            <a:off x="1095375" y="2271712"/>
            <a:ext cx="10001250" cy="2314575"/>
          </a:xfrm>
          <a:prstGeom prst="rect">
            <a:avLst/>
          </a:prstGeom>
          <a:ln>
            <a:solidFill>
              <a:schemeClr val="tx1"/>
            </a:solidFill>
          </a:ln>
        </p:spPr>
      </p:pic>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A0BB5C1-30E9-42D2-BAF2-6F8236783A5C}"/>
                  </a:ext>
                </a:extLst>
              </p:cNvPr>
              <p:cNvSpPr txBox="1"/>
              <p:nvPr/>
            </p:nvSpPr>
            <p:spPr>
              <a:xfrm>
                <a:off x="1095376" y="5038530"/>
                <a:ext cx="10001250" cy="830997"/>
              </a:xfrm>
              <a:prstGeom prst="rect">
                <a:avLst/>
              </a:prstGeom>
              <a:noFill/>
            </p:spPr>
            <p:txBody>
              <a:bodyPr wrap="square" rtlCol="0">
                <a:spAutoFit/>
              </a:bodyPr>
              <a:lstStyle/>
              <a:p>
                <a:pPr/>
                <a14:m>
                  <m:oMathPara xmlns:m="http://schemas.openxmlformats.org/officeDocument/2006/math">
                    <m:oMathParaPr>
                      <m:jc m:val="center"/>
                    </m:oMathParaPr>
                    <m:oMath xmlns:m="http://schemas.openxmlformats.org/officeDocument/2006/math">
                      <m:r>
                        <a:rPr lang="en-US" sz="4800" b="0" i="1" smtClean="0">
                          <a:latin typeface="Cambria Math" panose="02040503050406030204" pitchFamily="18" charset="0"/>
                        </a:rPr>
                        <m:t>𝑛𝑢𝑚𝑏𝑒𝑟</m:t>
                      </m:r>
                      <m:r>
                        <a:rPr lang="en-US" sz="4800" b="0" i="1" smtClean="0">
                          <a:latin typeface="Cambria Math" panose="02040503050406030204" pitchFamily="18" charset="0"/>
                        </a:rPr>
                        <m:t> </m:t>
                      </m:r>
                      <m:r>
                        <a:rPr lang="en-US" sz="4800" b="0" i="1" smtClean="0">
                          <a:latin typeface="Cambria Math" panose="02040503050406030204" pitchFamily="18" charset="0"/>
                        </a:rPr>
                        <m:t>𝑜𝑓</m:t>
                      </m:r>
                      <m:r>
                        <a:rPr lang="en-US" sz="4800" b="0" i="1" smtClean="0">
                          <a:latin typeface="Cambria Math" panose="02040503050406030204" pitchFamily="18" charset="0"/>
                        </a:rPr>
                        <m:t> </m:t>
                      </m:r>
                      <m:r>
                        <a:rPr lang="en-US" sz="4800" b="0" i="1" smtClean="0">
                          <a:latin typeface="Cambria Math" panose="02040503050406030204" pitchFamily="18" charset="0"/>
                        </a:rPr>
                        <m:t>𝑜𝑢𝑡𝑐𝑜𝑚𝑒𝑠</m:t>
                      </m:r>
                      <m:r>
                        <a:rPr lang="en-US" sz="4800" b="0" i="1" smtClean="0">
                          <a:latin typeface="Cambria Math" panose="02040503050406030204" pitchFamily="18" charset="0"/>
                        </a:rPr>
                        <m:t>=</m:t>
                      </m:r>
                      <m:r>
                        <a:rPr lang="en-US" sz="4800" b="0" i="1" smtClean="0">
                          <a:latin typeface="Cambria Math" panose="02040503050406030204" pitchFamily="18" charset="0"/>
                        </a:rPr>
                        <m:t>𝑚</m:t>
                      </m:r>
                      <m:r>
                        <a:rPr lang="en-US" sz="4800" b="0" i="1" smtClean="0">
                          <a:latin typeface="Cambria Math" panose="02040503050406030204" pitchFamily="18" charset="0"/>
                          <a:ea typeface="Cambria Math" panose="02040503050406030204" pitchFamily="18" charset="0"/>
                        </a:rPr>
                        <m:t>×</m:t>
                      </m:r>
                      <m:r>
                        <a:rPr lang="en-US" sz="4800" b="0" i="1" smtClean="0">
                          <a:latin typeface="Cambria Math" panose="02040503050406030204" pitchFamily="18" charset="0"/>
                          <a:ea typeface="Cambria Math" panose="02040503050406030204" pitchFamily="18" charset="0"/>
                        </a:rPr>
                        <m:t>𝑛</m:t>
                      </m:r>
                    </m:oMath>
                  </m:oMathPara>
                </a14:m>
                <a:endParaRPr lang="en-US" sz="4800" dirty="0"/>
              </a:p>
            </p:txBody>
          </p:sp>
        </mc:Choice>
        <mc:Fallback xmlns="">
          <p:sp>
            <p:nvSpPr>
              <p:cNvPr id="6" name="TextBox 5">
                <a:extLst>
                  <a:ext uri="{FF2B5EF4-FFF2-40B4-BE49-F238E27FC236}">
                    <a16:creationId xmlns:a16="http://schemas.microsoft.com/office/drawing/2014/main" id="{0A0BB5C1-30E9-42D2-BAF2-6F8236783A5C}"/>
                  </a:ext>
                </a:extLst>
              </p:cNvPr>
              <p:cNvSpPr txBox="1">
                <a:spLocks noRot="1" noChangeAspect="1" noMove="1" noResize="1" noEditPoints="1" noAdjustHandles="1" noChangeArrowheads="1" noChangeShapeType="1" noTextEdit="1"/>
              </p:cNvSpPr>
              <p:nvPr/>
            </p:nvSpPr>
            <p:spPr>
              <a:xfrm>
                <a:off x="1095376" y="5038530"/>
                <a:ext cx="10001250" cy="830997"/>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9703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28EF009-0D0E-4559-8E0B-19A53119DD3A}"/>
              </a:ext>
            </a:extLst>
          </p:cNvPr>
          <p:cNvPicPr>
            <a:picLocks noChangeAspect="1"/>
          </p:cNvPicPr>
          <p:nvPr/>
        </p:nvPicPr>
        <p:blipFill>
          <a:blip r:embed="rId2"/>
          <a:stretch>
            <a:fillRect/>
          </a:stretch>
        </p:blipFill>
        <p:spPr>
          <a:xfrm>
            <a:off x="541175" y="517077"/>
            <a:ext cx="11109649" cy="5544613"/>
          </a:xfrm>
          <a:prstGeom prst="rect">
            <a:avLst/>
          </a:prstGeom>
        </p:spPr>
      </p:pic>
    </p:spTree>
    <p:extLst>
      <p:ext uri="{BB962C8B-B14F-4D97-AF65-F5344CB8AC3E}">
        <p14:creationId xmlns:p14="http://schemas.microsoft.com/office/powerpoint/2010/main" val="2164596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A63EBE-1432-4E68-AAE4-6DA3CAE2BCA9}"/>
              </a:ext>
            </a:extLst>
          </p:cNvPr>
          <p:cNvPicPr>
            <a:picLocks noChangeAspect="1"/>
          </p:cNvPicPr>
          <p:nvPr/>
        </p:nvPicPr>
        <p:blipFill>
          <a:blip r:embed="rId2"/>
          <a:stretch>
            <a:fillRect/>
          </a:stretch>
        </p:blipFill>
        <p:spPr>
          <a:xfrm>
            <a:off x="838200" y="366712"/>
            <a:ext cx="10515600" cy="6124575"/>
          </a:xfrm>
          <a:prstGeom prst="rect">
            <a:avLst/>
          </a:prstGeom>
        </p:spPr>
      </p:pic>
    </p:spTree>
    <p:extLst>
      <p:ext uri="{BB962C8B-B14F-4D97-AF65-F5344CB8AC3E}">
        <p14:creationId xmlns:p14="http://schemas.microsoft.com/office/powerpoint/2010/main" val="2465675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B2F3F5-8FCB-4C2D-BA96-2C7B49F3DF94}"/>
              </a:ext>
            </a:extLst>
          </p:cNvPr>
          <p:cNvPicPr>
            <a:picLocks noChangeAspect="1"/>
          </p:cNvPicPr>
          <p:nvPr/>
        </p:nvPicPr>
        <p:blipFill>
          <a:blip r:embed="rId2"/>
          <a:stretch>
            <a:fillRect/>
          </a:stretch>
        </p:blipFill>
        <p:spPr>
          <a:xfrm>
            <a:off x="919162" y="423862"/>
            <a:ext cx="10353675" cy="6010275"/>
          </a:xfrm>
          <a:prstGeom prst="rect">
            <a:avLst/>
          </a:prstGeom>
        </p:spPr>
      </p:pic>
    </p:spTree>
    <p:extLst>
      <p:ext uri="{BB962C8B-B14F-4D97-AF65-F5344CB8AC3E}">
        <p14:creationId xmlns:p14="http://schemas.microsoft.com/office/powerpoint/2010/main" val="968241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1F810C-60CE-4183-99A6-B3B62D798096}"/>
              </a:ext>
            </a:extLst>
          </p:cNvPr>
          <p:cNvPicPr>
            <a:picLocks noChangeAspect="1"/>
          </p:cNvPicPr>
          <p:nvPr/>
        </p:nvPicPr>
        <p:blipFill>
          <a:blip r:embed="rId2"/>
          <a:stretch>
            <a:fillRect/>
          </a:stretch>
        </p:blipFill>
        <p:spPr>
          <a:xfrm>
            <a:off x="809965" y="635795"/>
            <a:ext cx="10572069" cy="3975569"/>
          </a:xfrm>
          <a:prstGeom prst="rect">
            <a:avLst/>
          </a:prstGeom>
        </p:spPr>
      </p:pic>
      <p:sp>
        <p:nvSpPr>
          <p:cNvPr id="4" name="TextBox 3">
            <a:extLst>
              <a:ext uri="{FF2B5EF4-FFF2-40B4-BE49-F238E27FC236}">
                <a16:creationId xmlns:a16="http://schemas.microsoft.com/office/drawing/2014/main" id="{A4045FA1-607F-4CF8-A2AE-DA45C774D882}"/>
              </a:ext>
            </a:extLst>
          </p:cNvPr>
          <p:cNvSpPr txBox="1"/>
          <p:nvPr/>
        </p:nvSpPr>
        <p:spPr>
          <a:xfrm>
            <a:off x="1095376" y="5038530"/>
            <a:ext cx="10001250" cy="830997"/>
          </a:xfrm>
          <a:prstGeom prst="rect">
            <a:avLst/>
          </a:prstGeom>
          <a:noFill/>
        </p:spPr>
        <p:txBody>
          <a:bodyPr wrap="square" rtlCol="0">
            <a:spAutoFit/>
          </a:bodyPr>
          <a:lstStyle/>
          <a:p>
            <a:pPr algn="ctr"/>
            <a:r>
              <a:rPr lang="en-US" sz="4800" i="1" dirty="0"/>
              <a:t>But what if repetition is not allowed?</a:t>
            </a:r>
          </a:p>
        </p:txBody>
      </p:sp>
    </p:spTree>
    <p:extLst>
      <p:ext uri="{BB962C8B-B14F-4D97-AF65-F5344CB8AC3E}">
        <p14:creationId xmlns:p14="http://schemas.microsoft.com/office/powerpoint/2010/main" val="2378017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0AA263-63C3-43B7-96C1-DFD5518648E3}"/>
              </a:ext>
            </a:extLst>
          </p:cNvPr>
          <p:cNvPicPr>
            <a:picLocks noChangeAspect="1"/>
          </p:cNvPicPr>
          <p:nvPr/>
        </p:nvPicPr>
        <p:blipFill>
          <a:blip r:embed="rId2"/>
          <a:stretch>
            <a:fillRect/>
          </a:stretch>
        </p:blipFill>
        <p:spPr>
          <a:xfrm>
            <a:off x="172244" y="1558213"/>
            <a:ext cx="11847511" cy="5085184"/>
          </a:xfrm>
          <a:prstGeom prst="rect">
            <a:avLst/>
          </a:prstGeom>
        </p:spPr>
      </p:pic>
      <p:sp>
        <p:nvSpPr>
          <p:cNvPr id="4" name="TextBox 3">
            <a:extLst>
              <a:ext uri="{FF2B5EF4-FFF2-40B4-BE49-F238E27FC236}">
                <a16:creationId xmlns:a16="http://schemas.microsoft.com/office/drawing/2014/main" id="{9E619B23-E269-4F31-AA88-622FB7EFB89F}"/>
              </a:ext>
            </a:extLst>
          </p:cNvPr>
          <p:cNvSpPr txBox="1"/>
          <p:nvPr/>
        </p:nvSpPr>
        <p:spPr>
          <a:xfrm>
            <a:off x="1095374" y="578497"/>
            <a:ext cx="10001250" cy="830997"/>
          </a:xfrm>
          <a:prstGeom prst="rect">
            <a:avLst/>
          </a:prstGeom>
          <a:noFill/>
        </p:spPr>
        <p:txBody>
          <a:bodyPr wrap="square" rtlCol="0">
            <a:spAutoFit/>
          </a:bodyPr>
          <a:lstStyle/>
          <a:p>
            <a:pPr algn="ctr"/>
            <a:r>
              <a:rPr lang="en-US" sz="4800" i="1" u="sng" dirty="0"/>
              <a:t>But what if repetition is not allowed?</a:t>
            </a:r>
          </a:p>
        </p:txBody>
      </p:sp>
    </p:spTree>
    <p:extLst>
      <p:ext uri="{BB962C8B-B14F-4D97-AF65-F5344CB8AC3E}">
        <p14:creationId xmlns:p14="http://schemas.microsoft.com/office/powerpoint/2010/main" val="11260884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9BB75D-DC99-41B5-A3B0-D8916789E7FE}"/>
              </a:ext>
            </a:extLst>
          </p:cNvPr>
          <p:cNvPicPr>
            <a:picLocks noChangeAspect="1"/>
          </p:cNvPicPr>
          <p:nvPr/>
        </p:nvPicPr>
        <p:blipFill rotWithShape="1">
          <a:blip r:embed="rId2"/>
          <a:srcRect t="31184"/>
          <a:stretch/>
        </p:blipFill>
        <p:spPr>
          <a:xfrm>
            <a:off x="395287" y="2435291"/>
            <a:ext cx="11401425" cy="4077945"/>
          </a:xfrm>
          <a:prstGeom prst="rect">
            <a:avLst/>
          </a:prstGeom>
        </p:spPr>
      </p:pic>
      <p:pic>
        <p:nvPicPr>
          <p:cNvPr id="4" name="Picture 3">
            <a:extLst>
              <a:ext uri="{FF2B5EF4-FFF2-40B4-BE49-F238E27FC236}">
                <a16:creationId xmlns:a16="http://schemas.microsoft.com/office/drawing/2014/main" id="{A1E46049-CEB1-4B9F-BC8B-973D66BEE27A}"/>
              </a:ext>
            </a:extLst>
          </p:cNvPr>
          <p:cNvPicPr>
            <a:picLocks noChangeAspect="1"/>
          </p:cNvPicPr>
          <p:nvPr/>
        </p:nvPicPr>
        <p:blipFill rotWithShape="1">
          <a:blip r:embed="rId2"/>
          <a:srcRect b="68081"/>
          <a:stretch/>
        </p:blipFill>
        <p:spPr>
          <a:xfrm>
            <a:off x="395287" y="344764"/>
            <a:ext cx="11401425" cy="1891472"/>
          </a:xfrm>
          <a:prstGeom prst="rect">
            <a:avLst/>
          </a:prstGeom>
        </p:spPr>
      </p:pic>
    </p:spTree>
    <p:extLst>
      <p:ext uri="{BB962C8B-B14F-4D97-AF65-F5344CB8AC3E}">
        <p14:creationId xmlns:p14="http://schemas.microsoft.com/office/powerpoint/2010/main" val="213939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BA7739-83DC-4B14-92F4-D70977417FC6}"/>
              </a:ext>
            </a:extLst>
          </p:cNvPr>
          <p:cNvPicPr>
            <a:picLocks noChangeAspect="1"/>
          </p:cNvPicPr>
          <p:nvPr/>
        </p:nvPicPr>
        <p:blipFill>
          <a:blip r:embed="rId2"/>
          <a:stretch>
            <a:fillRect/>
          </a:stretch>
        </p:blipFill>
        <p:spPr>
          <a:xfrm>
            <a:off x="813318" y="280238"/>
            <a:ext cx="10565363" cy="3573579"/>
          </a:xfrm>
          <a:prstGeom prst="rect">
            <a:avLst/>
          </a:prstGeom>
        </p:spPr>
      </p:pic>
      <p:pic>
        <p:nvPicPr>
          <p:cNvPr id="7" name="Picture 6">
            <a:extLst>
              <a:ext uri="{FF2B5EF4-FFF2-40B4-BE49-F238E27FC236}">
                <a16:creationId xmlns:a16="http://schemas.microsoft.com/office/drawing/2014/main" id="{627DB10E-B78D-4ECC-BE54-25693CFAB91F}"/>
              </a:ext>
            </a:extLst>
          </p:cNvPr>
          <p:cNvPicPr>
            <a:picLocks noChangeAspect="1"/>
          </p:cNvPicPr>
          <p:nvPr/>
        </p:nvPicPr>
        <p:blipFill>
          <a:blip r:embed="rId3"/>
          <a:stretch>
            <a:fillRect/>
          </a:stretch>
        </p:blipFill>
        <p:spPr>
          <a:xfrm>
            <a:off x="719234" y="4174370"/>
            <a:ext cx="10753530" cy="1980140"/>
          </a:xfrm>
          <a:prstGeom prst="rect">
            <a:avLst/>
          </a:prstGeom>
        </p:spPr>
      </p:pic>
    </p:spTree>
    <p:extLst>
      <p:ext uri="{BB962C8B-B14F-4D97-AF65-F5344CB8AC3E}">
        <p14:creationId xmlns:p14="http://schemas.microsoft.com/office/powerpoint/2010/main" val="8940492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694C12-9980-4A39-9868-08FB27D01B35}"/>
              </a:ext>
            </a:extLst>
          </p:cNvPr>
          <p:cNvPicPr>
            <a:picLocks noChangeAspect="1"/>
          </p:cNvPicPr>
          <p:nvPr/>
        </p:nvPicPr>
        <p:blipFill>
          <a:blip r:embed="rId2"/>
          <a:stretch>
            <a:fillRect/>
          </a:stretch>
        </p:blipFill>
        <p:spPr>
          <a:xfrm>
            <a:off x="1322127" y="663697"/>
            <a:ext cx="9215244" cy="5398576"/>
          </a:xfrm>
          <a:prstGeom prst="rect">
            <a:avLst/>
          </a:prstGeom>
          <a:ln>
            <a:solidFill>
              <a:schemeClr val="tx1"/>
            </a:solidFill>
          </a:ln>
        </p:spPr>
      </p:pic>
    </p:spTree>
    <p:extLst>
      <p:ext uri="{BB962C8B-B14F-4D97-AF65-F5344CB8AC3E}">
        <p14:creationId xmlns:p14="http://schemas.microsoft.com/office/powerpoint/2010/main" val="3400064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FF9022-32DC-43B3-85A7-687CD4319D14}"/>
              </a:ext>
            </a:extLst>
          </p:cNvPr>
          <p:cNvPicPr>
            <a:picLocks noChangeAspect="1"/>
          </p:cNvPicPr>
          <p:nvPr/>
        </p:nvPicPr>
        <p:blipFill>
          <a:blip r:embed="rId2"/>
          <a:stretch>
            <a:fillRect/>
          </a:stretch>
        </p:blipFill>
        <p:spPr>
          <a:xfrm>
            <a:off x="1431374" y="419878"/>
            <a:ext cx="8938338" cy="3314771"/>
          </a:xfrm>
          <a:prstGeom prst="rect">
            <a:avLst/>
          </a:prstGeom>
        </p:spPr>
      </p:pic>
      <p:pic>
        <p:nvPicPr>
          <p:cNvPr id="7" name="Picture 6">
            <a:extLst>
              <a:ext uri="{FF2B5EF4-FFF2-40B4-BE49-F238E27FC236}">
                <a16:creationId xmlns:a16="http://schemas.microsoft.com/office/drawing/2014/main" id="{DEA8C749-CADB-4BBD-A8C0-EC6DB60BC5A1}"/>
              </a:ext>
            </a:extLst>
          </p:cNvPr>
          <p:cNvPicPr>
            <a:picLocks noChangeAspect="1"/>
          </p:cNvPicPr>
          <p:nvPr/>
        </p:nvPicPr>
        <p:blipFill rotWithShape="1">
          <a:blip r:embed="rId3"/>
          <a:srcRect t="18753"/>
          <a:stretch/>
        </p:blipFill>
        <p:spPr>
          <a:xfrm>
            <a:off x="1350752" y="3537316"/>
            <a:ext cx="9018960" cy="2645000"/>
          </a:xfrm>
          <a:prstGeom prst="rect">
            <a:avLst/>
          </a:prstGeom>
        </p:spPr>
      </p:pic>
    </p:spTree>
    <p:extLst>
      <p:ext uri="{BB962C8B-B14F-4D97-AF65-F5344CB8AC3E}">
        <p14:creationId xmlns:p14="http://schemas.microsoft.com/office/powerpoint/2010/main" val="14490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F6C1ED-577E-4DB3-8EE2-C8136A42B36D}"/>
              </a:ext>
            </a:extLst>
          </p:cNvPr>
          <p:cNvPicPr>
            <a:picLocks noChangeAspect="1"/>
          </p:cNvPicPr>
          <p:nvPr/>
        </p:nvPicPr>
        <p:blipFill rotWithShape="1">
          <a:blip r:embed="rId2"/>
          <a:srcRect l="1490"/>
          <a:stretch/>
        </p:blipFill>
        <p:spPr>
          <a:xfrm>
            <a:off x="1119673" y="659265"/>
            <a:ext cx="10105538" cy="5800725"/>
          </a:xfrm>
          <a:prstGeom prst="rect">
            <a:avLst/>
          </a:prstGeom>
          <a:ln>
            <a:solidFill>
              <a:schemeClr val="tx1"/>
            </a:solidFill>
          </a:ln>
        </p:spPr>
      </p:pic>
    </p:spTree>
    <p:extLst>
      <p:ext uri="{BB962C8B-B14F-4D97-AF65-F5344CB8AC3E}">
        <p14:creationId xmlns:p14="http://schemas.microsoft.com/office/powerpoint/2010/main" val="41529783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E65FD-0DCD-4F0A-A56D-B18F743B713D}"/>
              </a:ext>
            </a:extLst>
          </p:cNvPr>
          <p:cNvSpPr>
            <a:spLocks noGrp="1"/>
          </p:cNvSpPr>
          <p:nvPr>
            <p:ph type="title"/>
          </p:nvPr>
        </p:nvSpPr>
        <p:spPr>
          <a:xfrm>
            <a:off x="838200" y="710358"/>
            <a:ext cx="10515600" cy="1325563"/>
          </a:xfrm>
        </p:spPr>
        <p:txBody>
          <a:bodyPr>
            <a:normAutofit/>
          </a:bodyPr>
          <a:lstStyle/>
          <a:p>
            <a:pPr algn="ctr"/>
            <a:r>
              <a:rPr lang="en-US" sz="3600" u="sng" dirty="0"/>
              <a:t>Permutations of </a:t>
            </a:r>
            <a:r>
              <a:rPr lang="en-US" sz="3600" i="1" u="sng" dirty="0"/>
              <a:t>r</a:t>
            </a:r>
            <a:r>
              <a:rPr lang="en-US" sz="3600" u="sng" dirty="0"/>
              <a:t> Elements Selected from</a:t>
            </a:r>
            <a:r>
              <a:rPr lang="en-US" sz="3600" i="1" u="sng" dirty="0"/>
              <a:t> n </a:t>
            </a:r>
            <a:r>
              <a:rPr lang="en-US" sz="3600" u="sng" dirty="0"/>
              <a:t>objects</a:t>
            </a:r>
          </a:p>
        </p:txBody>
      </p:sp>
      <p:pic>
        <p:nvPicPr>
          <p:cNvPr id="5" name="Picture 4">
            <a:extLst>
              <a:ext uri="{FF2B5EF4-FFF2-40B4-BE49-F238E27FC236}">
                <a16:creationId xmlns:a16="http://schemas.microsoft.com/office/drawing/2014/main" id="{EF773FCE-14CE-4C2D-9DF0-54BAB589EB8D}"/>
              </a:ext>
            </a:extLst>
          </p:cNvPr>
          <p:cNvPicPr>
            <a:picLocks noChangeAspect="1"/>
          </p:cNvPicPr>
          <p:nvPr/>
        </p:nvPicPr>
        <p:blipFill>
          <a:blip r:embed="rId2"/>
          <a:stretch>
            <a:fillRect/>
          </a:stretch>
        </p:blipFill>
        <p:spPr>
          <a:xfrm>
            <a:off x="1085850" y="2228363"/>
            <a:ext cx="10020300" cy="3819525"/>
          </a:xfrm>
          <a:prstGeom prst="rect">
            <a:avLst/>
          </a:prstGeom>
          <a:ln>
            <a:solidFill>
              <a:schemeClr val="tx1"/>
            </a:solidFill>
          </a:ln>
        </p:spPr>
      </p:pic>
    </p:spTree>
    <p:extLst>
      <p:ext uri="{BB962C8B-B14F-4D97-AF65-F5344CB8AC3E}">
        <p14:creationId xmlns:p14="http://schemas.microsoft.com/office/powerpoint/2010/main" val="18173071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F2A1E6-2922-4D2F-A1B9-8770E82E3628}"/>
              </a:ext>
            </a:extLst>
          </p:cNvPr>
          <p:cNvPicPr>
            <a:picLocks noChangeAspect="1"/>
          </p:cNvPicPr>
          <p:nvPr/>
        </p:nvPicPr>
        <p:blipFill>
          <a:blip r:embed="rId2"/>
          <a:stretch>
            <a:fillRect/>
          </a:stretch>
        </p:blipFill>
        <p:spPr>
          <a:xfrm>
            <a:off x="1489788" y="0"/>
            <a:ext cx="9145555" cy="2748710"/>
          </a:xfrm>
          <a:prstGeom prst="rect">
            <a:avLst/>
          </a:prstGeom>
        </p:spPr>
      </p:pic>
      <p:pic>
        <p:nvPicPr>
          <p:cNvPr id="5" name="Picture 4">
            <a:extLst>
              <a:ext uri="{FF2B5EF4-FFF2-40B4-BE49-F238E27FC236}">
                <a16:creationId xmlns:a16="http://schemas.microsoft.com/office/drawing/2014/main" id="{5651CC56-FF88-4509-8E07-4EE3E2855BC0}"/>
              </a:ext>
            </a:extLst>
          </p:cNvPr>
          <p:cNvPicPr>
            <a:picLocks noChangeAspect="1"/>
          </p:cNvPicPr>
          <p:nvPr/>
        </p:nvPicPr>
        <p:blipFill>
          <a:blip r:embed="rId3"/>
          <a:stretch>
            <a:fillRect/>
          </a:stretch>
        </p:blipFill>
        <p:spPr>
          <a:xfrm>
            <a:off x="1556657" y="2618065"/>
            <a:ext cx="8734425" cy="4239935"/>
          </a:xfrm>
          <a:prstGeom prst="rect">
            <a:avLst/>
          </a:prstGeom>
        </p:spPr>
      </p:pic>
    </p:spTree>
    <p:extLst>
      <p:ext uri="{BB962C8B-B14F-4D97-AF65-F5344CB8AC3E}">
        <p14:creationId xmlns:p14="http://schemas.microsoft.com/office/powerpoint/2010/main" val="737217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0F3403-B319-41CA-B413-8665CC3109FF}"/>
              </a:ext>
            </a:extLst>
          </p:cNvPr>
          <p:cNvPicPr>
            <a:picLocks noChangeAspect="1"/>
          </p:cNvPicPr>
          <p:nvPr/>
        </p:nvPicPr>
        <p:blipFill>
          <a:blip r:embed="rId2"/>
          <a:stretch>
            <a:fillRect/>
          </a:stretch>
        </p:blipFill>
        <p:spPr>
          <a:xfrm>
            <a:off x="1057275" y="334638"/>
            <a:ext cx="10077450" cy="1038225"/>
          </a:xfrm>
          <a:prstGeom prst="rect">
            <a:avLst/>
          </a:prstGeom>
          <a:ln>
            <a:solidFill>
              <a:schemeClr val="tx1"/>
            </a:solidFill>
          </a:ln>
        </p:spPr>
      </p:pic>
      <p:pic>
        <p:nvPicPr>
          <p:cNvPr id="5" name="Picture 4">
            <a:extLst>
              <a:ext uri="{FF2B5EF4-FFF2-40B4-BE49-F238E27FC236}">
                <a16:creationId xmlns:a16="http://schemas.microsoft.com/office/drawing/2014/main" id="{DB26DB4B-1951-46B8-9391-7522E93DD66D}"/>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658647" y="1868940"/>
            <a:ext cx="10874705" cy="4046667"/>
          </a:xfrm>
          <a:prstGeom prst="rect">
            <a:avLst/>
          </a:prstGeom>
          <a:ln>
            <a:solidFill>
              <a:schemeClr val="tx1"/>
            </a:solidFill>
          </a:ln>
        </p:spPr>
      </p:pic>
    </p:spTree>
    <p:extLst>
      <p:ext uri="{BB962C8B-B14F-4D97-AF65-F5344CB8AC3E}">
        <p14:creationId xmlns:p14="http://schemas.microsoft.com/office/powerpoint/2010/main" val="4425617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186C7C-D938-4AFF-9609-20F1114F9791}"/>
              </a:ext>
            </a:extLst>
          </p:cNvPr>
          <p:cNvPicPr>
            <a:picLocks noChangeAspect="1"/>
          </p:cNvPicPr>
          <p:nvPr/>
        </p:nvPicPr>
        <p:blipFill>
          <a:blip r:embed="rId2"/>
          <a:stretch>
            <a:fillRect/>
          </a:stretch>
        </p:blipFill>
        <p:spPr>
          <a:xfrm>
            <a:off x="1433512" y="1551700"/>
            <a:ext cx="9324975" cy="5210175"/>
          </a:xfrm>
          <a:prstGeom prst="rect">
            <a:avLst/>
          </a:prstGeom>
          <a:ln>
            <a:solidFill>
              <a:schemeClr val="tx1"/>
            </a:solidFill>
          </a:ln>
        </p:spPr>
      </p:pic>
      <p:pic>
        <p:nvPicPr>
          <p:cNvPr id="4" name="Picture 3">
            <a:extLst>
              <a:ext uri="{FF2B5EF4-FFF2-40B4-BE49-F238E27FC236}">
                <a16:creationId xmlns:a16="http://schemas.microsoft.com/office/drawing/2014/main" id="{E59339E3-613D-488D-B805-80AE8ABF7119}"/>
              </a:ext>
            </a:extLst>
          </p:cNvPr>
          <p:cNvPicPr>
            <a:picLocks noChangeAspect="1"/>
          </p:cNvPicPr>
          <p:nvPr/>
        </p:nvPicPr>
        <p:blipFill>
          <a:blip r:embed="rId3"/>
          <a:stretch>
            <a:fillRect/>
          </a:stretch>
        </p:blipFill>
        <p:spPr>
          <a:xfrm>
            <a:off x="1057275" y="334638"/>
            <a:ext cx="10077450" cy="1038225"/>
          </a:xfrm>
          <a:prstGeom prst="rect">
            <a:avLst/>
          </a:prstGeom>
          <a:ln>
            <a:solidFill>
              <a:schemeClr val="tx1"/>
            </a:solidFill>
          </a:ln>
        </p:spPr>
      </p:pic>
    </p:spTree>
    <p:extLst>
      <p:ext uri="{BB962C8B-B14F-4D97-AF65-F5344CB8AC3E}">
        <p14:creationId xmlns:p14="http://schemas.microsoft.com/office/powerpoint/2010/main" val="23308746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0462C4-A9BD-4FF9-BE27-A7D57BE9FAC9}"/>
              </a:ext>
            </a:extLst>
          </p:cNvPr>
          <p:cNvPicPr>
            <a:picLocks noChangeAspect="1"/>
          </p:cNvPicPr>
          <p:nvPr/>
        </p:nvPicPr>
        <p:blipFill>
          <a:blip r:embed="rId2"/>
          <a:stretch>
            <a:fillRect/>
          </a:stretch>
        </p:blipFill>
        <p:spPr>
          <a:xfrm>
            <a:off x="883589" y="69493"/>
            <a:ext cx="10182225" cy="1419225"/>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5EC1BA1-90E5-4C6E-B396-B9FE55EB1861}"/>
                  </a:ext>
                </a:extLst>
              </p:cNvPr>
              <p:cNvSpPr txBox="1"/>
              <p:nvPr/>
            </p:nvSpPr>
            <p:spPr>
              <a:xfrm>
                <a:off x="1595535" y="1791478"/>
                <a:ext cx="8724122" cy="461665"/>
              </a:xfrm>
              <a:prstGeom prst="rect">
                <a:avLst/>
              </a:prstGeom>
              <a:noFill/>
            </p:spPr>
            <p:txBody>
              <a:bodyPr wrap="square" rtlCol="0">
                <a:spAutoFit/>
              </a:bodyPr>
              <a:lstStyle/>
              <a:p>
                <a:pPr algn="ctr"/>
                <a:r>
                  <a:rPr lang="en-US" sz="2400" dirty="0"/>
                  <a:t>Multiply top and bottom by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oMath>
                </a14:m>
                <a:r>
                  <a:rPr lang="en-US" sz="2400" dirty="0"/>
                  <a:t>:</a:t>
                </a:r>
              </a:p>
            </p:txBody>
          </p:sp>
        </mc:Choice>
        <mc:Fallback xmlns="">
          <p:sp>
            <p:nvSpPr>
              <p:cNvPr id="4" name="TextBox 3">
                <a:extLst>
                  <a:ext uri="{FF2B5EF4-FFF2-40B4-BE49-F238E27FC236}">
                    <a16:creationId xmlns:a16="http://schemas.microsoft.com/office/drawing/2014/main" id="{C5EC1BA1-90E5-4C6E-B396-B9FE55EB1861}"/>
                  </a:ext>
                </a:extLst>
              </p:cNvPr>
              <p:cNvSpPr txBox="1">
                <a:spLocks noRot="1" noChangeAspect="1" noMove="1" noResize="1" noEditPoints="1" noAdjustHandles="1" noChangeArrowheads="1" noChangeShapeType="1" noTextEdit="1"/>
              </p:cNvSpPr>
              <p:nvPr/>
            </p:nvSpPr>
            <p:spPr>
              <a:xfrm>
                <a:off x="1595535" y="1791478"/>
                <a:ext cx="8724122" cy="461665"/>
              </a:xfrm>
              <a:prstGeom prst="rect">
                <a:avLst/>
              </a:prstGeom>
              <a:blipFill>
                <a:blip r:embed="rId3"/>
                <a:stretch>
                  <a:fillRect t="-10526" b="-28947"/>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D1C52B64-BFAC-4473-8B8D-63CF69B6F526}"/>
              </a:ext>
            </a:extLst>
          </p:cNvPr>
          <p:cNvPicPr>
            <a:picLocks noChangeAspect="1"/>
          </p:cNvPicPr>
          <p:nvPr/>
        </p:nvPicPr>
        <p:blipFill>
          <a:blip r:embed="rId4"/>
          <a:stretch>
            <a:fillRect/>
          </a:stretch>
        </p:blipFill>
        <p:spPr>
          <a:xfrm>
            <a:off x="2732314" y="2513233"/>
            <a:ext cx="5943600" cy="952500"/>
          </a:xfrm>
          <a:prstGeom prst="rect">
            <a:avLst/>
          </a:prstGeom>
        </p:spPr>
      </p:pic>
      <p:sp>
        <p:nvSpPr>
          <p:cNvPr id="7" name="Rectangle 6">
            <a:extLst>
              <a:ext uri="{FF2B5EF4-FFF2-40B4-BE49-F238E27FC236}">
                <a16:creationId xmlns:a16="http://schemas.microsoft.com/office/drawing/2014/main" id="{9E8D7AA1-1D4B-424F-8690-90BCD392BB53}"/>
              </a:ext>
            </a:extLst>
          </p:cNvPr>
          <p:cNvSpPr/>
          <p:nvPr/>
        </p:nvSpPr>
        <p:spPr>
          <a:xfrm>
            <a:off x="6410131" y="3032449"/>
            <a:ext cx="2976465" cy="5411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1A6D9FA-2A77-4B14-BF1A-D0128BBD2556}"/>
                  </a:ext>
                </a:extLst>
              </p:cNvPr>
              <p:cNvSpPr txBox="1"/>
              <p:nvPr/>
            </p:nvSpPr>
            <p:spPr>
              <a:xfrm>
                <a:off x="0" y="3523284"/>
                <a:ext cx="12191999" cy="461665"/>
              </a:xfrm>
              <a:prstGeom prst="rect">
                <a:avLst/>
              </a:prstGeom>
              <a:noFill/>
            </p:spPr>
            <p:txBody>
              <a:bodyPr wrap="square" rtlCol="0">
                <a:spAutoFit/>
              </a:bodyPr>
              <a:lstStyle/>
              <a:p>
                <a:pPr algn="ctr"/>
                <a:r>
                  <a:rPr lang="en-US" sz="2400" dirty="0"/>
                  <a:t>Multiply top and bottom by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−1)</m:t>
                    </m:r>
                  </m:oMath>
                </a14:m>
                <a:r>
                  <a:rPr lang="en-US" sz="2400" dirty="0"/>
                  <a:t> and then </a:t>
                </a:r>
                <a14:m>
                  <m:oMath xmlns:m="http://schemas.openxmlformats.org/officeDocument/2006/math">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−2)</m:t>
                    </m:r>
                  </m:oMath>
                </a14:m>
                <a:r>
                  <a:rPr lang="en-US" sz="2400" dirty="0"/>
                  <a:t> and so on:</a:t>
                </a:r>
              </a:p>
            </p:txBody>
          </p:sp>
        </mc:Choice>
        <mc:Fallback xmlns="">
          <p:sp>
            <p:nvSpPr>
              <p:cNvPr id="8" name="TextBox 7">
                <a:extLst>
                  <a:ext uri="{FF2B5EF4-FFF2-40B4-BE49-F238E27FC236}">
                    <a16:creationId xmlns:a16="http://schemas.microsoft.com/office/drawing/2014/main" id="{61A6D9FA-2A77-4B14-BF1A-D0128BBD2556}"/>
                  </a:ext>
                </a:extLst>
              </p:cNvPr>
              <p:cNvSpPr txBox="1">
                <a:spLocks noRot="1" noChangeAspect="1" noMove="1" noResize="1" noEditPoints="1" noAdjustHandles="1" noChangeArrowheads="1" noChangeShapeType="1" noTextEdit="1"/>
              </p:cNvSpPr>
              <p:nvPr/>
            </p:nvSpPr>
            <p:spPr>
              <a:xfrm>
                <a:off x="0" y="3523284"/>
                <a:ext cx="12191999" cy="461665"/>
              </a:xfrm>
              <a:prstGeom prst="rect">
                <a:avLst/>
              </a:prstGeom>
              <a:blipFill>
                <a:blip r:embed="rId5"/>
                <a:stretch>
                  <a:fillRect t="-10526" b="-28947"/>
                </a:stretch>
              </a:blipFill>
            </p:spPr>
            <p:txBody>
              <a:bodyPr/>
              <a:lstStyle/>
              <a:p>
                <a:r>
                  <a:rPr lang="en-US">
                    <a:noFill/>
                  </a:rPr>
                  <a:t> </a:t>
                </a:r>
              </a:p>
            </p:txBody>
          </p:sp>
        </mc:Fallback>
      </mc:AlternateContent>
      <p:pic>
        <p:nvPicPr>
          <p:cNvPr id="10" name="Picture 9">
            <a:extLst>
              <a:ext uri="{FF2B5EF4-FFF2-40B4-BE49-F238E27FC236}">
                <a16:creationId xmlns:a16="http://schemas.microsoft.com/office/drawing/2014/main" id="{FF3ACA7A-FDB7-4142-A94D-9E3BA3F22211}"/>
              </a:ext>
            </a:extLst>
          </p:cNvPr>
          <p:cNvPicPr>
            <a:picLocks noChangeAspect="1"/>
          </p:cNvPicPr>
          <p:nvPr/>
        </p:nvPicPr>
        <p:blipFill>
          <a:blip r:embed="rId6"/>
          <a:stretch>
            <a:fillRect/>
          </a:stretch>
        </p:blipFill>
        <p:spPr>
          <a:xfrm>
            <a:off x="1519236" y="4221123"/>
            <a:ext cx="9153525" cy="962025"/>
          </a:xfrm>
          <a:prstGeom prst="rect">
            <a:avLst/>
          </a:prstGeom>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D8BEB4C-D62E-41A6-9298-08E7A8ED4D83}"/>
                  </a:ext>
                </a:extLst>
              </p:cNvPr>
              <p:cNvSpPr txBox="1"/>
              <p:nvPr/>
            </p:nvSpPr>
            <p:spPr>
              <a:xfrm>
                <a:off x="74643" y="5365102"/>
                <a:ext cx="12191999" cy="461665"/>
              </a:xfrm>
              <a:prstGeom prst="rect">
                <a:avLst/>
              </a:prstGeom>
              <a:noFill/>
            </p:spPr>
            <p:txBody>
              <a:bodyPr wrap="square" rtlCol="0">
                <a:spAutoFit/>
              </a:bodyPr>
              <a:lstStyle/>
              <a:p>
                <a:pPr algn="ctr"/>
                <a:r>
                  <a:rPr lang="en-US" sz="2400" dirty="0"/>
                  <a:t>So the top is </a:t>
                </a:r>
                <a14:m>
                  <m:oMath xmlns:m="http://schemas.openxmlformats.org/officeDocument/2006/math">
                    <m:r>
                      <a:rPr lang="en-US" sz="2400" b="0" i="1" smtClean="0">
                        <a:latin typeface="Cambria Math" panose="02040503050406030204" pitchFamily="18" charset="0"/>
                      </a:rPr>
                      <m:t>𝑛</m:t>
                    </m:r>
                    <m:r>
                      <a:rPr lang="en-US" sz="2400" b="0" i="1" smtClean="0">
                        <a:latin typeface="Cambria Math" panose="02040503050406030204" pitchFamily="18" charset="0"/>
                      </a:rPr>
                      <m:t>!</m:t>
                    </m:r>
                  </m:oMath>
                </a14:m>
                <a:r>
                  <a:rPr lang="en-US" sz="2400" dirty="0"/>
                  <a:t> And the bottom is </a:t>
                </a:r>
                <a14:m>
                  <m:oMath xmlns:m="http://schemas.openxmlformats.org/officeDocument/2006/math">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𝑟</m:t>
                        </m:r>
                      </m:e>
                    </m:d>
                    <m:r>
                      <a:rPr lang="en-US" sz="2400" b="0" i="1" smtClean="0">
                        <a:latin typeface="Cambria Math" panose="02040503050406030204" pitchFamily="18" charset="0"/>
                      </a:rPr>
                      <m:t>!</m:t>
                    </m:r>
                  </m:oMath>
                </a14:m>
                <a:endParaRPr lang="en-US" sz="2400" dirty="0"/>
              </a:p>
            </p:txBody>
          </p:sp>
        </mc:Choice>
        <mc:Fallback xmlns="">
          <p:sp>
            <p:nvSpPr>
              <p:cNvPr id="12" name="TextBox 11">
                <a:extLst>
                  <a:ext uri="{FF2B5EF4-FFF2-40B4-BE49-F238E27FC236}">
                    <a16:creationId xmlns:a16="http://schemas.microsoft.com/office/drawing/2014/main" id="{0D8BEB4C-D62E-41A6-9298-08E7A8ED4D83}"/>
                  </a:ext>
                </a:extLst>
              </p:cNvPr>
              <p:cNvSpPr txBox="1">
                <a:spLocks noRot="1" noChangeAspect="1" noMove="1" noResize="1" noEditPoints="1" noAdjustHandles="1" noChangeArrowheads="1" noChangeShapeType="1" noTextEdit="1"/>
              </p:cNvSpPr>
              <p:nvPr/>
            </p:nvSpPr>
            <p:spPr>
              <a:xfrm>
                <a:off x="74643" y="5365102"/>
                <a:ext cx="12191999" cy="461665"/>
              </a:xfrm>
              <a:prstGeom prst="rect">
                <a:avLst/>
              </a:prstGeom>
              <a:blipFill>
                <a:blip r:embed="rId7"/>
                <a:stretch>
                  <a:fillRect t="-10526" b="-28947"/>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2082EAAE-924A-4080-ACCA-367B8E7359A4}"/>
              </a:ext>
            </a:extLst>
          </p:cNvPr>
          <p:cNvPicPr>
            <a:picLocks noChangeAspect="1"/>
          </p:cNvPicPr>
          <p:nvPr/>
        </p:nvPicPr>
        <p:blipFill>
          <a:blip r:embed="rId8"/>
          <a:stretch>
            <a:fillRect/>
          </a:stretch>
        </p:blipFill>
        <p:spPr>
          <a:xfrm>
            <a:off x="4400258" y="5781675"/>
            <a:ext cx="3114675" cy="1076325"/>
          </a:xfrm>
          <a:prstGeom prst="rect">
            <a:avLst/>
          </a:prstGeom>
        </p:spPr>
      </p:pic>
    </p:spTree>
    <p:extLst>
      <p:ext uri="{BB962C8B-B14F-4D97-AF65-F5344CB8AC3E}">
        <p14:creationId xmlns:p14="http://schemas.microsoft.com/office/powerpoint/2010/main" val="4033776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additive="base">
                                        <p:cTn id="17" dur="500" fill="hold"/>
                                        <p:tgtEl>
                                          <p:spTgt spid="10"/>
                                        </p:tgtEl>
                                        <p:attrNameLst>
                                          <p:attrName>ppt_x</p:attrName>
                                        </p:attrNameLst>
                                      </p:cBhvr>
                                      <p:tavLst>
                                        <p:tav tm="0">
                                          <p:val>
                                            <p:strVal val="#ppt_x"/>
                                          </p:val>
                                        </p:tav>
                                        <p:tav tm="100000">
                                          <p:val>
                                            <p:strVal val="#ppt_x"/>
                                          </p:val>
                                        </p:tav>
                                      </p:tavLst>
                                    </p:anim>
                                    <p:anim calcmode="lin" valueType="num">
                                      <p:cBhvr additive="base">
                                        <p:cTn id="1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 calcmode="lin" valueType="num">
                                      <p:cBhvr additive="base">
                                        <p:cTn id="23" dur="500" fill="hold"/>
                                        <p:tgtEl>
                                          <p:spTgt spid="12"/>
                                        </p:tgtEl>
                                        <p:attrNameLst>
                                          <p:attrName>ppt_x</p:attrName>
                                        </p:attrNameLst>
                                      </p:cBhvr>
                                      <p:tavLst>
                                        <p:tav tm="0">
                                          <p:val>
                                            <p:strVal val="#ppt_x"/>
                                          </p:val>
                                        </p:tav>
                                        <p:tav tm="100000">
                                          <p:val>
                                            <p:strVal val="#ppt_x"/>
                                          </p:val>
                                        </p:tav>
                                      </p:tavLst>
                                    </p:anim>
                                    <p:anim calcmode="lin" valueType="num">
                                      <p:cBhvr additive="base">
                                        <p:cTn id="24" dur="500" fill="hold"/>
                                        <p:tgtEl>
                                          <p:spTgt spid="12"/>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anim calcmode="lin" valueType="num">
                                      <p:cBhvr additive="base">
                                        <p:cTn id="27" dur="500" fill="hold"/>
                                        <p:tgtEl>
                                          <p:spTgt spid="14"/>
                                        </p:tgtEl>
                                        <p:attrNameLst>
                                          <p:attrName>ppt_x</p:attrName>
                                        </p:attrNameLst>
                                      </p:cBhvr>
                                      <p:tavLst>
                                        <p:tav tm="0">
                                          <p:val>
                                            <p:strVal val="#ppt_x"/>
                                          </p:val>
                                        </p:tav>
                                        <p:tav tm="100000">
                                          <p:val>
                                            <p:strVal val="#ppt_x"/>
                                          </p:val>
                                        </p:tav>
                                      </p:tavLst>
                                    </p:anim>
                                    <p:anim calcmode="lin" valueType="num">
                                      <p:cBhvr additive="base">
                                        <p:cTn id="28"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C3E5102-C01B-4D0D-9B7C-D5EBA96ECF76}"/>
              </a:ext>
            </a:extLst>
          </p:cNvPr>
          <p:cNvPicPr>
            <a:picLocks noChangeAspect="1"/>
          </p:cNvPicPr>
          <p:nvPr/>
        </p:nvPicPr>
        <p:blipFill>
          <a:blip r:embed="rId2"/>
          <a:stretch>
            <a:fillRect/>
          </a:stretch>
        </p:blipFill>
        <p:spPr>
          <a:xfrm>
            <a:off x="1598644" y="0"/>
            <a:ext cx="8994711" cy="4108797"/>
          </a:xfrm>
          <a:prstGeom prst="rect">
            <a:avLst/>
          </a:prstGeom>
        </p:spPr>
      </p:pic>
      <p:pic>
        <p:nvPicPr>
          <p:cNvPr id="5" name="Picture 4">
            <a:extLst>
              <a:ext uri="{FF2B5EF4-FFF2-40B4-BE49-F238E27FC236}">
                <a16:creationId xmlns:a16="http://schemas.microsoft.com/office/drawing/2014/main" id="{4064EB74-A86A-471C-A86E-A76B20DB38D0}"/>
              </a:ext>
            </a:extLst>
          </p:cNvPr>
          <p:cNvPicPr>
            <a:picLocks noChangeAspect="1"/>
          </p:cNvPicPr>
          <p:nvPr/>
        </p:nvPicPr>
        <p:blipFill>
          <a:blip r:embed="rId3"/>
          <a:stretch>
            <a:fillRect/>
          </a:stretch>
        </p:blipFill>
        <p:spPr>
          <a:xfrm>
            <a:off x="1458783" y="4346292"/>
            <a:ext cx="9274434" cy="2382658"/>
          </a:xfrm>
          <a:prstGeom prst="rect">
            <a:avLst/>
          </a:prstGeom>
        </p:spPr>
      </p:pic>
    </p:spTree>
    <p:extLst>
      <p:ext uri="{BB962C8B-B14F-4D97-AF65-F5344CB8AC3E}">
        <p14:creationId xmlns:p14="http://schemas.microsoft.com/office/powerpoint/2010/main" val="3865740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67ACB-7ED6-4CE4-B087-49D4F584A8E6}"/>
              </a:ext>
            </a:extLst>
          </p:cNvPr>
          <p:cNvSpPr>
            <a:spLocks noGrp="1"/>
          </p:cNvSpPr>
          <p:nvPr>
            <p:ph type="title"/>
          </p:nvPr>
        </p:nvSpPr>
        <p:spPr>
          <a:xfrm>
            <a:off x="0" y="0"/>
            <a:ext cx="10515600" cy="1325563"/>
          </a:xfrm>
        </p:spPr>
        <p:txBody>
          <a:bodyPr/>
          <a:lstStyle/>
          <a:p>
            <a:r>
              <a:rPr lang="en-US" u="sng" dirty="0"/>
              <a:t>Some more examples…</a:t>
            </a:r>
          </a:p>
        </p:txBody>
      </p:sp>
      <p:pic>
        <p:nvPicPr>
          <p:cNvPr id="5" name="Picture 4">
            <a:extLst>
              <a:ext uri="{FF2B5EF4-FFF2-40B4-BE49-F238E27FC236}">
                <a16:creationId xmlns:a16="http://schemas.microsoft.com/office/drawing/2014/main" id="{F9AD961D-393C-4628-88DB-25509A68AD4F}"/>
              </a:ext>
            </a:extLst>
          </p:cNvPr>
          <p:cNvPicPr>
            <a:picLocks noChangeAspect="1"/>
          </p:cNvPicPr>
          <p:nvPr/>
        </p:nvPicPr>
        <p:blipFill>
          <a:blip r:embed="rId2"/>
          <a:stretch>
            <a:fillRect/>
          </a:stretch>
        </p:blipFill>
        <p:spPr>
          <a:xfrm>
            <a:off x="923925" y="1610697"/>
            <a:ext cx="10344150" cy="4457700"/>
          </a:xfrm>
          <a:prstGeom prst="rect">
            <a:avLst/>
          </a:prstGeom>
        </p:spPr>
      </p:pic>
    </p:spTree>
    <p:extLst>
      <p:ext uri="{BB962C8B-B14F-4D97-AF65-F5344CB8AC3E}">
        <p14:creationId xmlns:p14="http://schemas.microsoft.com/office/powerpoint/2010/main" val="1671524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0B6C26-4C84-4C12-A758-ED19D064B310}"/>
              </a:ext>
            </a:extLst>
          </p:cNvPr>
          <p:cNvPicPr>
            <a:picLocks noChangeAspect="1"/>
          </p:cNvPicPr>
          <p:nvPr/>
        </p:nvPicPr>
        <p:blipFill>
          <a:blip r:embed="rId2"/>
          <a:stretch>
            <a:fillRect/>
          </a:stretch>
        </p:blipFill>
        <p:spPr>
          <a:xfrm>
            <a:off x="847725" y="709612"/>
            <a:ext cx="10496550" cy="5438775"/>
          </a:xfrm>
          <a:prstGeom prst="rect">
            <a:avLst/>
          </a:prstGeom>
        </p:spPr>
      </p:pic>
    </p:spTree>
    <p:extLst>
      <p:ext uri="{BB962C8B-B14F-4D97-AF65-F5344CB8AC3E}">
        <p14:creationId xmlns:p14="http://schemas.microsoft.com/office/powerpoint/2010/main" val="4174914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10FB3-E1B6-4F5D-9805-6253A400BD31}"/>
              </a:ext>
            </a:extLst>
          </p:cNvPr>
          <p:cNvPicPr>
            <a:picLocks noChangeAspect="1"/>
          </p:cNvPicPr>
          <p:nvPr/>
        </p:nvPicPr>
        <p:blipFill>
          <a:blip r:embed="rId2"/>
          <a:stretch>
            <a:fillRect/>
          </a:stretch>
        </p:blipFill>
        <p:spPr>
          <a:xfrm>
            <a:off x="1536100" y="615820"/>
            <a:ext cx="9119799" cy="3659753"/>
          </a:xfrm>
          <a:prstGeom prst="rect">
            <a:avLst/>
          </a:prstGeom>
          <a:ln>
            <a:solidFill>
              <a:schemeClr val="tx1"/>
            </a:solidFill>
          </a:ln>
        </p:spPr>
      </p:pic>
      <p:pic>
        <p:nvPicPr>
          <p:cNvPr id="5" name="Picture 4">
            <a:extLst>
              <a:ext uri="{FF2B5EF4-FFF2-40B4-BE49-F238E27FC236}">
                <a16:creationId xmlns:a16="http://schemas.microsoft.com/office/drawing/2014/main" id="{557E2A6C-63BB-4576-BA8D-AE2DB3C541C4}"/>
              </a:ext>
            </a:extLst>
          </p:cNvPr>
          <p:cNvPicPr>
            <a:picLocks noChangeAspect="1"/>
          </p:cNvPicPr>
          <p:nvPr/>
        </p:nvPicPr>
        <p:blipFill>
          <a:blip r:embed="rId3"/>
          <a:stretch>
            <a:fillRect/>
          </a:stretch>
        </p:blipFill>
        <p:spPr>
          <a:xfrm>
            <a:off x="1369073" y="4767262"/>
            <a:ext cx="9696450" cy="1895475"/>
          </a:xfrm>
          <a:prstGeom prst="rect">
            <a:avLst/>
          </a:prstGeom>
        </p:spPr>
      </p:pic>
    </p:spTree>
    <p:extLst>
      <p:ext uri="{BB962C8B-B14F-4D97-AF65-F5344CB8AC3E}">
        <p14:creationId xmlns:p14="http://schemas.microsoft.com/office/powerpoint/2010/main" val="25534557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6819036-24CE-407C-AB36-D5A7832BBFDE}"/>
              </a:ext>
            </a:extLst>
          </p:cNvPr>
          <p:cNvPicPr>
            <a:picLocks noChangeAspect="1"/>
          </p:cNvPicPr>
          <p:nvPr/>
        </p:nvPicPr>
        <p:blipFill rotWithShape="1">
          <a:blip r:embed="rId2"/>
          <a:srcRect t="50480" b="33713"/>
          <a:stretch/>
        </p:blipFill>
        <p:spPr>
          <a:xfrm>
            <a:off x="212268" y="671805"/>
            <a:ext cx="11767466" cy="746448"/>
          </a:xfrm>
          <a:prstGeom prst="rect">
            <a:avLst/>
          </a:prstGeom>
          <a:ln>
            <a:solidFill>
              <a:schemeClr val="tx1"/>
            </a:solidFill>
          </a:ln>
        </p:spPr>
      </p:pic>
      <p:pic>
        <p:nvPicPr>
          <p:cNvPr id="4" name="Picture 3">
            <a:extLst>
              <a:ext uri="{FF2B5EF4-FFF2-40B4-BE49-F238E27FC236}">
                <a16:creationId xmlns:a16="http://schemas.microsoft.com/office/drawing/2014/main" id="{F6C86CA7-4FEB-49C4-AEC9-583C6322D656}"/>
              </a:ext>
            </a:extLst>
          </p:cNvPr>
          <p:cNvPicPr>
            <a:picLocks noChangeAspect="1"/>
          </p:cNvPicPr>
          <p:nvPr/>
        </p:nvPicPr>
        <p:blipFill>
          <a:blip r:embed="rId3"/>
          <a:stretch>
            <a:fillRect/>
          </a:stretch>
        </p:blipFill>
        <p:spPr>
          <a:xfrm>
            <a:off x="1100138" y="1630232"/>
            <a:ext cx="9991725" cy="2085975"/>
          </a:xfrm>
          <a:prstGeom prst="rect">
            <a:avLst/>
          </a:prstGeom>
        </p:spPr>
      </p:pic>
      <p:pic>
        <p:nvPicPr>
          <p:cNvPr id="5" name="Picture 4">
            <a:extLst>
              <a:ext uri="{FF2B5EF4-FFF2-40B4-BE49-F238E27FC236}">
                <a16:creationId xmlns:a16="http://schemas.microsoft.com/office/drawing/2014/main" id="{8F287438-F83A-4042-AA0F-743F79CB52C1}"/>
              </a:ext>
            </a:extLst>
          </p:cNvPr>
          <p:cNvPicPr>
            <a:picLocks noChangeAspect="1"/>
          </p:cNvPicPr>
          <p:nvPr/>
        </p:nvPicPr>
        <p:blipFill rotWithShape="1">
          <a:blip r:embed="rId2"/>
          <a:srcRect t="50480" b="33713"/>
          <a:stretch/>
        </p:blipFill>
        <p:spPr>
          <a:xfrm>
            <a:off x="212267" y="3762861"/>
            <a:ext cx="11767466" cy="746448"/>
          </a:xfrm>
          <a:prstGeom prst="rect">
            <a:avLst/>
          </a:prstGeom>
          <a:ln>
            <a:solidFill>
              <a:schemeClr val="tx1"/>
            </a:solidFill>
          </a:ln>
        </p:spPr>
      </p:pic>
      <p:sp>
        <p:nvSpPr>
          <p:cNvPr id="6" name="Oval 5">
            <a:extLst>
              <a:ext uri="{FF2B5EF4-FFF2-40B4-BE49-F238E27FC236}">
                <a16:creationId xmlns:a16="http://schemas.microsoft.com/office/drawing/2014/main" id="{86AE3BD3-C388-4310-AE29-92B6C74214EF}"/>
              </a:ext>
            </a:extLst>
          </p:cNvPr>
          <p:cNvSpPr/>
          <p:nvPr/>
        </p:nvSpPr>
        <p:spPr>
          <a:xfrm>
            <a:off x="2743200" y="3676843"/>
            <a:ext cx="923731" cy="891073"/>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6EF8BAAD-3AF7-42C1-AE64-E62A41598ED5}"/>
              </a:ext>
            </a:extLst>
          </p:cNvPr>
          <p:cNvSpPr/>
          <p:nvPr/>
        </p:nvSpPr>
        <p:spPr>
          <a:xfrm>
            <a:off x="5069632" y="3716207"/>
            <a:ext cx="923731" cy="891073"/>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B8501C34-91A1-4957-879B-8B19E55FD2ED}"/>
              </a:ext>
            </a:extLst>
          </p:cNvPr>
          <p:cNvSpPr/>
          <p:nvPr/>
        </p:nvSpPr>
        <p:spPr>
          <a:xfrm>
            <a:off x="3906416" y="3690548"/>
            <a:ext cx="923731" cy="89107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9" name="Oval 8">
            <a:extLst>
              <a:ext uri="{FF2B5EF4-FFF2-40B4-BE49-F238E27FC236}">
                <a16:creationId xmlns:a16="http://schemas.microsoft.com/office/drawing/2014/main" id="{F76B07A0-487C-4193-9068-6C5E5EDFB990}"/>
              </a:ext>
            </a:extLst>
          </p:cNvPr>
          <p:cNvSpPr/>
          <p:nvPr/>
        </p:nvSpPr>
        <p:spPr>
          <a:xfrm>
            <a:off x="7361466" y="3676842"/>
            <a:ext cx="923731" cy="891073"/>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0" name="Oval 9">
            <a:extLst>
              <a:ext uri="{FF2B5EF4-FFF2-40B4-BE49-F238E27FC236}">
                <a16:creationId xmlns:a16="http://schemas.microsoft.com/office/drawing/2014/main" id="{EF27630A-97CD-4D6C-BECD-CBF93C6F4CA7}"/>
              </a:ext>
            </a:extLst>
          </p:cNvPr>
          <p:cNvSpPr/>
          <p:nvPr/>
        </p:nvSpPr>
        <p:spPr>
          <a:xfrm>
            <a:off x="6215549" y="3690548"/>
            <a:ext cx="923731" cy="891073"/>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sp>
        <p:nvSpPr>
          <p:cNvPr id="11" name="Oval 10">
            <a:extLst>
              <a:ext uri="{FF2B5EF4-FFF2-40B4-BE49-F238E27FC236}">
                <a16:creationId xmlns:a16="http://schemas.microsoft.com/office/drawing/2014/main" id="{7DDBA5CF-A42C-4240-8E03-CA97C1E5E0EB}"/>
              </a:ext>
            </a:extLst>
          </p:cNvPr>
          <p:cNvSpPr/>
          <p:nvPr/>
        </p:nvSpPr>
        <p:spPr>
          <a:xfrm>
            <a:off x="8525071" y="3690548"/>
            <a:ext cx="923731" cy="891073"/>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0000"/>
              </a:solidFill>
            </a:endParaRPr>
          </a:p>
        </p:txBody>
      </p:sp>
      <p:pic>
        <p:nvPicPr>
          <p:cNvPr id="12" name="Picture 11">
            <a:extLst>
              <a:ext uri="{FF2B5EF4-FFF2-40B4-BE49-F238E27FC236}">
                <a16:creationId xmlns:a16="http://schemas.microsoft.com/office/drawing/2014/main" id="{4A9CF091-0974-4EA0-9A31-1FC676C22FAE}"/>
              </a:ext>
            </a:extLst>
          </p:cNvPr>
          <p:cNvPicPr>
            <a:picLocks noChangeAspect="1"/>
          </p:cNvPicPr>
          <p:nvPr/>
        </p:nvPicPr>
        <p:blipFill rotWithShape="1">
          <a:blip r:embed="rId2"/>
          <a:srcRect t="50480" b="33713"/>
          <a:stretch/>
        </p:blipFill>
        <p:spPr>
          <a:xfrm>
            <a:off x="212267" y="5389593"/>
            <a:ext cx="11767466" cy="746448"/>
          </a:xfrm>
          <a:prstGeom prst="rect">
            <a:avLst/>
          </a:prstGeom>
          <a:ln>
            <a:solidFill>
              <a:schemeClr val="tx1"/>
            </a:solidFill>
          </a:ln>
        </p:spPr>
      </p:pic>
      <p:sp>
        <p:nvSpPr>
          <p:cNvPr id="13" name="Rectangle 12">
            <a:extLst>
              <a:ext uri="{FF2B5EF4-FFF2-40B4-BE49-F238E27FC236}">
                <a16:creationId xmlns:a16="http://schemas.microsoft.com/office/drawing/2014/main" id="{5D4E92C1-D1A8-4475-8A91-F6C4BEA6AECD}"/>
              </a:ext>
            </a:extLst>
          </p:cNvPr>
          <p:cNvSpPr/>
          <p:nvPr/>
        </p:nvSpPr>
        <p:spPr>
          <a:xfrm>
            <a:off x="5069632" y="5480274"/>
            <a:ext cx="845975" cy="5650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3DC8570-9468-493C-BE2B-6C02E53B3275}"/>
              </a:ext>
            </a:extLst>
          </p:cNvPr>
          <p:cNvSpPr/>
          <p:nvPr/>
        </p:nvSpPr>
        <p:spPr>
          <a:xfrm>
            <a:off x="7545354" y="5570956"/>
            <a:ext cx="845975" cy="48985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37F4C2B-6413-4D27-B96B-B639F5311443}"/>
              </a:ext>
            </a:extLst>
          </p:cNvPr>
          <p:cNvSpPr/>
          <p:nvPr/>
        </p:nvSpPr>
        <p:spPr>
          <a:xfrm>
            <a:off x="8602827" y="5403298"/>
            <a:ext cx="845975" cy="5650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2697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00" fill="hold"/>
                                        <p:tgtEl>
                                          <p:spTgt spid="7"/>
                                        </p:tgtEl>
                                        <p:attrNameLst>
                                          <p:attrName>ppt_x</p:attrName>
                                        </p:attrNameLst>
                                      </p:cBhvr>
                                      <p:tavLst>
                                        <p:tav tm="0">
                                          <p:val>
                                            <p:strVal val="#ppt_x"/>
                                          </p:val>
                                        </p:tav>
                                        <p:tav tm="100000">
                                          <p:val>
                                            <p:strVal val="#ppt_x"/>
                                          </p:val>
                                        </p:tav>
                                      </p:tavLst>
                                    </p:anim>
                                    <p:anim calcmode="lin" valueType="num">
                                      <p:cBhvr additive="base">
                                        <p:cTn id="16" dur="500" fill="hold"/>
                                        <p:tgtEl>
                                          <p:spTgt spid="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00" fill="hold"/>
                                        <p:tgtEl>
                                          <p:spTgt spid="13"/>
                                        </p:tgtEl>
                                        <p:attrNameLst>
                                          <p:attrName>ppt_x</p:attrName>
                                        </p:attrNameLst>
                                      </p:cBhvr>
                                      <p:tavLst>
                                        <p:tav tm="0">
                                          <p:val>
                                            <p:strVal val="#ppt_x"/>
                                          </p:val>
                                        </p:tav>
                                        <p:tav tm="100000">
                                          <p:val>
                                            <p:strVal val="#ppt_x"/>
                                          </p:val>
                                        </p:tav>
                                      </p:tavLst>
                                    </p:anim>
                                    <p:anim calcmode="lin" valueType="num">
                                      <p:cBhvr additive="base">
                                        <p:cTn id="40" dur="500" fill="hold"/>
                                        <p:tgtEl>
                                          <p:spTgt spid="13"/>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fill="hold"/>
                                        <p:tgtEl>
                                          <p:spTgt spid="15"/>
                                        </p:tgtEl>
                                        <p:attrNameLst>
                                          <p:attrName>ppt_x</p:attrName>
                                        </p:attrNameLst>
                                      </p:cBhvr>
                                      <p:tavLst>
                                        <p:tav tm="0">
                                          <p:val>
                                            <p:strVal val="#ppt_x"/>
                                          </p:val>
                                        </p:tav>
                                        <p:tav tm="100000">
                                          <p:val>
                                            <p:strVal val="#ppt_x"/>
                                          </p:val>
                                        </p:tav>
                                      </p:tavLst>
                                    </p:anim>
                                    <p:anim calcmode="lin" valueType="num">
                                      <p:cBhvr additive="base">
                                        <p:cTn id="4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3" grpId="0" animBg="1"/>
      <p:bldP spid="14" grpId="0" animBg="1"/>
      <p:bldP spid="1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DC0A0F7-BD2F-4133-A973-C73662F46BE8}"/>
              </a:ext>
            </a:extLst>
          </p:cNvPr>
          <p:cNvPicPr>
            <a:picLocks noChangeAspect="1"/>
          </p:cNvPicPr>
          <p:nvPr/>
        </p:nvPicPr>
        <p:blipFill rotWithShape="1">
          <a:blip r:embed="rId2"/>
          <a:srcRect b="46904"/>
          <a:stretch/>
        </p:blipFill>
        <p:spPr>
          <a:xfrm>
            <a:off x="838200" y="490538"/>
            <a:ext cx="10515600" cy="3120410"/>
          </a:xfrm>
          <a:prstGeom prst="rect">
            <a:avLst/>
          </a:prstGeom>
        </p:spPr>
      </p:pic>
      <p:pic>
        <p:nvPicPr>
          <p:cNvPr id="5" name="Picture 4">
            <a:extLst>
              <a:ext uri="{FF2B5EF4-FFF2-40B4-BE49-F238E27FC236}">
                <a16:creationId xmlns:a16="http://schemas.microsoft.com/office/drawing/2014/main" id="{C0B3DE33-A4AA-4E2F-994D-7B2C0F3DA061}"/>
              </a:ext>
            </a:extLst>
          </p:cNvPr>
          <p:cNvPicPr>
            <a:picLocks noChangeAspect="1"/>
          </p:cNvPicPr>
          <p:nvPr/>
        </p:nvPicPr>
        <p:blipFill rotWithShape="1">
          <a:blip r:embed="rId2"/>
          <a:srcRect t="53096"/>
          <a:stretch/>
        </p:blipFill>
        <p:spPr>
          <a:xfrm>
            <a:off x="838200" y="3834883"/>
            <a:ext cx="10515600" cy="2756514"/>
          </a:xfrm>
          <a:prstGeom prst="rect">
            <a:avLst/>
          </a:prstGeom>
          <a:ln>
            <a:solidFill>
              <a:schemeClr val="tx1"/>
            </a:solidFill>
          </a:ln>
        </p:spPr>
      </p:pic>
    </p:spTree>
    <p:extLst>
      <p:ext uri="{BB962C8B-B14F-4D97-AF65-F5344CB8AC3E}">
        <p14:creationId xmlns:p14="http://schemas.microsoft.com/office/powerpoint/2010/main" val="966472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1FC034B-CC7D-4BBA-994F-AB1FA9722A98}"/>
              </a:ext>
            </a:extLst>
          </p:cNvPr>
          <p:cNvPicPr>
            <a:picLocks noChangeAspect="1"/>
          </p:cNvPicPr>
          <p:nvPr/>
        </p:nvPicPr>
        <p:blipFill>
          <a:blip r:embed="rId2"/>
          <a:stretch>
            <a:fillRect/>
          </a:stretch>
        </p:blipFill>
        <p:spPr>
          <a:xfrm>
            <a:off x="909637" y="0"/>
            <a:ext cx="10372725" cy="3114675"/>
          </a:xfrm>
          <a:prstGeom prst="rect">
            <a:avLst/>
          </a:prstGeom>
        </p:spPr>
      </p:pic>
      <p:pic>
        <p:nvPicPr>
          <p:cNvPr id="5" name="Picture 4">
            <a:extLst>
              <a:ext uri="{FF2B5EF4-FFF2-40B4-BE49-F238E27FC236}">
                <a16:creationId xmlns:a16="http://schemas.microsoft.com/office/drawing/2014/main" id="{B6A3F76E-EFC0-4595-924E-59F0CFD975A7}"/>
              </a:ext>
            </a:extLst>
          </p:cNvPr>
          <p:cNvPicPr>
            <a:picLocks noChangeAspect="1"/>
          </p:cNvPicPr>
          <p:nvPr/>
        </p:nvPicPr>
        <p:blipFill>
          <a:blip r:embed="rId3"/>
          <a:stretch>
            <a:fillRect/>
          </a:stretch>
        </p:blipFill>
        <p:spPr>
          <a:xfrm>
            <a:off x="1590772" y="3157869"/>
            <a:ext cx="8831522" cy="3700131"/>
          </a:xfrm>
          <a:prstGeom prst="rect">
            <a:avLst/>
          </a:prstGeom>
        </p:spPr>
      </p:pic>
    </p:spTree>
    <p:extLst>
      <p:ext uri="{BB962C8B-B14F-4D97-AF65-F5344CB8AC3E}">
        <p14:creationId xmlns:p14="http://schemas.microsoft.com/office/powerpoint/2010/main" val="449906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49798CC-69C0-4FF2-9497-CA89248A4AC6}"/>
              </a:ext>
            </a:extLst>
          </p:cNvPr>
          <p:cNvPicPr>
            <a:picLocks noChangeAspect="1"/>
          </p:cNvPicPr>
          <p:nvPr/>
        </p:nvPicPr>
        <p:blipFill>
          <a:blip r:embed="rId2"/>
          <a:stretch>
            <a:fillRect/>
          </a:stretch>
        </p:blipFill>
        <p:spPr>
          <a:xfrm>
            <a:off x="988656" y="1464224"/>
            <a:ext cx="10401300" cy="3724275"/>
          </a:xfrm>
          <a:prstGeom prst="rect">
            <a:avLst/>
          </a:prstGeom>
        </p:spPr>
      </p:pic>
    </p:spTree>
    <p:extLst>
      <p:ext uri="{BB962C8B-B14F-4D97-AF65-F5344CB8AC3E}">
        <p14:creationId xmlns:p14="http://schemas.microsoft.com/office/powerpoint/2010/main" val="33546814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9342FE8-9078-4BA1-816E-9B28D75E68F5}"/>
              </a:ext>
            </a:extLst>
          </p:cNvPr>
          <p:cNvPicPr>
            <a:picLocks noChangeAspect="1"/>
          </p:cNvPicPr>
          <p:nvPr/>
        </p:nvPicPr>
        <p:blipFill>
          <a:blip r:embed="rId2"/>
          <a:stretch>
            <a:fillRect/>
          </a:stretch>
        </p:blipFill>
        <p:spPr>
          <a:xfrm>
            <a:off x="890587" y="381000"/>
            <a:ext cx="10410825" cy="3048000"/>
          </a:xfrm>
          <a:prstGeom prst="rect">
            <a:avLst/>
          </a:prstGeom>
        </p:spPr>
      </p:pic>
      <p:pic>
        <p:nvPicPr>
          <p:cNvPr id="5" name="Picture 4">
            <a:extLst>
              <a:ext uri="{FF2B5EF4-FFF2-40B4-BE49-F238E27FC236}">
                <a16:creationId xmlns:a16="http://schemas.microsoft.com/office/drawing/2014/main" id="{B873C9C2-FBEC-41D1-BE77-889E96256788}"/>
              </a:ext>
            </a:extLst>
          </p:cNvPr>
          <p:cNvPicPr>
            <a:picLocks noChangeAspect="1"/>
          </p:cNvPicPr>
          <p:nvPr/>
        </p:nvPicPr>
        <p:blipFill>
          <a:blip r:embed="rId3"/>
          <a:stretch>
            <a:fillRect/>
          </a:stretch>
        </p:blipFill>
        <p:spPr>
          <a:xfrm>
            <a:off x="800099" y="3429000"/>
            <a:ext cx="10591800" cy="2724150"/>
          </a:xfrm>
          <a:prstGeom prst="rect">
            <a:avLst/>
          </a:prstGeom>
        </p:spPr>
      </p:pic>
    </p:spTree>
    <p:extLst>
      <p:ext uri="{BB962C8B-B14F-4D97-AF65-F5344CB8AC3E}">
        <p14:creationId xmlns:p14="http://schemas.microsoft.com/office/powerpoint/2010/main" val="150153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BB1239-3F89-43E7-BFFD-3697526C1F34}"/>
              </a:ext>
            </a:extLst>
          </p:cNvPr>
          <p:cNvPicPr>
            <a:picLocks noChangeAspect="1"/>
          </p:cNvPicPr>
          <p:nvPr/>
        </p:nvPicPr>
        <p:blipFill>
          <a:blip r:embed="rId2"/>
          <a:stretch>
            <a:fillRect/>
          </a:stretch>
        </p:blipFill>
        <p:spPr>
          <a:xfrm>
            <a:off x="876300" y="174755"/>
            <a:ext cx="10439400" cy="2533650"/>
          </a:xfrm>
          <a:prstGeom prst="rect">
            <a:avLst/>
          </a:prstGeom>
        </p:spPr>
      </p:pic>
      <p:pic>
        <p:nvPicPr>
          <p:cNvPr id="5" name="Picture 4">
            <a:extLst>
              <a:ext uri="{FF2B5EF4-FFF2-40B4-BE49-F238E27FC236}">
                <a16:creationId xmlns:a16="http://schemas.microsoft.com/office/drawing/2014/main" id="{63FD9410-989E-40E2-BE52-27D42C028D35}"/>
              </a:ext>
            </a:extLst>
          </p:cNvPr>
          <p:cNvPicPr>
            <a:picLocks noChangeAspect="1"/>
          </p:cNvPicPr>
          <p:nvPr/>
        </p:nvPicPr>
        <p:blipFill>
          <a:blip r:embed="rId3"/>
          <a:stretch>
            <a:fillRect/>
          </a:stretch>
        </p:blipFill>
        <p:spPr>
          <a:xfrm>
            <a:off x="919162" y="2708405"/>
            <a:ext cx="10353675" cy="3810000"/>
          </a:xfrm>
          <a:prstGeom prst="rect">
            <a:avLst/>
          </a:prstGeom>
        </p:spPr>
      </p:pic>
    </p:spTree>
    <p:extLst>
      <p:ext uri="{BB962C8B-B14F-4D97-AF65-F5344CB8AC3E}">
        <p14:creationId xmlns:p14="http://schemas.microsoft.com/office/powerpoint/2010/main" val="3801035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A32FA-5EB2-D56E-09AE-5911AD33C3F8}"/>
              </a:ext>
            </a:extLst>
          </p:cNvPr>
          <p:cNvSpPr>
            <a:spLocks noGrp="1"/>
          </p:cNvSpPr>
          <p:nvPr>
            <p:ph type="title"/>
          </p:nvPr>
        </p:nvSpPr>
        <p:spPr>
          <a:xfrm>
            <a:off x="0" y="20290"/>
            <a:ext cx="10515600" cy="1325563"/>
          </a:xfrm>
        </p:spPr>
        <p:txBody>
          <a:bodyPr>
            <a:normAutofit/>
          </a:bodyPr>
          <a:lstStyle/>
          <a:p>
            <a:r>
              <a:rPr lang="en-US" sz="5400" dirty="0"/>
              <a:t>And now it’s time to go to MIT.</a:t>
            </a:r>
          </a:p>
        </p:txBody>
      </p:sp>
      <p:pic>
        <p:nvPicPr>
          <p:cNvPr id="2050" name="Picture 2" descr="What MIT Campus Looks Like Inside | MIT Campus Tour - YouTube">
            <a:extLst>
              <a:ext uri="{FF2B5EF4-FFF2-40B4-BE49-F238E27FC236}">
                <a16:creationId xmlns:a16="http://schemas.microsoft.com/office/drawing/2014/main" id="{BAFE59BE-F8C5-0DFE-A6BA-A4C49654ED4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2330"/>
          <a:stretch/>
        </p:blipFill>
        <p:spPr bwMode="auto">
          <a:xfrm>
            <a:off x="0" y="1229558"/>
            <a:ext cx="12192000" cy="5326602"/>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D09268EB-AADC-C0A9-E1B6-F9F17ACEC70A}"/>
              </a:ext>
            </a:extLst>
          </p:cNvPr>
          <p:cNvSpPr/>
          <p:nvPr/>
        </p:nvSpPr>
        <p:spPr>
          <a:xfrm>
            <a:off x="0" y="6072326"/>
            <a:ext cx="12192000" cy="785674"/>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a:t>Correction</a:t>
            </a:r>
            <a:r>
              <a:rPr lang="en-US" sz="3600" i="1" dirty="0"/>
              <a:t>: Go to the MIT slides</a:t>
            </a:r>
          </a:p>
        </p:txBody>
      </p:sp>
      <p:pic>
        <p:nvPicPr>
          <p:cNvPr id="2052" name="Picture 4" descr="MIT Logo and symbol, meaning, history, PNG, brand">
            <a:extLst>
              <a:ext uri="{FF2B5EF4-FFF2-40B4-BE49-F238E27FC236}">
                <a16:creationId xmlns:a16="http://schemas.microsoft.com/office/drawing/2014/main" id="{F3EB3A84-0B87-829F-E24F-580B00F115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87571"/>
            <a:ext cx="7299417" cy="4105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4425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73877-3BB3-E58C-CF2E-2AC8F402A103}"/>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Random Variables and Functions</a:t>
            </a:r>
          </a:p>
        </p:txBody>
      </p:sp>
      <p:sp>
        <p:nvSpPr>
          <p:cNvPr id="3" name="Content Placeholder 2">
            <a:extLst>
              <a:ext uri="{FF2B5EF4-FFF2-40B4-BE49-F238E27FC236}">
                <a16:creationId xmlns:a16="http://schemas.microsoft.com/office/drawing/2014/main" id="{35A739BA-D43C-46E1-1E46-866A2B73004E}"/>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lstStyle/>
          <a:p>
            <a:pPr marL="0" indent="0">
              <a:buNone/>
            </a:pPr>
            <a:r>
              <a:rPr lang="en-US" sz="3600" dirty="0"/>
              <a:t>Random variable X assigns a number to each outcome:</a:t>
            </a:r>
          </a:p>
          <a:p>
            <a:r>
              <a:rPr lang="en-US" sz="3600" dirty="0"/>
              <a:t>X : Ω → R</a:t>
            </a:r>
          </a:p>
          <a:p>
            <a:r>
              <a:rPr lang="en-US" sz="3600" dirty="0"/>
              <a:t>“X  = a” denotes the event {ω | X (ω) = a}.</a:t>
            </a:r>
          </a:p>
          <a:p>
            <a:r>
              <a:rPr lang="en-US" sz="3600" dirty="0"/>
              <a:t>Probability  mass function (</a:t>
            </a:r>
            <a:r>
              <a:rPr lang="en-US" sz="3600" dirty="0" err="1"/>
              <a:t>pmf</a:t>
            </a:r>
            <a:r>
              <a:rPr lang="en-US" sz="3600" dirty="0"/>
              <a:t> ) of X is given by:</a:t>
            </a:r>
          </a:p>
          <a:p>
            <a:pPr marL="0" indent="0" algn="ctr">
              <a:buNone/>
            </a:pPr>
            <a:r>
              <a:rPr lang="en-US" sz="3600" dirty="0"/>
              <a:t>p(a) = P (X = a).</a:t>
            </a:r>
          </a:p>
          <a:p>
            <a:r>
              <a:rPr lang="en-US" sz="3600" dirty="0"/>
              <a:t>Cumulative distribution function (</a:t>
            </a:r>
            <a:r>
              <a:rPr lang="en-US" sz="3600" dirty="0" err="1"/>
              <a:t>cdf</a:t>
            </a:r>
            <a:r>
              <a:rPr lang="en-US" sz="3600" dirty="0"/>
              <a:t> ) of X is given by:</a:t>
            </a:r>
          </a:p>
          <a:p>
            <a:pPr marL="0" indent="0" algn="ctr">
              <a:buNone/>
            </a:pPr>
            <a:r>
              <a:rPr lang="en-US" sz="3600" dirty="0"/>
              <a:t>F (a) = P (X ≤ a).</a:t>
            </a:r>
          </a:p>
          <a:p>
            <a:endParaRPr lang="en-US" dirty="0"/>
          </a:p>
        </p:txBody>
      </p:sp>
      <p:sp>
        <p:nvSpPr>
          <p:cNvPr id="4" name="TextBox 3">
            <a:extLst>
              <a:ext uri="{FF2B5EF4-FFF2-40B4-BE49-F238E27FC236}">
                <a16:creationId xmlns:a16="http://schemas.microsoft.com/office/drawing/2014/main" id="{DD9F5FBC-0452-B76F-71CA-1C25BAEAA051}"/>
              </a:ext>
            </a:extLst>
          </p:cNvPr>
          <p:cNvSpPr txBox="1"/>
          <p:nvPr/>
        </p:nvSpPr>
        <p:spPr>
          <a:xfrm>
            <a:off x="480874" y="6488668"/>
            <a:ext cx="11230252" cy="369332"/>
          </a:xfrm>
          <a:prstGeom prst="rect">
            <a:avLst/>
          </a:prstGeom>
          <a:noFill/>
        </p:spPr>
        <p:txBody>
          <a:bodyPr wrap="square" rtlCol="0">
            <a:spAutoFit/>
          </a:bodyPr>
          <a:lstStyle/>
          <a:p>
            <a:r>
              <a:rPr lang="en-US" dirty="0"/>
              <a:t>Source: https://ocw.mit.edu/courses/18-05-introduction-to-probability-and-statistics-spring-2014/pages/class-slides/</a:t>
            </a:r>
          </a:p>
        </p:txBody>
      </p:sp>
    </p:spTree>
    <p:extLst>
      <p:ext uri="{BB962C8B-B14F-4D97-AF65-F5344CB8AC3E}">
        <p14:creationId xmlns:p14="http://schemas.microsoft.com/office/powerpoint/2010/main" val="811559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95B65-70FD-2A08-CE90-C55946D53A61}"/>
              </a:ext>
            </a:extLst>
          </p:cNvPr>
          <p:cNvSpPr>
            <a:spLocks noGrp="1"/>
          </p:cNvSpPr>
          <p:nvPr>
            <p:ph type="title"/>
          </p:nvPr>
        </p:nvSpPr>
        <p:spPr>
          <a:xfrm>
            <a:off x="838200" y="365125"/>
            <a:ext cx="10515600" cy="806727"/>
          </a:xfrm>
        </p:spPr>
        <p:style>
          <a:lnRef idx="2">
            <a:schemeClr val="dk1"/>
          </a:lnRef>
          <a:fillRef idx="1">
            <a:schemeClr val="lt1"/>
          </a:fillRef>
          <a:effectRef idx="0">
            <a:schemeClr val="dk1"/>
          </a:effectRef>
          <a:fontRef idx="minor">
            <a:schemeClr val="dk1"/>
          </a:fontRef>
        </p:style>
        <p:txBody>
          <a:bodyPr>
            <a:normAutofit fontScale="90000"/>
          </a:bodyPr>
          <a:lstStyle/>
          <a:p>
            <a:pPr algn="ctr"/>
            <a:br>
              <a:rPr lang="en-US" i="1" dirty="0"/>
            </a:br>
            <a:r>
              <a:rPr lang="en-US" i="1" dirty="0"/>
              <a:t>What is a Probability Distribution?</a:t>
            </a:r>
            <a:br>
              <a:rPr lang="en-US" i="1" dirty="0"/>
            </a:br>
            <a:endParaRPr lang="en-US" i="1" dirty="0"/>
          </a:p>
        </p:txBody>
      </p:sp>
      <p:sp>
        <p:nvSpPr>
          <p:cNvPr id="3" name="Content Placeholder 2">
            <a:extLst>
              <a:ext uri="{FF2B5EF4-FFF2-40B4-BE49-F238E27FC236}">
                <a16:creationId xmlns:a16="http://schemas.microsoft.com/office/drawing/2014/main" id="{00E8576D-75D3-AEC3-9BBD-9ADE3B98305F}"/>
              </a:ext>
            </a:extLst>
          </p:cNvPr>
          <p:cNvSpPr>
            <a:spLocks noGrp="1"/>
          </p:cNvSpPr>
          <p:nvPr>
            <p:ph idx="1"/>
          </p:nvPr>
        </p:nvSpPr>
        <p:spPr>
          <a:xfrm>
            <a:off x="838200" y="1253331"/>
            <a:ext cx="10515600" cy="5165224"/>
          </a:xfrm>
        </p:spPr>
        <p:txBody>
          <a:bodyPr/>
          <a:lstStyle/>
          <a:p>
            <a:r>
              <a:rPr lang="en-US" dirty="0"/>
              <a:t>Probability Distribution = The mathematical function that gives the probabilities of occurrence of different possible outcomes for an experiment [1].</a:t>
            </a:r>
          </a:p>
          <a:p>
            <a:r>
              <a:rPr lang="en-US" dirty="0"/>
              <a:t>In this course we’ll only discuss discrete random variables (i.e. the random variable has a finite number of possible values). </a:t>
            </a:r>
          </a:p>
          <a:p>
            <a:endParaRPr lang="en-US" dirty="0"/>
          </a:p>
          <a:p>
            <a:endParaRPr lang="en-US" dirty="0"/>
          </a:p>
          <a:p>
            <a:endParaRPr lang="en-US" dirty="0"/>
          </a:p>
          <a:p>
            <a:endParaRPr lang="en-US" dirty="0"/>
          </a:p>
        </p:txBody>
      </p:sp>
      <p:sp>
        <p:nvSpPr>
          <p:cNvPr id="5" name="TextBox 4">
            <a:extLst>
              <a:ext uri="{FF2B5EF4-FFF2-40B4-BE49-F238E27FC236}">
                <a16:creationId xmlns:a16="http://schemas.microsoft.com/office/drawing/2014/main" id="{D80D8BE8-283D-96CF-9DE4-6194F432835D}"/>
              </a:ext>
            </a:extLst>
          </p:cNvPr>
          <p:cNvSpPr txBox="1"/>
          <p:nvPr/>
        </p:nvSpPr>
        <p:spPr>
          <a:xfrm>
            <a:off x="541538" y="6581001"/>
            <a:ext cx="11585359" cy="276999"/>
          </a:xfrm>
          <a:prstGeom prst="rect">
            <a:avLst/>
          </a:prstGeom>
          <a:noFill/>
        </p:spPr>
        <p:txBody>
          <a:bodyPr wrap="square">
            <a:spAutoFit/>
          </a:bodyPr>
          <a:lstStyle/>
          <a:p>
            <a:pPr algn="ctr"/>
            <a:r>
              <a:rPr lang="en-US" sz="1200" dirty="0"/>
              <a:t>[1] Everitt, Brian (2006). The Cambridge dictionary of statistics (3rd ed.). Cambridge, UK: Cambridge University Press. ISBN 978-0-511-24688-3. OCLC 161828328</a:t>
            </a:r>
          </a:p>
        </p:txBody>
      </p:sp>
      <p:pic>
        <p:nvPicPr>
          <p:cNvPr id="7" name="Picture 6">
            <a:extLst>
              <a:ext uri="{FF2B5EF4-FFF2-40B4-BE49-F238E27FC236}">
                <a16:creationId xmlns:a16="http://schemas.microsoft.com/office/drawing/2014/main" id="{591F709B-C39B-0BD3-7C5A-C254B9AAD267}"/>
              </a:ext>
            </a:extLst>
          </p:cNvPr>
          <p:cNvPicPr>
            <a:picLocks noChangeAspect="1"/>
          </p:cNvPicPr>
          <p:nvPr/>
        </p:nvPicPr>
        <p:blipFill>
          <a:blip r:embed="rId2"/>
          <a:stretch>
            <a:fillRect/>
          </a:stretch>
        </p:blipFill>
        <p:spPr>
          <a:xfrm>
            <a:off x="2466975" y="3539656"/>
            <a:ext cx="7258050" cy="1828800"/>
          </a:xfrm>
          <a:prstGeom prst="rect">
            <a:avLst/>
          </a:prstGeom>
          <a:ln>
            <a:solidFill>
              <a:schemeClr val="tx1"/>
            </a:solidFill>
          </a:ln>
        </p:spPr>
      </p:pic>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DBFC4610-C233-654E-CD61-05ED7A01B395}"/>
                  </a:ext>
                </a:extLst>
              </p:cNvPr>
              <p:cNvSpPr txBox="1">
                <a:spLocks/>
              </p:cNvSpPr>
              <p:nvPr/>
            </p:nvSpPr>
            <p:spPr>
              <a:xfrm>
                <a:off x="697637" y="5530902"/>
                <a:ext cx="10515600" cy="814966"/>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is the probability X=0? What is the probability </a:t>
                </a:r>
                <a14:m>
                  <m:oMath xmlns:m="http://schemas.openxmlformats.org/officeDocument/2006/math">
                    <m:r>
                      <a:rPr lang="en-US" b="0" i="1" smtClean="0">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 </a:t>
                </a:r>
              </a:p>
              <a:p>
                <a:endParaRPr lang="en-US" dirty="0"/>
              </a:p>
              <a:p>
                <a:endParaRPr lang="en-US" dirty="0"/>
              </a:p>
              <a:p>
                <a:endParaRPr lang="en-US" dirty="0"/>
              </a:p>
              <a:p>
                <a:endParaRPr lang="en-US" dirty="0"/>
              </a:p>
            </p:txBody>
          </p:sp>
        </mc:Choice>
        <mc:Fallback>
          <p:sp>
            <p:nvSpPr>
              <p:cNvPr id="8" name="Content Placeholder 2">
                <a:extLst>
                  <a:ext uri="{FF2B5EF4-FFF2-40B4-BE49-F238E27FC236}">
                    <a16:creationId xmlns:a16="http://schemas.microsoft.com/office/drawing/2014/main" id="{DBFC4610-C233-654E-CD61-05ED7A01B395}"/>
                  </a:ext>
                </a:extLst>
              </p:cNvPr>
              <p:cNvSpPr txBox="1">
                <a:spLocks noRot="1" noChangeAspect="1" noMove="1" noResize="1" noEditPoints="1" noAdjustHandles="1" noChangeArrowheads="1" noChangeShapeType="1" noTextEdit="1"/>
              </p:cNvSpPr>
              <p:nvPr/>
            </p:nvSpPr>
            <p:spPr>
              <a:xfrm>
                <a:off x="697637" y="5530902"/>
                <a:ext cx="10515600" cy="814966"/>
              </a:xfrm>
              <a:prstGeom prst="rect">
                <a:avLst/>
              </a:prstGeom>
              <a:blipFill>
                <a:blip r:embed="rId3"/>
                <a:stretch>
                  <a:fillRect t="-11029"/>
                </a:stretch>
              </a:blipFill>
            </p:spPr>
            <p:txBody>
              <a:bodyPr/>
              <a:lstStyle/>
              <a:p>
                <a:r>
                  <a:rPr lang="en-US">
                    <a:noFill/>
                  </a:rPr>
                  <a:t> </a:t>
                </a:r>
              </a:p>
            </p:txBody>
          </p:sp>
        </mc:Fallback>
      </mc:AlternateContent>
    </p:spTree>
    <p:extLst>
      <p:ext uri="{BB962C8B-B14F-4D97-AF65-F5344CB8AC3E}">
        <p14:creationId xmlns:p14="http://schemas.microsoft.com/office/powerpoint/2010/main" val="2666409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4B06-4E98-95E1-4BBE-25311CBD6146}"/>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Probability Distribution Example</a:t>
            </a:r>
          </a:p>
        </p:txBody>
      </p:sp>
      <p:pic>
        <p:nvPicPr>
          <p:cNvPr id="3" name="Picture 2">
            <a:extLst>
              <a:ext uri="{FF2B5EF4-FFF2-40B4-BE49-F238E27FC236}">
                <a16:creationId xmlns:a16="http://schemas.microsoft.com/office/drawing/2014/main" id="{BF55D92A-A6B4-3D64-E4F9-A289C986CCCD}"/>
              </a:ext>
            </a:extLst>
          </p:cNvPr>
          <p:cNvPicPr>
            <a:picLocks noChangeAspect="1"/>
          </p:cNvPicPr>
          <p:nvPr/>
        </p:nvPicPr>
        <p:blipFill>
          <a:blip r:embed="rId2"/>
          <a:stretch>
            <a:fillRect/>
          </a:stretch>
        </p:blipFill>
        <p:spPr>
          <a:xfrm>
            <a:off x="2529119" y="2514600"/>
            <a:ext cx="7258050" cy="1828800"/>
          </a:xfrm>
          <a:prstGeom prst="rect">
            <a:avLst/>
          </a:prstGeom>
          <a:ln>
            <a:solidFill>
              <a:schemeClr val="tx1"/>
            </a:solidFill>
          </a:ln>
        </p:spPr>
      </p:pic>
      <p:sp>
        <p:nvSpPr>
          <p:cNvPr id="4" name="Content Placeholder 2">
            <a:extLst>
              <a:ext uri="{FF2B5EF4-FFF2-40B4-BE49-F238E27FC236}">
                <a16:creationId xmlns:a16="http://schemas.microsoft.com/office/drawing/2014/main" id="{D56DA996-EC3A-1A80-F43E-2DDFD42C2A93}"/>
              </a:ext>
            </a:extLst>
          </p:cNvPr>
          <p:cNvSpPr txBox="1">
            <a:spLocks/>
          </p:cNvSpPr>
          <p:nvPr/>
        </p:nvSpPr>
        <p:spPr>
          <a:xfrm>
            <a:off x="900344" y="4541121"/>
            <a:ext cx="10515600" cy="1092076"/>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is the probability X=0?</a:t>
            </a:r>
          </a:p>
          <a:p>
            <a:pPr marL="0" indent="0" algn="ctr">
              <a:buNone/>
            </a:pPr>
            <a:r>
              <a:rPr lang="en-US" dirty="0"/>
              <a:t>Hint: We need to use the </a:t>
            </a:r>
            <a:r>
              <a:rPr lang="en-US" dirty="0" err="1"/>
              <a:t>pmf</a:t>
            </a:r>
            <a:r>
              <a:rPr lang="en-US" dirty="0"/>
              <a:t> </a:t>
            </a:r>
          </a:p>
          <a:p>
            <a:endParaRPr lang="en-US" dirty="0"/>
          </a:p>
          <a:p>
            <a:endParaRPr lang="en-US" dirty="0"/>
          </a:p>
          <a:p>
            <a:endParaRPr lang="en-US" dirty="0"/>
          </a:p>
          <a:p>
            <a:endParaRPr lang="en-US" dirty="0"/>
          </a:p>
        </p:txBody>
      </p:sp>
      <p:sp>
        <p:nvSpPr>
          <p:cNvPr id="5" name="Rectangle 4">
            <a:extLst>
              <a:ext uri="{FF2B5EF4-FFF2-40B4-BE49-F238E27FC236}">
                <a16:creationId xmlns:a16="http://schemas.microsoft.com/office/drawing/2014/main" id="{491BB1F2-EDA5-41E4-5254-8D11F32243F4}"/>
              </a:ext>
            </a:extLst>
          </p:cNvPr>
          <p:cNvSpPr/>
          <p:nvPr/>
        </p:nvSpPr>
        <p:spPr>
          <a:xfrm>
            <a:off x="8158394" y="3120816"/>
            <a:ext cx="754787" cy="75460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6954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E4B06-4E98-95E1-4BBE-25311CBD6146}"/>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Probability Distribution Example</a:t>
            </a:r>
          </a:p>
        </p:txBody>
      </p:sp>
      <p:pic>
        <p:nvPicPr>
          <p:cNvPr id="3" name="Picture 2">
            <a:extLst>
              <a:ext uri="{FF2B5EF4-FFF2-40B4-BE49-F238E27FC236}">
                <a16:creationId xmlns:a16="http://schemas.microsoft.com/office/drawing/2014/main" id="{BF55D92A-A6B4-3D64-E4F9-A289C986CCCD}"/>
              </a:ext>
            </a:extLst>
          </p:cNvPr>
          <p:cNvPicPr>
            <a:picLocks noChangeAspect="1"/>
          </p:cNvPicPr>
          <p:nvPr/>
        </p:nvPicPr>
        <p:blipFill>
          <a:blip r:embed="rId2"/>
          <a:stretch>
            <a:fillRect/>
          </a:stretch>
        </p:blipFill>
        <p:spPr>
          <a:xfrm>
            <a:off x="2466975" y="2589745"/>
            <a:ext cx="7258050" cy="1828800"/>
          </a:xfrm>
          <a:prstGeom prst="rect">
            <a:avLst/>
          </a:prstGeom>
          <a:ln>
            <a:solidFill>
              <a:schemeClr val="tx1"/>
            </a:solidFill>
          </a:ln>
        </p:spPr>
      </p:pic>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D56DA996-EC3A-1A80-F43E-2DDFD42C2A93}"/>
                  </a:ext>
                </a:extLst>
              </p:cNvPr>
              <p:cNvSpPr txBox="1">
                <a:spLocks/>
              </p:cNvSpPr>
              <p:nvPr/>
            </p:nvSpPr>
            <p:spPr>
              <a:xfrm>
                <a:off x="838200" y="4616266"/>
                <a:ext cx="10515600" cy="1092076"/>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dirty="0"/>
                  <a:t>What is the probability </a:t>
                </a:r>
                <a14:m>
                  <m:oMath xmlns:m="http://schemas.openxmlformats.org/officeDocument/2006/math">
                    <m:r>
                      <a:rPr lang="en-US" b="0" i="1" smtClean="0">
                        <a:latin typeface="Cambria Math" panose="02040503050406030204" pitchFamily="18" charset="0"/>
                      </a:rPr>
                      <m:t>𝑋</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0</m:t>
                    </m:r>
                  </m:oMath>
                </a14:m>
                <a:r>
                  <a:rPr lang="en-US" dirty="0"/>
                  <a:t>?</a:t>
                </a:r>
              </a:p>
              <a:p>
                <a:pPr marL="0" indent="0" algn="ctr">
                  <a:buNone/>
                </a:pPr>
                <a:r>
                  <a:rPr lang="en-US" dirty="0"/>
                  <a:t>Hint: We need to use the </a:t>
                </a:r>
                <a:r>
                  <a:rPr lang="en-US" dirty="0" err="1"/>
                  <a:t>cdf</a:t>
                </a:r>
                <a:r>
                  <a:rPr lang="en-US" dirty="0"/>
                  <a:t> </a:t>
                </a:r>
              </a:p>
              <a:p>
                <a:endParaRPr lang="en-US" dirty="0"/>
              </a:p>
              <a:p>
                <a:endParaRPr lang="en-US" dirty="0"/>
              </a:p>
              <a:p>
                <a:endParaRPr lang="en-US" dirty="0"/>
              </a:p>
              <a:p>
                <a:endParaRPr lang="en-US" dirty="0"/>
              </a:p>
            </p:txBody>
          </p:sp>
        </mc:Choice>
        <mc:Fallback>
          <p:sp>
            <p:nvSpPr>
              <p:cNvPr id="4" name="Content Placeholder 2">
                <a:extLst>
                  <a:ext uri="{FF2B5EF4-FFF2-40B4-BE49-F238E27FC236}">
                    <a16:creationId xmlns:a16="http://schemas.microsoft.com/office/drawing/2014/main" id="{D56DA996-EC3A-1A80-F43E-2DDFD42C2A93}"/>
                  </a:ext>
                </a:extLst>
              </p:cNvPr>
              <p:cNvSpPr txBox="1">
                <a:spLocks noRot="1" noChangeAspect="1" noMove="1" noResize="1" noEditPoints="1" noAdjustHandles="1" noChangeArrowheads="1" noChangeShapeType="1" noTextEdit="1"/>
              </p:cNvSpPr>
              <p:nvPr/>
            </p:nvSpPr>
            <p:spPr>
              <a:xfrm>
                <a:off x="838200" y="4616266"/>
                <a:ext cx="10515600" cy="1092076"/>
              </a:xfrm>
              <a:prstGeom prst="rect">
                <a:avLst/>
              </a:prstGeom>
              <a:blipFill>
                <a:blip r:embed="rId3"/>
                <a:stretch>
                  <a:fillRect t="-8287" b="-5525"/>
                </a:stretch>
              </a:blipFill>
            </p:spPr>
            <p:txBody>
              <a:bodyPr/>
              <a:lstStyle/>
              <a:p>
                <a:r>
                  <a:rPr lang="en-US">
                    <a:noFill/>
                  </a:rPr>
                  <a:t> </a:t>
                </a:r>
              </a:p>
            </p:txBody>
          </p:sp>
        </mc:Fallback>
      </mc:AlternateContent>
      <p:sp>
        <p:nvSpPr>
          <p:cNvPr id="5" name="Rectangle 4">
            <a:extLst>
              <a:ext uri="{FF2B5EF4-FFF2-40B4-BE49-F238E27FC236}">
                <a16:creationId xmlns:a16="http://schemas.microsoft.com/office/drawing/2014/main" id="{491BB1F2-EDA5-41E4-5254-8D11F32243F4}"/>
              </a:ext>
            </a:extLst>
          </p:cNvPr>
          <p:cNvSpPr/>
          <p:nvPr/>
        </p:nvSpPr>
        <p:spPr>
          <a:xfrm>
            <a:off x="8149516" y="3950563"/>
            <a:ext cx="692643" cy="3639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7258E01D-7F78-9266-25D3-E71767512F85}"/>
              </a:ext>
            </a:extLst>
          </p:cNvPr>
          <p:cNvSpPr/>
          <p:nvPr/>
        </p:nvSpPr>
        <p:spPr>
          <a:xfrm>
            <a:off x="8149515" y="3215196"/>
            <a:ext cx="692643" cy="363985"/>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0687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EEABA6-7B3E-EC93-86F9-C4DA994AEA52}"/>
              </a:ext>
            </a:extLst>
          </p:cNvPr>
          <p:cNvSpPr>
            <a:spLocks noGrp="1"/>
          </p:cNvSpPr>
          <p:nvPr>
            <p:ph type="title"/>
          </p:nvPr>
        </p:nvSpPr>
        <p:spPr>
          <a:xfrm>
            <a:off x="838200" y="302982"/>
            <a:ext cx="10515600" cy="1325563"/>
          </a:xfrm>
        </p:spPr>
        <p:style>
          <a:lnRef idx="2">
            <a:schemeClr val="dk1"/>
          </a:lnRef>
          <a:fillRef idx="1">
            <a:schemeClr val="lt1"/>
          </a:fillRef>
          <a:effectRef idx="0">
            <a:schemeClr val="dk1"/>
          </a:effectRef>
          <a:fontRef idx="minor">
            <a:schemeClr val="dk1"/>
          </a:fontRef>
        </p:style>
        <p:txBody>
          <a:bodyPr/>
          <a:lstStyle/>
          <a:p>
            <a:pPr algn="ctr"/>
            <a:r>
              <a:rPr lang="en-US" i="1" dirty="0"/>
              <a:t>Why do we need probability distributions?</a:t>
            </a:r>
            <a:endParaRPr lang="en-US" dirty="0"/>
          </a:p>
        </p:txBody>
      </p:sp>
      <p:sp>
        <p:nvSpPr>
          <p:cNvPr id="3" name="Content Placeholder 2">
            <a:extLst>
              <a:ext uri="{FF2B5EF4-FFF2-40B4-BE49-F238E27FC236}">
                <a16:creationId xmlns:a16="http://schemas.microsoft.com/office/drawing/2014/main" id="{993A8E44-FBC1-1768-4EE6-24468DEE001E}"/>
              </a:ext>
            </a:extLst>
          </p:cNvPr>
          <p:cNvSpPr>
            <a:spLocks noGrp="1"/>
          </p:cNvSpPr>
          <p:nvPr>
            <p:ph idx="1"/>
          </p:nvPr>
        </p:nvSpPr>
        <p:spPr>
          <a:xfrm>
            <a:off x="4873735" y="1763480"/>
            <a:ext cx="7093363" cy="5032376"/>
          </a:xfrm>
        </p:spPr>
        <p:style>
          <a:lnRef idx="2">
            <a:schemeClr val="accent6"/>
          </a:lnRef>
          <a:fillRef idx="1">
            <a:schemeClr val="lt1"/>
          </a:fillRef>
          <a:effectRef idx="0">
            <a:schemeClr val="accent6"/>
          </a:effectRef>
          <a:fontRef idx="minor">
            <a:schemeClr val="dk1"/>
          </a:fontRef>
        </p:style>
        <p:txBody>
          <a:bodyPr>
            <a:normAutofit lnSpcReduction="10000"/>
          </a:bodyPr>
          <a:lstStyle/>
          <a:p>
            <a:pPr marL="0" indent="0">
              <a:buNone/>
            </a:pPr>
            <a:r>
              <a:rPr lang="en-US" dirty="0"/>
              <a:t>“On August 18, 1913, at the casino in Monte Carlo, black came up a record twenty-six times in succession [in roulette]. </a:t>
            </a:r>
          </a:p>
          <a:p>
            <a:pPr marL="0" indent="0">
              <a:buNone/>
            </a:pPr>
            <a:r>
              <a:rPr lang="en-US" dirty="0"/>
              <a:t>[There] was a near-panicky rush to bet on red, beginning about the time black had come up a phenomenal fifteen times. </a:t>
            </a:r>
          </a:p>
          <a:p>
            <a:pPr marL="0" indent="0">
              <a:buNone/>
            </a:pPr>
            <a:r>
              <a:rPr lang="en-US" dirty="0"/>
              <a:t>In application of the maturity [of the chances] doctrine, players doubled and tripled their stakes, this doctrine leading them to believe after black came up the twentieth time that there was not a chance in a million of another repeat. In the end the unusual run enriched the Casino by some millions of francs.”</a:t>
            </a:r>
          </a:p>
        </p:txBody>
      </p:sp>
      <p:pic>
        <p:nvPicPr>
          <p:cNvPr id="3074" name="Picture 2" descr="Casino de Monte-Carlo introduces digital roulette">
            <a:extLst>
              <a:ext uri="{FF2B5EF4-FFF2-40B4-BE49-F238E27FC236}">
                <a16:creationId xmlns:a16="http://schemas.microsoft.com/office/drawing/2014/main" id="{660A88A8-E971-22AF-D209-879848FB3C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4902" y="2487956"/>
            <a:ext cx="4422825" cy="294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0008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13111E8-9310-F156-AED1-726F5D22C050}"/>
              </a:ext>
            </a:extLst>
          </p:cNvPr>
          <p:cNvPicPr>
            <a:picLocks noChangeAspect="1"/>
          </p:cNvPicPr>
          <p:nvPr/>
        </p:nvPicPr>
        <p:blipFill rotWithShape="1">
          <a:blip r:embed="rId2"/>
          <a:srcRect b="50000"/>
          <a:stretch/>
        </p:blipFill>
        <p:spPr>
          <a:xfrm>
            <a:off x="180928" y="681037"/>
            <a:ext cx="7781925" cy="2747963"/>
          </a:xfrm>
          <a:prstGeom prst="rect">
            <a:avLst/>
          </a:prstGeom>
          <a:ln>
            <a:solidFill>
              <a:schemeClr val="tx1"/>
            </a:solidFill>
          </a:ln>
        </p:spPr>
      </p:pic>
      <p:pic>
        <p:nvPicPr>
          <p:cNvPr id="5" name="Picture 4">
            <a:extLst>
              <a:ext uri="{FF2B5EF4-FFF2-40B4-BE49-F238E27FC236}">
                <a16:creationId xmlns:a16="http://schemas.microsoft.com/office/drawing/2014/main" id="{AEE2E8A2-867C-0811-FDA8-D30B4FA5A5F2}"/>
              </a:ext>
            </a:extLst>
          </p:cNvPr>
          <p:cNvPicPr>
            <a:picLocks noChangeAspect="1"/>
          </p:cNvPicPr>
          <p:nvPr/>
        </p:nvPicPr>
        <p:blipFill rotWithShape="1">
          <a:blip r:embed="rId2"/>
          <a:srcRect t="57067"/>
          <a:stretch/>
        </p:blipFill>
        <p:spPr>
          <a:xfrm>
            <a:off x="106532" y="3817398"/>
            <a:ext cx="7781925" cy="2359565"/>
          </a:xfrm>
          <a:prstGeom prst="rect">
            <a:avLst/>
          </a:prstGeom>
          <a:ln>
            <a:solidFill>
              <a:schemeClr val="tx1"/>
            </a:solidFill>
          </a:ln>
        </p:spPr>
      </p:pic>
      <p:sp>
        <p:nvSpPr>
          <p:cNvPr id="6" name="Right Brace 5">
            <a:extLst>
              <a:ext uri="{FF2B5EF4-FFF2-40B4-BE49-F238E27FC236}">
                <a16:creationId xmlns:a16="http://schemas.microsoft.com/office/drawing/2014/main" id="{C2BAA49D-1BC6-756B-DB3C-0014E73479C4}"/>
              </a:ext>
            </a:extLst>
          </p:cNvPr>
          <p:cNvSpPr/>
          <p:nvPr/>
        </p:nvSpPr>
        <p:spPr>
          <a:xfrm>
            <a:off x="7341833" y="1198485"/>
            <a:ext cx="701336" cy="2230515"/>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 name="TextBox 6">
            <a:extLst>
              <a:ext uri="{FF2B5EF4-FFF2-40B4-BE49-F238E27FC236}">
                <a16:creationId xmlns:a16="http://schemas.microsoft.com/office/drawing/2014/main" id="{A2A6BEBA-AE2C-17B0-DAB4-C9D790BBD9C7}"/>
              </a:ext>
            </a:extLst>
          </p:cNvPr>
          <p:cNvSpPr txBox="1"/>
          <p:nvPr/>
        </p:nvSpPr>
        <p:spPr>
          <a:xfrm>
            <a:off x="8229599" y="1642370"/>
            <a:ext cx="3648723"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Want to model some event where there are two possible outcomes. E.g. Flipping a coin.</a:t>
            </a:r>
          </a:p>
        </p:txBody>
      </p:sp>
      <p:sp>
        <p:nvSpPr>
          <p:cNvPr id="8" name="Right Brace 7">
            <a:extLst>
              <a:ext uri="{FF2B5EF4-FFF2-40B4-BE49-F238E27FC236}">
                <a16:creationId xmlns:a16="http://schemas.microsoft.com/office/drawing/2014/main" id="{096500A8-22D0-50D1-02AD-23F47E8DD1A7}"/>
              </a:ext>
            </a:extLst>
          </p:cNvPr>
          <p:cNvSpPr/>
          <p:nvPr/>
        </p:nvSpPr>
        <p:spPr>
          <a:xfrm>
            <a:off x="7341833" y="3946448"/>
            <a:ext cx="701336" cy="1162976"/>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B6CF13F7-A170-C1BD-ED10-D065013FE4C6}"/>
              </a:ext>
            </a:extLst>
          </p:cNvPr>
          <p:cNvSpPr txBox="1"/>
          <p:nvPr/>
        </p:nvSpPr>
        <p:spPr>
          <a:xfrm>
            <a:off x="8043169" y="3760860"/>
            <a:ext cx="4039340" cy="1569660"/>
          </a:xfrm>
          <a:prstGeom prst="rect">
            <a:avLst/>
          </a:prstGeom>
        </p:spPr>
        <p:style>
          <a:lnRef idx="2">
            <a:schemeClr val="dk1"/>
          </a:lnRef>
          <a:fillRef idx="1">
            <a:schemeClr val="lt1"/>
          </a:fillRef>
          <a:effectRef idx="0">
            <a:schemeClr val="dk1"/>
          </a:effectRef>
          <a:fontRef idx="minor">
            <a:schemeClr val="dk1"/>
          </a:fontRef>
        </p:style>
        <p:txBody>
          <a:bodyPr wrap="square" rtlCol="0">
            <a:spAutoFit/>
          </a:bodyPr>
          <a:lstStyle/>
          <a:p>
            <a:pPr algn="ctr"/>
            <a:r>
              <a:rPr lang="en-US" sz="2400" dirty="0"/>
              <a:t>Want to model multiple events where each time there are two possible outcomes. E.g. Flipping a coin multiple times.</a:t>
            </a:r>
          </a:p>
        </p:txBody>
      </p:sp>
    </p:spTree>
    <p:extLst>
      <p:ext uri="{BB962C8B-B14F-4D97-AF65-F5344CB8AC3E}">
        <p14:creationId xmlns:p14="http://schemas.microsoft.com/office/powerpoint/2010/main" val="4063197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618DA-9DB5-73FD-203C-CB510C92475C}"/>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pPr algn="ctr"/>
            <a:r>
              <a:rPr lang="en-US" dirty="0"/>
              <a:t>PMF of the Bernoulli Distribution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708A11C-0CC3-764E-10FE-74409E504449}"/>
                  </a:ext>
                </a:extLst>
              </p:cNvPr>
              <p:cNvSpPr>
                <a:spLocks noGrp="1"/>
              </p:cNvSpPr>
              <p:nvPr>
                <p:ph idx="1"/>
              </p:nvPr>
            </p:nvSpPr>
            <p:spPr/>
            <p:style>
              <a:lnRef idx="2">
                <a:schemeClr val="accent1"/>
              </a:lnRef>
              <a:fillRef idx="1">
                <a:schemeClr val="lt1"/>
              </a:fillRef>
              <a:effectRef idx="0">
                <a:schemeClr val="accent1"/>
              </a:effectRef>
              <a:fontRef idx="minor">
                <a:schemeClr val="dk1"/>
              </a:fontRef>
            </p:style>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𝑓</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𝑘</m:t>
                          </m:r>
                        </m:e>
                      </m:d>
                      <m:r>
                        <a:rPr lang="en-US" sz="4400" b="0" i="1" smtClean="0">
                          <a:latin typeface="Cambria Math" panose="02040503050406030204" pitchFamily="18" charset="0"/>
                        </a:rPr>
                        <m:t>=</m:t>
                      </m:r>
                      <m:m>
                        <m:mPr>
                          <m:mcs>
                            <m:mc>
                              <m:mcPr>
                                <m:count m:val="1"/>
                                <m:mcJc m:val="center"/>
                              </m:mcPr>
                            </m:mc>
                          </m:mcs>
                          <m:ctrlPr>
                            <a:rPr lang="en-US" sz="4400" b="0" i="1" smtClean="0">
                              <a:latin typeface="Cambria Math" panose="02040503050406030204" pitchFamily="18" charset="0"/>
                            </a:rPr>
                          </m:ctrlPr>
                        </m:mPr>
                        <m:mr>
                          <m:e>
                            <m:r>
                              <m:rPr>
                                <m:brk m:alnAt="7"/>
                              </m:rPr>
                              <a:rPr lang="en-US" sz="4400" b="0" i="1" smtClean="0">
                                <a:latin typeface="Cambria Math" panose="02040503050406030204" pitchFamily="18" charset="0"/>
                              </a:rPr>
                              <m:t>𝑝</m:t>
                            </m:r>
                            <m:r>
                              <a:rPr lang="en-US" sz="4400" b="0" i="1" smtClean="0">
                                <a:latin typeface="Cambria Math" panose="02040503050406030204" pitchFamily="18" charset="0"/>
                              </a:rPr>
                              <m:t> </m:t>
                            </m:r>
                            <m:r>
                              <a:rPr lang="en-US" sz="4400" b="0" i="1" smtClean="0">
                                <a:latin typeface="Cambria Math" panose="02040503050406030204" pitchFamily="18" charset="0"/>
                              </a:rPr>
                              <m:t>𝑖𝑓</m:t>
                            </m:r>
                            <m:r>
                              <a:rPr lang="en-US" sz="4400" b="0" i="1" smtClean="0">
                                <a:latin typeface="Cambria Math" panose="02040503050406030204" pitchFamily="18" charset="0"/>
                              </a:rPr>
                              <m:t> </m:t>
                            </m:r>
                            <m:r>
                              <a:rPr lang="en-US" sz="4400" b="0" i="1" smtClean="0">
                                <a:latin typeface="Cambria Math" panose="02040503050406030204" pitchFamily="18" charset="0"/>
                              </a:rPr>
                              <m:t>𝑘</m:t>
                            </m:r>
                            <m:r>
                              <a:rPr lang="en-US" sz="4400" b="0" i="1" smtClean="0">
                                <a:latin typeface="Cambria Math" panose="02040503050406030204" pitchFamily="18" charset="0"/>
                              </a:rPr>
                              <m:t>=1</m:t>
                            </m:r>
                          </m:e>
                        </m:mr>
                        <m:mr>
                          <m:e>
                            <m:r>
                              <a:rPr lang="en-US" sz="4400" b="0" i="1" smtClean="0">
                                <a:latin typeface="Cambria Math" panose="02040503050406030204" pitchFamily="18" charset="0"/>
                              </a:rPr>
                              <m:t>1−</m:t>
                            </m:r>
                            <m:r>
                              <a:rPr lang="en-US" sz="4400" b="0" i="1" smtClean="0">
                                <a:latin typeface="Cambria Math" panose="02040503050406030204" pitchFamily="18" charset="0"/>
                              </a:rPr>
                              <m:t>𝑝</m:t>
                            </m:r>
                            <m:r>
                              <a:rPr lang="en-US" sz="4400" b="0" i="1" smtClean="0">
                                <a:latin typeface="Cambria Math" panose="02040503050406030204" pitchFamily="18" charset="0"/>
                              </a:rPr>
                              <m:t> </m:t>
                            </m:r>
                            <m:r>
                              <a:rPr lang="en-US" sz="4400" b="0" i="1" smtClean="0">
                                <a:latin typeface="Cambria Math" panose="02040503050406030204" pitchFamily="18" charset="0"/>
                              </a:rPr>
                              <m:t>𝑖𝑓</m:t>
                            </m:r>
                            <m:r>
                              <a:rPr lang="en-US" sz="4400" b="0" i="1" smtClean="0">
                                <a:latin typeface="Cambria Math" panose="02040503050406030204" pitchFamily="18" charset="0"/>
                              </a:rPr>
                              <m:t> </m:t>
                            </m:r>
                            <m:r>
                              <a:rPr lang="en-US" sz="4400" b="0" i="1" smtClean="0">
                                <a:latin typeface="Cambria Math" panose="02040503050406030204" pitchFamily="18" charset="0"/>
                              </a:rPr>
                              <m:t>𝑘</m:t>
                            </m:r>
                            <m:r>
                              <a:rPr lang="en-US" sz="4400" b="0" i="1" smtClean="0">
                                <a:latin typeface="Cambria Math" panose="02040503050406030204" pitchFamily="18" charset="0"/>
                              </a:rPr>
                              <m:t>=0</m:t>
                            </m:r>
                          </m:e>
                        </m:mr>
                      </m:m>
                    </m:oMath>
                  </m:oMathPara>
                </a14:m>
                <a:endParaRPr lang="en-US" sz="4400" dirty="0"/>
              </a:p>
              <a:p>
                <a:pPr marL="0" indent="0">
                  <a:buNone/>
                </a:pPr>
                <a:endParaRPr lang="en-US" sz="4400" dirty="0"/>
              </a:p>
              <a:p>
                <a:r>
                  <a:rPr lang="en-US" sz="4400" dirty="0"/>
                  <a:t>Recall the Bernoulli distribution represents flipping a coin once. What happens if we want to talk about multiple flips?</a:t>
                </a:r>
                <a:endParaRPr lang="en-US" sz="4000" dirty="0"/>
              </a:p>
            </p:txBody>
          </p:sp>
        </mc:Choice>
        <mc:Fallback>
          <p:sp>
            <p:nvSpPr>
              <p:cNvPr id="3" name="Content Placeholder 2">
                <a:extLst>
                  <a:ext uri="{FF2B5EF4-FFF2-40B4-BE49-F238E27FC236}">
                    <a16:creationId xmlns:a16="http://schemas.microsoft.com/office/drawing/2014/main" id="{F708A11C-0CC3-764E-10FE-74409E504449}"/>
                  </a:ext>
                </a:extLst>
              </p:cNvPr>
              <p:cNvSpPr>
                <a:spLocks noGrp="1" noRot="1" noChangeAspect="1" noMove="1" noResize="1" noEditPoints="1" noAdjustHandles="1" noChangeArrowheads="1" noChangeShapeType="1" noTextEdit="1"/>
              </p:cNvSpPr>
              <p:nvPr>
                <p:ph idx="1"/>
              </p:nvPr>
            </p:nvSpPr>
            <p:spPr>
              <a:blipFill>
                <a:blip r:embed="rId2"/>
                <a:stretch>
                  <a:fillRect l="-2085"/>
                </a:stretch>
              </a:blipFill>
            </p:spPr>
            <p:txBody>
              <a:bodyPr/>
              <a:lstStyle/>
              <a:p>
                <a:r>
                  <a:rPr lang="en-US">
                    <a:noFill/>
                  </a:rPr>
                  <a:t> </a:t>
                </a:r>
              </a:p>
            </p:txBody>
          </p:sp>
        </mc:Fallback>
      </mc:AlternateContent>
    </p:spTree>
    <p:extLst>
      <p:ext uri="{BB962C8B-B14F-4D97-AF65-F5344CB8AC3E}">
        <p14:creationId xmlns:p14="http://schemas.microsoft.com/office/powerpoint/2010/main" val="22735302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B8CB-70C2-1C56-BCFF-17591E7A8AAF}"/>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Bernoulli Distribution to Binomial</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F19C296-AB79-0522-7F29-600FF79DB681}"/>
                  </a:ext>
                </a:extLst>
              </p:cNvPr>
              <p:cNvSpPr>
                <a:spLocks noGrp="1"/>
              </p:cNvSpPr>
              <p:nvPr>
                <p:ph idx="1"/>
              </p:nvPr>
            </p:nvSpPr>
            <p:spPr>
              <a:xfrm>
                <a:off x="838200" y="1825625"/>
                <a:ext cx="10515600" cy="1840853"/>
              </a:xfrm>
            </p:spPr>
            <p:style>
              <a:lnRef idx="2">
                <a:schemeClr val="dk1"/>
              </a:lnRef>
              <a:fillRef idx="1">
                <a:schemeClr val="lt1"/>
              </a:fillRef>
              <a:effectRef idx="0">
                <a:schemeClr val="dk1"/>
              </a:effectRef>
              <a:fontRef idx="minor">
                <a:schemeClr val="dk1"/>
              </a:fontRef>
            </p:style>
            <p:txBody>
              <a:bodyPr>
                <a:normAutofit lnSpcReduction="10000"/>
              </a:bodyPr>
              <a:lstStyle/>
              <a:p>
                <a:r>
                  <a:rPr lang="en-US" dirty="0"/>
                  <a:t>Let’s assume we flip a coin </a:t>
                </a:r>
                <a14:m>
                  <m:oMath xmlns:m="http://schemas.openxmlformats.org/officeDocument/2006/math">
                    <m:r>
                      <a:rPr lang="en-US" b="0" i="1" smtClean="0">
                        <a:latin typeface="Cambria Math" panose="02040503050406030204" pitchFamily="18" charset="0"/>
                      </a:rPr>
                      <m:t>𝑛</m:t>
                    </m:r>
                  </m:oMath>
                </a14:m>
                <a:r>
                  <a:rPr lang="en-US" dirty="0"/>
                  <a:t> times. The coin has a probability </a:t>
                </a:r>
                <a14:m>
                  <m:oMath xmlns:m="http://schemas.openxmlformats.org/officeDocument/2006/math">
                    <m:r>
                      <a:rPr lang="en-US" b="0" i="1" dirty="0" smtClean="0">
                        <a:latin typeface="Cambria Math" panose="02040503050406030204" pitchFamily="18" charset="0"/>
                      </a:rPr>
                      <m:t>𝑝</m:t>
                    </m:r>
                  </m:oMath>
                </a14:m>
                <a:r>
                  <a:rPr lang="en-US" dirty="0"/>
                  <a:t> of landing on heads. </a:t>
                </a:r>
              </a:p>
              <a:p>
                <a:r>
                  <a:rPr lang="en-US" dirty="0"/>
                  <a:t>Out of those </a:t>
                </a:r>
                <a14:m>
                  <m:oMath xmlns:m="http://schemas.openxmlformats.org/officeDocument/2006/math">
                    <m:r>
                      <a:rPr lang="en-US" b="0" i="1" smtClean="0">
                        <a:latin typeface="Cambria Math" panose="02040503050406030204" pitchFamily="18" charset="0"/>
                      </a:rPr>
                      <m:t>𝑛</m:t>
                    </m:r>
                  </m:oMath>
                </a14:m>
                <a:r>
                  <a:rPr lang="en-US" dirty="0"/>
                  <a:t> times lets say we want to see </a:t>
                </a:r>
                <a14:m>
                  <m:oMath xmlns:m="http://schemas.openxmlformats.org/officeDocument/2006/math">
                    <m:r>
                      <a:rPr lang="en-US" b="0" i="1" smtClean="0">
                        <a:latin typeface="Cambria Math" panose="02040503050406030204" pitchFamily="18" charset="0"/>
                      </a:rPr>
                      <m:t>𝑘</m:t>
                    </m:r>
                  </m:oMath>
                </a14:m>
                <a:r>
                  <a:rPr lang="en-US" dirty="0"/>
                  <a:t> times be heads. </a:t>
                </a:r>
              </a:p>
              <a:p>
                <a:r>
                  <a:rPr lang="en-US" dirty="0"/>
                  <a:t>Simple example flip a coin 5 times and we want to see 3 heads.  </a:t>
                </a:r>
              </a:p>
            </p:txBody>
          </p:sp>
        </mc:Choice>
        <mc:Fallback>
          <p:sp>
            <p:nvSpPr>
              <p:cNvPr id="3" name="Content Placeholder 2">
                <a:extLst>
                  <a:ext uri="{FF2B5EF4-FFF2-40B4-BE49-F238E27FC236}">
                    <a16:creationId xmlns:a16="http://schemas.microsoft.com/office/drawing/2014/main" id="{1F19C296-AB79-0522-7F29-600FF79DB681}"/>
                  </a:ext>
                </a:extLst>
              </p:cNvPr>
              <p:cNvSpPr>
                <a:spLocks noGrp="1" noRot="1" noChangeAspect="1" noMove="1" noResize="1" noEditPoints="1" noAdjustHandles="1" noChangeArrowheads="1" noChangeShapeType="1" noTextEdit="1"/>
              </p:cNvSpPr>
              <p:nvPr>
                <p:ph idx="1"/>
              </p:nvPr>
            </p:nvSpPr>
            <p:spPr>
              <a:xfrm>
                <a:off x="838200" y="1825625"/>
                <a:ext cx="10515600" cy="1840853"/>
              </a:xfrm>
              <a:blipFill>
                <a:blip r:embed="rId3"/>
                <a:stretch>
                  <a:fillRect l="-984" t="-6908" b="-263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2">
                <a:extLst>
                  <a:ext uri="{FF2B5EF4-FFF2-40B4-BE49-F238E27FC236}">
                    <a16:creationId xmlns:a16="http://schemas.microsoft.com/office/drawing/2014/main" id="{46E9FD01-AAA4-D89E-04C8-7C28D7F1DE45}"/>
                  </a:ext>
                </a:extLst>
              </p:cNvPr>
              <p:cNvSpPr txBox="1">
                <a:spLocks/>
              </p:cNvSpPr>
              <p:nvPr/>
            </p:nvSpPr>
            <p:spPr>
              <a:xfrm>
                <a:off x="838200" y="3801416"/>
                <a:ext cx="10515600" cy="99577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=3</m:t>
                        </m:r>
                      </m:e>
                    </m:d>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oMath>
                </a14:m>
                <a:endParaRPr lang="en-US" dirty="0"/>
              </a:p>
              <a:p>
                <a:r>
                  <a:rPr lang="en-US" dirty="0"/>
                  <a:t>Are we done? Not yet…</a:t>
                </a:r>
              </a:p>
            </p:txBody>
          </p:sp>
        </mc:Choice>
        <mc:Fallback>
          <p:sp>
            <p:nvSpPr>
              <p:cNvPr id="4" name="Content Placeholder 2">
                <a:extLst>
                  <a:ext uri="{FF2B5EF4-FFF2-40B4-BE49-F238E27FC236}">
                    <a16:creationId xmlns:a16="http://schemas.microsoft.com/office/drawing/2014/main" id="{46E9FD01-AAA4-D89E-04C8-7C28D7F1DE45}"/>
                  </a:ext>
                </a:extLst>
              </p:cNvPr>
              <p:cNvSpPr txBox="1">
                <a:spLocks noRot="1" noChangeAspect="1" noMove="1" noResize="1" noEditPoints="1" noAdjustHandles="1" noChangeArrowheads="1" noChangeShapeType="1" noTextEdit="1"/>
              </p:cNvSpPr>
              <p:nvPr/>
            </p:nvSpPr>
            <p:spPr>
              <a:xfrm>
                <a:off x="838200" y="3801416"/>
                <a:ext cx="10515600" cy="995778"/>
              </a:xfrm>
              <a:prstGeom prst="rect">
                <a:avLst/>
              </a:prstGeom>
              <a:blipFill>
                <a:blip r:embed="rId4"/>
                <a:stretch>
                  <a:fillRect l="-1043" b="-165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EE0014EF-EE0D-F69A-CF9E-B98D998C05F0}"/>
                  </a:ext>
                </a:extLst>
              </p:cNvPr>
              <p:cNvSpPr txBox="1">
                <a:spLocks/>
              </p:cNvSpPr>
              <p:nvPr/>
            </p:nvSpPr>
            <p:spPr>
              <a:xfrm>
                <a:off x="838200" y="4797194"/>
                <a:ext cx="10515600" cy="10813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=3</m:t>
                        </m:r>
                      </m:e>
                    </m:d>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dirty="0"/>
                  <a:t> now are we done?</a:t>
                </a:r>
              </a:p>
              <a:p>
                <a:pPr marL="0" indent="0">
                  <a:buNone/>
                </a:pPr>
                <a:endParaRPr lang="en-US" dirty="0"/>
              </a:p>
            </p:txBody>
          </p:sp>
        </mc:Choice>
        <mc:Fallback>
          <p:sp>
            <p:nvSpPr>
              <p:cNvPr id="5" name="Content Placeholder 2">
                <a:extLst>
                  <a:ext uri="{FF2B5EF4-FFF2-40B4-BE49-F238E27FC236}">
                    <a16:creationId xmlns:a16="http://schemas.microsoft.com/office/drawing/2014/main" id="{EE0014EF-EE0D-F69A-CF9E-B98D998C05F0}"/>
                  </a:ext>
                </a:extLst>
              </p:cNvPr>
              <p:cNvSpPr txBox="1">
                <a:spLocks noRot="1" noChangeAspect="1" noMove="1" noResize="1" noEditPoints="1" noAdjustHandles="1" noChangeArrowheads="1" noChangeShapeType="1" noTextEdit="1"/>
              </p:cNvSpPr>
              <p:nvPr/>
            </p:nvSpPr>
            <p:spPr>
              <a:xfrm>
                <a:off x="838200" y="4797194"/>
                <a:ext cx="10515600" cy="1081303"/>
              </a:xfrm>
              <a:prstGeom prst="rect">
                <a:avLst/>
              </a:prstGeom>
              <a:blipFill>
                <a:blip r:embed="rId5"/>
                <a:stretch>
                  <a:fillRect t="-9605"/>
                </a:stretch>
              </a:blipFill>
            </p:spPr>
            <p:txBody>
              <a:bodyPr/>
              <a:lstStyle/>
              <a:p>
                <a:r>
                  <a:rPr lang="en-US">
                    <a:noFill/>
                  </a:rPr>
                  <a:t> </a:t>
                </a:r>
              </a:p>
            </p:txBody>
          </p:sp>
        </mc:Fallback>
      </mc:AlternateContent>
      <p:sp>
        <p:nvSpPr>
          <p:cNvPr id="6" name="Content Placeholder 2">
            <a:extLst>
              <a:ext uri="{FF2B5EF4-FFF2-40B4-BE49-F238E27FC236}">
                <a16:creationId xmlns:a16="http://schemas.microsoft.com/office/drawing/2014/main" id="{D6EF1328-44E8-4274-7020-79B35D444F74}"/>
              </a:ext>
            </a:extLst>
          </p:cNvPr>
          <p:cNvSpPr txBox="1">
            <a:spLocks/>
          </p:cNvSpPr>
          <p:nvPr/>
        </p:nvSpPr>
        <p:spPr>
          <a:xfrm>
            <a:off x="838200" y="5411572"/>
            <a:ext cx="10515600" cy="10813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only considered the probability of getting three heads when the first three flips are heads. But could we also have H-H-T-T-H?</a:t>
            </a:r>
          </a:p>
        </p:txBody>
      </p:sp>
    </p:spTree>
    <p:extLst>
      <p:ext uri="{BB962C8B-B14F-4D97-AF65-F5344CB8AC3E}">
        <p14:creationId xmlns:p14="http://schemas.microsoft.com/office/powerpoint/2010/main" val="1009362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BB8CB-70C2-1C56-BCFF-17591E7A8AAF}"/>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Bernoulli Distribution to Binomial</a:t>
            </a:r>
          </a:p>
        </p:txBody>
      </p:sp>
      <mc:AlternateContent xmlns:mc="http://schemas.openxmlformats.org/markup-compatibility/2006">
        <mc:Choice xmlns:a14="http://schemas.microsoft.com/office/drawing/2010/main" Requires="a14">
          <p:sp>
            <p:nvSpPr>
              <p:cNvPr id="5" name="Content Placeholder 2">
                <a:extLst>
                  <a:ext uri="{FF2B5EF4-FFF2-40B4-BE49-F238E27FC236}">
                    <a16:creationId xmlns:a16="http://schemas.microsoft.com/office/drawing/2014/main" id="{EE0014EF-EE0D-F69A-CF9E-B98D998C05F0}"/>
                  </a:ext>
                </a:extLst>
              </p:cNvPr>
              <p:cNvSpPr txBox="1">
                <a:spLocks/>
              </p:cNvSpPr>
              <p:nvPr/>
            </p:nvSpPr>
            <p:spPr>
              <a:xfrm>
                <a:off x="838200" y="1903074"/>
                <a:ext cx="10515600" cy="108130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=3</m:t>
                        </m:r>
                      </m:e>
                    </m:d>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a14:m>
                <a:r>
                  <a:rPr lang="en-US" dirty="0"/>
                  <a:t> now are we done? NO.</a:t>
                </a:r>
              </a:p>
              <a:p>
                <a:pPr marL="0" indent="0">
                  <a:buNone/>
                </a:pPr>
                <a:endParaRPr lang="en-US" dirty="0"/>
              </a:p>
            </p:txBody>
          </p:sp>
        </mc:Choice>
        <mc:Fallback>
          <p:sp>
            <p:nvSpPr>
              <p:cNvPr id="5" name="Content Placeholder 2">
                <a:extLst>
                  <a:ext uri="{FF2B5EF4-FFF2-40B4-BE49-F238E27FC236}">
                    <a16:creationId xmlns:a16="http://schemas.microsoft.com/office/drawing/2014/main" id="{EE0014EF-EE0D-F69A-CF9E-B98D998C05F0}"/>
                  </a:ext>
                </a:extLst>
              </p:cNvPr>
              <p:cNvSpPr txBox="1">
                <a:spLocks noRot="1" noChangeAspect="1" noMove="1" noResize="1" noEditPoints="1" noAdjustHandles="1" noChangeArrowheads="1" noChangeShapeType="1" noTextEdit="1"/>
              </p:cNvSpPr>
              <p:nvPr/>
            </p:nvSpPr>
            <p:spPr>
              <a:xfrm>
                <a:off x="838200" y="1903074"/>
                <a:ext cx="10515600" cy="1081303"/>
              </a:xfrm>
              <a:prstGeom prst="rect">
                <a:avLst/>
              </a:prstGeom>
              <a:blipFill>
                <a:blip r:embed="rId3"/>
                <a:stretch>
                  <a:fillRect t="-89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Content Placeholder 2">
                <a:extLst>
                  <a:ext uri="{FF2B5EF4-FFF2-40B4-BE49-F238E27FC236}">
                    <a16:creationId xmlns:a16="http://schemas.microsoft.com/office/drawing/2014/main" id="{D6EF1328-44E8-4274-7020-79B35D444F74}"/>
                  </a:ext>
                </a:extLst>
              </p:cNvPr>
              <p:cNvSpPr txBox="1">
                <a:spLocks/>
              </p:cNvSpPr>
              <p:nvPr/>
            </p:nvSpPr>
            <p:spPr>
              <a:xfrm>
                <a:off x="838200" y="2517452"/>
                <a:ext cx="10515600" cy="2906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We only considered the probability of getting three heads when the first three flips are heads. But could we also have H-H-T-T-H?</a:t>
                </a:r>
              </a:p>
              <a:p>
                <a:r>
                  <a:rPr lang="en-US" dirty="0"/>
                  <a:t>Recall our combinations slide…we have 5 flips, of those 3 must be heads ( 5 choose 3).</a:t>
                </a:r>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r>
                          <a:rPr lang="en-US" b="0" i="1" smtClean="0">
                            <a:latin typeface="Cambria Math" panose="02040503050406030204" pitchFamily="18" charset="0"/>
                          </a:rPr>
                          <m:t>=3</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5!</m:t>
                        </m:r>
                      </m:num>
                      <m:den>
                        <m:d>
                          <m:dPr>
                            <m:ctrlPr>
                              <a:rPr lang="en-US" b="0" i="1" smtClean="0">
                                <a:latin typeface="Cambria Math" panose="02040503050406030204" pitchFamily="18" charset="0"/>
                              </a:rPr>
                            </m:ctrlPr>
                          </m:dPr>
                          <m:e>
                            <m:r>
                              <a:rPr lang="en-US" b="0" i="1" smtClean="0">
                                <a:latin typeface="Cambria Math" panose="02040503050406030204" pitchFamily="18" charset="0"/>
                              </a:rPr>
                              <m:t>5−3</m:t>
                            </m:r>
                          </m:e>
                        </m:d>
                        <m:r>
                          <a:rPr lang="en-US" b="0" i="1" smtClean="0">
                            <a:latin typeface="Cambria Math" panose="02040503050406030204" pitchFamily="18" charset="0"/>
                          </a:rPr>
                          <m:t>!3!</m:t>
                        </m:r>
                      </m:den>
                    </m:f>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1−</m:t>
                        </m:r>
                        <m:r>
                          <a:rPr lang="en-US" b="0" i="1" smtClean="0">
                            <a:latin typeface="Cambria Math" panose="02040503050406030204" pitchFamily="18" charset="0"/>
                          </a:rPr>
                          <m:t>𝑝</m:t>
                        </m:r>
                      </m:e>
                    </m:d>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oMath>
                </a14:m>
                <a:endParaRPr lang="en-US" dirty="0"/>
              </a:p>
              <a:p>
                <a:endParaRPr lang="en-US" dirty="0"/>
              </a:p>
            </p:txBody>
          </p:sp>
        </mc:Choice>
        <mc:Fallback>
          <p:sp>
            <p:nvSpPr>
              <p:cNvPr id="6" name="Content Placeholder 2">
                <a:extLst>
                  <a:ext uri="{FF2B5EF4-FFF2-40B4-BE49-F238E27FC236}">
                    <a16:creationId xmlns:a16="http://schemas.microsoft.com/office/drawing/2014/main" id="{D6EF1328-44E8-4274-7020-79B35D444F74}"/>
                  </a:ext>
                </a:extLst>
              </p:cNvPr>
              <p:cNvSpPr txBox="1">
                <a:spLocks noRot="1" noChangeAspect="1" noMove="1" noResize="1" noEditPoints="1" noAdjustHandles="1" noChangeArrowheads="1" noChangeShapeType="1" noTextEdit="1"/>
              </p:cNvSpPr>
              <p:nvPr/>
            </p:nvSpPr>
            <p:spPr>
              <a:xfrm>
                <a:off x="838200" y="2517452"/>
                <a:ext cx="10515600" cy="2906804"/>
              </a:xfrm>
              <a:prstGeom prst="rect">
                <a:avLst/>
              </a:prstGeom>
              <a:blipFill>
                <a:blip r:embed="rId4"/>
                <a:stretch>
                  <a:fillRect l="-1043" t="-356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Content Placeholder 2">
                <a:extLst>
                  <a:ext uri="{FF2B5EF4-FFF2-40B4-BE49-F238E27FC236}">
                    <a16:creationId xmlns:a16="http://schemas.microsoft.com/office/drawing/2014/main" id="{CA1A9205-4F3B-1A86-B8D0-8581D217CA8B}"/>
                  </a:ext>
                </a:extLst>
              </p:cNvPr>
              <p:cNvSpPr txBox="1">
                <a:spLocks/>
              </p:cNvSpPr>
              <p:nvPr/>
            </p:nvSpPr>
            <p:spPr>
              <a:xfrm>
                <a:off x="838200" y="5116498"/>
                <a:ext cx="10515600" cy="1452978"/>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Can we generalize this formula to </a:t>
                </a:r>
                <a14:m>
                  <m:oMath xmlns:m="http://schemas.openxmlformats.org/officeDocument/2006/math">
                    <m:r>
                      <a:rPr lang="en-US" b="0" i="1" smtClean="0">
                        <a:latin typeface="Cambria Math" panose="02040503050406030204" pitchFamily="18" charset="0"/>
                      </a:rPr>
                      <m:t>𝑛</m:t>
                    </m:r>
                  </m:oMath>
                </a14:m>
                <a:r>
                  <a:rPr lang="en-US" dirty="0"/>
                  <a:t> flips of which </a:t>
                </a:r>
                <a14:m>
                  <m:oMath xmlns:m="http://schemas.openxmlformats.org/officeDocument/2006/math">
                    <m:r>
                      <a:rPr lang="en-US" b="0" i="1" smtClean="0">
                        <a:latin typeface="Cambria Math" panose="02040503050406030204" pitchFamily="18" charset="0"/>
                      </a:rPr>
                      <m:t>𝑘</m:t>
                    </m:r>
                  </m:oMath>
                </a14:m>
                <a:r>
                  <a:rPr lang="en-US" dirty="0"/>
                  <a:t> must be heads?</a:t>
                </a:r>
              </a:p>
              <a:p>
                <a:pPr marL="0" indent="0">
                  <a:buNone/>
                </a:pPr>
                <a:endParaRPr lang="en-US" b="0"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𝑛</m:t>
                                </m:r>
                              </m:e>
                            </m:mr>
                            <m:mr>
                              <m:e>
                                <m:r>
                                  <a:rPr lang="en-US" b="0" i="1" smtClean="0">
                                    <a:latin typeface="Cambria Math" panose="02040503050406030204" pitchFamily="18" charset="0"/>
                                  </a:rPr>
                                  <m:t>𝑘</m:t>
                                </m:r>
                              </m:e>
                            </m:mr>
                          </m:m>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oMath>
                  </m:oMathPara>
                </a14:m>
                <a:endParaRPr lang="en-US" dirty="0"/>
              </a:p>
            </p:txBody>
          </p:sp>
        </mc:Choice>
        <mc:Fallback>
          <p:sp>
            <p:nvSpPr>
              <p:cNvPr id="9" name="Content Placeholder 2">
                <a:extLst>
                  <a:ext uri="{FF2B5EF4-FFF2-40B4-BE49-F238E27FC236}">
                    <a16:creationId xmlns:a16="http://schemas.microsoft.com/office/drawing/2014/main" id="{CA1A9205-4F3B-1A86-B8D0-8581D217CA8B}"/>
                  </a:ext>
                </a:extLst>
              </p:cNvPr>
              <p:cNvSpPr txBox="1">
                <a:spLocks noRot="1" noChangeAspect="1" noMove="1" noResize="1" noEditPoints="1" noAdjustHandles="1" noChangeArrowheads="1" noChangeShapeType="1" noTextEdit="1"/>
              </p:cNvSpPr>
              <p:nvPr/>
            </p:nvSpPr>
            <p:spPr>
              <a:xfrm>
                <a:off x="838200" y="5116498"/>
                <a:ext cx="10515600" cy="1452978"/>
              </a:xfrm>
              <a:prstGeom prst="rect">
                <a:avLst/>
              </a:prstGeom>
              <a:blipFill>
                <a:blip r:embed="rId5"/>
                <a:stretch>
                  <a:fillRect l="-928" t="-8368"/>
                </a:stretch>
              </a:blipFill>
            </p:spPr>
            <p:txBody>
              <a:bodyPr/>
              <a:lstStyle/>
              <a:p>
                <a:r>
                  <a:rPr lang="en-US">
                    <a:noFill/>
                  </a:rPr>
                  <a:t> </a:t>
                </a:r>
              </a:p>
            </p:txBody>
          </p:sp>
        </mc:Fallback>
      </mc:AlternateContent>
    </p:spTree>
    <p:extLst>
      <p:ext uri="{BB962C8B-B14F-4D97-AF65-F5344CB8AC3E}">
        <p14:creationId xmlns:p14="http://schemas.microsoft.com/office/powerpoint/2010/main" val="3150285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7753-8FC9-2BFD-6F14-B1DF212EEE66}"/>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a:t>Back to the Casino Problem…</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DAD9C2-C218-D3EA-0861-285BE7C09D6F}"/>
                  </a:ext>
                </a:extLst>
              </p:cNvPr>
              <p:cNvSpPr>
                <a:spLocks noGrp="1"/>
              </p:cNvSpPr>
              <p:nvPr>
                <p:ph idx="1"/>
              </p:nvPr>
            </p:nvSpPr>
            <p:spPr>
              <a:xfrm>
                <a:off x="4847208" y="1825625"/>
                <a:ext cx="6506591" cy="3918227"/>
              </a:xfrm>
            </p:spPr>
            <p:style>
              <a:lnRef idx="2">
                <a:schemeClr val="accent6"/>
              </a:lnRef>
              <a:fillRef idx="1">
                <a:schemeClr val="lt1"/>
              </a:fillRef>
              <a:effectRef idx="0">
                <a:schemeClr val="accent6"/>
              </a:effectRef>
              <a:fontRef idx="minor">
                <a:schemeClr val="dk1"/>
              </a:fontRef>
            </p:style>
            <p:txBody>
              <a:bodyPr/>
              <a:lstStyle/>
              <a:p>
                <a:r>
                  <a:rPr lang="en-US" dirty="0"/>
                  <a:t>The gamblers saw black come up 15 times in a row (only two choices black and red).</a:t>
                </a:r>
              </a:p>
              <a:p>
                <a:r>
                  <a:rPr lang="en-US" dirty="0"/>
                  <a:t>Let’s say that in this problem black is equally as likely as red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𝑝</m:t>
                    </m:r>
                    <m:r>
                      <a:rPr lang="en-US" b="0" i="1" smtClean="0">
                        <a:latin typeface="Cambria Math" panose="02040503050406030204" pitchFamily="18" charset="0"/>
                      </a:rPr>
                      <m:t>=0.5)</m:t>
                    </m:r>
                  </m:oMath>
                </a14:m>
                <a:r>
                  <a:rPr lang="en-US" dirty="0"/>
                  <a:t>. What is the probability of seeing black 16 times in a row (and no red)?</a:t>
                </a:r>
              </a:p>
              <a:p>
                <a:r>
                  <a:rPr lang="en-US" dirty="0"/>
                  <a:t>Well </a:t>
                </a:r>
                <a14:m>
                  <m:oMath xmlns:m="http://schemas.openxmlformats.org/officeDocument/2006/math">
                    <m:r>
                      <a:rPr lang="en-US" b="0" i="1" smtClean="0">
                        <a:latin typeface="Cambria Math" panose="02040503050406030204" pitchFamily="18" charset="0"/>
                      </a:rPr>
                      <m:t>𝑛</m:t>
                    </m:r>
                    <m:r>
                      <a:rPr lang="en-US" b="0" i="1" smtClean="0">
                        <a:latin typeface="Cambria Math" panose="02040503050406030204" pitchFamily="18" charset="0"/>
                      </a:rPr>
                      <m:t>=16</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=16</m:t>
                    </m:r>
                  </m:oMath>
                </a14:m>
                <a:endParaRPr lang="en-US" dirty="0"/>
              </a:p>
              <a:p>
                <a14:m>
                  <m:oMath xmlns:m="http://schemas.openxmlformats.org/officeDocument/2006/math">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𝑘</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m>
                          <m:mPr>
                            <m:mcs>
                              <m:mc>
                                <m:mcPr>
                                  <m:count m:val="1"/>
                                  <m:mcJc m:val="center"/>
                                </m:mcPr>
                              </m:mc>
                            </m:mcs>
                            <m:ctrlPr>
                              <a:rPr lang="en-US" b="0" i="1" smtClean="0">
                                <a:latin typeface="Cambria Math" panose="02040503050406030204" pitchFamily="18" charset="0"/>
                              </a:rPr>
                            </m:ctrlPr>
                          </m:mPr>
                          <m:mr>
                            <m:e>
                              <m:r>
                                <m:rPr>
                                  <m:brk m:alnAt="7"/>
                                </m:rPr>
                                <a:rPr lang="en-US" b="0" i="1" smtClean="0">
                                  <a:latin typeface="Cambria Math" panose="02040503050406030204" pitchFamily="18" charset="0"/>
                                </a:rPr>
                                <m:t>𝑛</m:t>
                              </m:r>
                            </m:e>
                          </m:mr>
                          <m:mr>
                            <m:e>
                              <m:r>
                                <a:rPr lang="en-US" b="0" i="1" smtClean="0">
                                  <a:latin typeface="Cambria Math" panose="02040503050406030204" pitchFamily="18" charset="0"/>
                                </a:rPr>
                                <m:t>𝑘</m:t>
                              </m:r>
                            </m:e>
                          </m:mr>
                        </m:m>
                      </m:e>
                    </m:d>
                    <m:sSup>
                      <m:sSupPr>
                        <m:ctrlPr>
                          <a:rPr lang="en-US" b="0"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𝑘</m:t>
                        </m:r>
                      </m:sup>
                    </m:sSup>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sup>
                    </m:sSup>
                  </m:oMath>
                </a14:m>
                <a:endParaRPr lang="en-US" dirty="0"/>
              </a:p>
              <a:p>
                <a:endParaRPr lang="en-US" dirty="0"/>
              </a:p>
            </p:txBody>
          </p:sp>
        </mc:Choice>
        <mc:Fallback>
          <p:sp>
            <p:nvSpPr>
              <p:cNvPr id="3" name="Content Placeholder 2">
                <a:extLst>
                  <a:ext uri="{FF2B5EF4-FFF2-40B4-BE49-F238E27FC236}">
                    <a16:creationId xmlns:a16="http://schemas.microsoft.com/office/drawing/2014/main" id="{1EDAD9C2-C218-D3EA-0861-285BE7C09D6F}"/>
                  </a:ext>
                </a:extLst>
              </p:cNvPr>
              <p:cNvSpPr>
                <a:spLocks noGrp="1" noRot="1" noChangeAspect="1" noMove="1" noResize="1" noEditPoints="1" noAdjustHandles="1" noChangeArrowheads="1" noChangeShapeType="1" noTextEdit="1"/>
              </p:cNvSpPr>
              <p:nvPr>
                <p:ph idx="1"/>
              </p:nvPr>
            </p:nvSpPr>
            <p:spPr>
              <a:xfrm>
                <a:off x="4847208" y="1825625"/>
                <a:ext cx="6506591" cy="3918227"/>
              </a:xfrm>
              <a:blipFill>
                <a:blip r:embed="rId2"/>
                <a:stretch>
                  <a:fillRect l="-1590" t="-2326" r="-2713"/>
                </a:stretch>
              </a:blipFill>
            </p:spPr>
            <p:txBody>
              <a:bodyPr/>
              <a:lstStyle/>
              <a:p>
                <a:r>
                  <a:rPr lang="en-US">
                    <a:noFill/>
                  </a:rPr>
                  <a:t> </a:t>
                </a:r>
              </a:p>
            </p:txBody>
          </p:sp>
        </mc:Fallback>
      </mc:AlternateContent>
      <p:pic>
        <p:nvPicPr>
          <p:cNvPr id="4" name="Picture 2" descr="Casino de Monte-Carlo introduces digital roulette">
            <a:extLst>
              <a:ext uri="{FF2B5EF4-FFF2-40B4-BE49-F238E27FC236}">
                <a16:creationId xmlns:a16="http://schemas.microsoft.com/office/drawing/2014/main" id="{CC7416CD-B791-5279-662E-0493C84D0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780" y="2274892"/>
            <a:ext cx="4422825" cy="29485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0DCD2677-80CD-3021-21FB-EA0226AA3911}"/>
                  </a:ext>
                </a:extLst>
              </p:cNvPr>
              <p:cNvSpPr txBox="1"/>
              <p:nvPr/>
            </p:nvSpPr>
            <p:spPr>
              <a:xfrm>
                <a:off x="3852910" y="5878789"/>
                <a:ext cx="7500890" cy="9473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sz="2800" b="0" i="1" smtClean="0">
                          <a:latin typeface="Cambria Math" panose="02040503050406030204" pitchFamily="18" charset="0"/>
                        </a:rPr>
                        <m:t>𝑃</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𝑋</m:t>
                          </m:r>
                          <m:r>
                            <a:rPr lang="en-US" sz="2800" b="0" i="1" smtClean="0">
                              <a:latin typeface="Cambria Math" panose="02040503050406030204" pitchFamily="18" charset="0"/>
                            </a:rPr>
                            <m:t>=16</m:t>
                          </m:r>
                        </m:e>
                      </m:d>
                      <m:r>
                        <a:rPr lang="en-US" sz="2800" b="0" i="1" smtClean="0">
                          <a:latin typeface="Cambria Math" panose="02040503050406030204" pitchFamily="18" charset="0"/>
                        </a:rPr>
                        <m:t>=</m:t>
                      </m:r>
                      <m:d>
                        <m:dPr>
                          <m:ctrlPr>
                            <a:rPr lang="en-US" sz="2800" b="0" i="1" smtClean="0">
                              <a:latin typeface="Cambria Math" panose="02040503050406030204" pitchFamily="18" charset="0"/>
                            </a:rPr>
                          </m:ctrlPr>
                        </m:dPr>
                        <m:e>
                          <m:m>
                            <m:mPr>
                              <m:mcs>
                                <m:mc>
                                  <m:mcPr>
                                    <m:count m:val="1"/>
                                    <m:mcJc m:val="center"/>
                                  </m:mcPr>
                                </m:mc>
                              </m:mcs>
                              <m:ctrlPr>
                                <a:rPr lang="en-US" sz="2800" b="0" i="1" smtClean="0">
                                  <a:latin typeface="Cambria Math" panose="02040503050406030204" pitchFamily="18" charset="0"/>
                                </a:rPr>
                              </m:ctrlPr>
                            </m:mPr>
                            <m:mr>
                              <m:e>
                                <m:r>
                                  <m:rPr>
                                    <m:brk m:alnAt="7"/>
                                  </m:rPr>
                                  <a:rPr lang="en-US" sz="2800" b="0" i="1" smtClean="0">
                                    <a:latin typeface="Cambria Math" panose="02040503050406030204" pitchFamily="18" charset="0"/>
                                  </a:rPr>
                                  <m:t>16</m:t>
                                </m:r>
                              </m:e>
                            </m:mr>
                            <m:mr>
                              <m:e>
                                <m:r>
                                  <a:rPr lang="en-US" sz="2800" b="0" i="1" smtClean="0">
                                    <a:latin typeface="Cambria Math" panose="02040503050406030204" pitchFamily="18" charset="0"/>
                                  </a:rPr>
                                  <m:t>16</m:t>
                                </m:r>
                              </m:e>
                            </m:mr>
                          </m:m>
                        </m:e>
                      </m:d>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(0.5)</m:t>
                          </m:r>
                        </m:e>
                        <m:sup>
                          <m:r>
                            <a:rPr lang="en-US" sz="2800" b="0" i="1" smtClean="0">
                              <a:latin typeface="Cambria Math" panose="02040503050406030204" pitchFamily="18" charset="0"/>
                            </a:rPr>
                            <m:t>16</m:t>
                          </m:r>
                        </m:sup>
                      </m:sSup>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(1−</m:t>
                          </m:r>
                          <m:r>
                            <a:rPr lang="en-US" sz="2800" b="0" i="1" smtClean="0">
                              <a:latin typeface="Cambria Math" panose="02040503050406030204" pitchFamily="18" charset="0"/>
                            </a:rPr>
                            <m:t>0.5</m:t>
                          </m:r>
                          <m:r>
                            <a:rPr lang="en-US" sz="2800" b="0" i="1" smtClean="0">
                              <a:latin typeface="Cambria Math" panose="02040503050406030204" pitchFamily="18" charset="0"/>
                            </a:rPr>
                            <m:t>)</m:t>
                          </m:r>
                        </m:e>
                        <m:sup>
                          <m:r>
                            <a:rPr lang="en-US" sz="2800" b="0" i="1" smtClean="0">
                              <a:latin typeface="Cambria Math" panose="02040503050406030204" pitchFamily="18" charset="0"/>
                            </a:rPr>
                            <m:t>0</m:t>
                          </m:r>
                        </m:sup>
                      </m:s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num>
                        <m:den>
                          <m:r>
                            <a:rPr lang="en-US" sz="2800" b="0" i="1" smtClean="0">
                              <a:latin typeface="Cambria Math" panose="02040503050406030204" pitchFamily="18" charset="0"/>
                            </a:rPr>
                            <m:t>65,536</m:t>
                          </m:r>
                        </m:den>
                      </m:f>
                    </m:oMath>
                  </m:oMathPara>
                </a14:m>
                <a:endParaRPr lang="en-US" sz="2800" dirty="0"/>
              </a:p>
            </p:txBody>
          </p:sp>
        </mc:Choice>
        <mc:Fallback>
          <p:sp>
            <p:nvSpPr>
              <p:cNvPr id="6" name="TextBox 5">
                <a:extLst>
                  <a:ext uri="{FF2B5EF4-FFF2-40B4-BE49-F238E27FC236}">
                    <a16:creationId xmlns:a16="http://schemas.microsoft.com/office/drawing/2014/main" id="{0DCD2677-80CD-3021-21FB-EA0226AA3911}"/>
                  </a:ext>
                </a:extLst>
              </p:cNvPr>
              <p:cNvSpPr txBox="1">
                <a:spLocks noRot="1" noChangeAspect="1" noMove="1" noResize="1" noEditPoints="1" noAdjustHandles="1" noChangeArrowheads="1" noChangeShapeType="1" noTextEdit="1"/>
              </p:cNvSpPr>
              <p:nvPr/>
            </p:nvSpPr>
            <p:spPr>
              <a:xfrm>
                <a:off x="3852910" y="5878789"/>
                <a:ext cx="7500890" cy="947375"/>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38552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7753-8FC9-2BFD-6F14-B1DF212EEE66}"/>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a:t>Back to the Casino Problem…2</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EDAD9C2-C218-D3EA-0861-285BE7C09D6F}"/>
                  </a:ext>
                </a:extLst>
              </p:cNvPr>
              <p:cNvSpPr>
                <a:spLocks noGrp="1"/>
              </p:cNvSpPr>
              <p:nvPr>
                <p:ph idx="1"/>
              </p:nvPr>
            </p:nvSpPr>
            <p:spPr>
              <a:xfrm>
                <a:off x="4847208" y="1825625"/>
                <a:ext cx="6506591" cy="2948550"/>
              </a:xfrm>
            </p:spPr>
            <p:style>
              <a:lnRef idx="2">
                <a:schemeClr val="accent6"/>
              </a:lnRef>
              <a:fillRef idx="1">
                <a:schemeClr val="lt1"/>
              </a:fillRef>
              <a:effectRef idx="0">
                <a:schemeClr val="accent6"/>
              </a:effectRef>
              <a:fontRef idx="minor">
                <a:schemeClr val="dk1"/>
              </a:fontRef>
            </p:style>
            <p:txBody>
              <a:bodyPr>
                <a:normAutofit/>
              </a:bodyPr>
              <a:lstStyle/>
              <a:p>
                <a14:m>
                  <m:oMath xmlns:m="http://schemas.openxmlformats.org/officeDocument/2006/math">
                    <m:r>
                      <a:rPr lang="en-US" sz="2400" i="1" smtClean="0">
                        <a:latin typeface="Cambria Math" panose="02040503050406030204" pitchFamily="18" charset="0"/>
                      </a:rPr>
                      <m:t>𝑃</m:t>
                    </m:r>
                    <m:d>
                      <m:dPr>
                        <m:ctrlPr>
                          <a:rPr lang="en-US" sz="2400" i="1">
                            <a:latin typeface="Cambria Math" panose="02040503050406030204" pitchFamily="18" charset="0"/>
                          </a:rPr>
                        </m:ctrlPr>
                      </m:dPr>
                      <m:e>
                        <m:r>
                          <a:rPr lang="en-US" sz="2400" i="1">
                            <a:latin typeface="Cambria Math" panose="02040503050406030204" pitchFamily="18" charset="0"/>
                          </a:rPr>
                          <m:t>𝑋</m:t>
                        </m:r>
                        <m:r>
                          <a:rPr lang="en-US" sz="2400" i="1">
                            <a:latin typeface="Cambria Math" panose="02040503050406030204" pitchFamily="18" charset="0"/>
                          </a:rPr>
                          <m:t>=16</m:t>
                        </m:r>
                      </m:e>
                    </m:d>
                    <m:r>
                      <a:rPr lang="en-US" sz="2400" i="1">
                        <a:latin typeface="Cambria Math" panose="02040503050406030204" pitchFamily="18" charset="0"/>
                      </a:rPr>
                      <m:t>=</m:t>
                    </m:r>
                    <m:d>
                      <m:dPr>
                        <m:ctrlPr>
                          <a:rPr lang="en-US" sz="2400" i="1">
                            <a:latin typeface="Cambria Math" panose="02040503050406030204" pitchFamily="18" charset="0"/>
                          </a:rPr>
                        </m:ctrlPr>
                      </m:dPr>
                      <m:e>
                        <m:m>
                          <m:mPr>
                            <m:mcs>
                              <m:mc>
                                <m:mcPr>
                                  <m:count m:val="1"/>
                                  <m:mcJc m:val="center"/>
                                </m:mcPr>
                              </m:mc>
                            </m:mcs>
                            <m:ctrlPr>
                              <a:rPr lang="en-US" sz="2400" i="1">
                                <a:latin typeface="Cambria Math" panose="02040503050406030204" pitchFamily="18" charset="0"/>
                              </a:rPr>
                            </m:ctrlPr>
                          </m:mPr>
                          <m:mr>
                            <m:e>
                              <m:r>
                                <m:rPr>
                                  <m:brk m:alnAt="7"/>
                                </m:rPr>
                                <a:rPr lang="en-US" sz="2400" i="1">
                                  <a:latin typeface="Cambria Math" panose="02040503050406030204" pitchFamily="18" charset="0"/>
                                </a:rPr>
                                <m:t>1</m:t>
                              </m:r>
                              <m:r>
                                <a:rPr lang="en-US" sz="2400" i="1">
                                  <a:latin typeface="Cambria Math" panose="02040503050406030204" pitchFamily="18" charset="0"/>
                                </a:rPr>
                                <m:t>6</m:t>
                              </m:r>
                            </m:e>
                          </m:mr>
                          <m:mr>
                            <m:e>
                              <m:r>
                                <a:rPr lang="en-US" sz="2400" i="1">
                                  <a:latin typeface="Cambria Math" panose="02040503050406030204" pitchFamily="18" charset="0"/>
                                </a:rPr>
                                <m:t>16</m:t>
                              </m:r>
                            </m:e>
                          </m:mr>
                        </m:m>
                      </m:e>
                    </m:d>
                    <m:sSup>
                      <m:sSupPr>
                        <m:ctrlPr>
                          <a:rPr lang="en-US" sz="2400" i="1">
                            <a:latin typeface="Cambria Math" panose="02040503050406030204" pitchFamily="18" charset="0"/>
                          </a:rPr>
                        </m:ctrlPr>
                      </m:sSupPr>
                      <m:e>
                        <m:r>
                          <a:rPr lang="en-US" sz="2400" i="1">
                            <a:latin typeface="Cambria Math" panose="02040503050406030204" pitchFamily="18" charset="0"/>
                          </a:rPr>
                          <m:t>(0.5)</m:t>
                        </m:r>
                      </m:e>
                      <m:sup>
                        <m:r>
                          <a:rPr lang="en-US" sz="2400" i="1">
                            <a:latin typeface="Cambria Math" panose="02040503050406030204" pitchFamily="18" charset="0"/>
                          </a:rPr>
                          <m:t>16</m:t>
                        </m:r>
                      </m:sup>
                    </m:sSup>
                    <m:sSup>
                      <m:sSupPr>
                        <m:ctrlPr>
                          <a:rPr lang="en-US" sz="2400" i="1">
                            <a:latin typeface="Cambria Math" panose="02040503050406030204" pitchFamily="18" charset="0"/>
                          </a:rPr>
                        </m:ctrlPr>
                      </m:sSupPr>
                      <m:e>
                        <m:r>
                          <a:rPr lang="en-US" sz="2400" i="1">
                            <a:latin typeface="Cambria Math" panose="02040503050406030204" pitchFamily="18" charset="0"/>
                          </a:rPr>
                          <m:t>(1−0.5)</m:t>
                        </m:r>
                      </m:e>
                      <m:sup>
                        <m:r>
                          <a:rPr lang="en-US" sz="2400" i="1">
                            <a:latin typeface="Cambria Math" panose="02040503050406030204" pitchFamily="18" charset="0"/>
                          </a:rPr>
                          <m:t>0</m:t>
                        </m:r>
                      </m:sup>
                    </m:sSup>
                    <m:r>
                      <a:rPr lang="en-US" sz="2400" i="1">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65,536</m:t>
                        </m:r>
                      </m:den>
                    </m:f>
                  </m:oMath>
                </a14:m>
                <a:endParaRPr lang="en-US" sz="2400" dirty="0"/>
              </a:p>
              <a:p>
                <a:r>
                  <a:rPr lang="en-US" sz="2400" dirty="0"/>
                  <a:t>We see that the probability of getting black 16 times in a row is quite low. Does that mean we should bet on red?</a:t>
                </a:r>
              </a:p>
              <a:p>
                <a:r>
                  <a:rPr lang="en-US" sz="2400" dirty="0"/>
                  <a:t>Well let us ask the following question. What is the probability of getting 15 blacks in a row and then one red? </a:t>
                </a:r>
              </a:p>
            </p:txBody>
          </p:sp>
        </mc:Choice>
        <mc:Fallback>
          <p:sp>
            <p:nvSpPr>
              <p:cNvPr id="3" name="Content Placeholder 2">
                <a:extLst>
                  <a:ext uri="{FF2B5EF4-FFF2-40B4-BE49-F238E27FC236}">
                    <a16:creationId xmlns:a16="http://schemas.microsoft.com/office/drawing/2014/main" id="{1EDAD9C2-C218-D3EA-0861-285BE7C09D6F}"/>
                  </a:ext>
                </a:extLst>
              </p:cNvPr>
              <p:cNvSpPr>
                <a:spLocks noGrp="1" noRot="1" noChangeAspect="1" noMove="1" noResize="1" noEditPoints="1" noAdjustHandles="1" noChangeArrowheads="1" noChangeShapeType="1" noTextEdit="1"/>
              </p:cNvSpPr>
              <p:nvPr>
                <p:ph idx="1"/>
              </p:nvPr>
            </p:nvSpPr>
            <p:spPr>
              <a:xfrm>
                <a:off x="4847208" y="1825625"/>
                <a:ext cx="6506591" cy="2948550"/>
              </a:xfrm>
              <a:blipFill>
                <a:blip r:embed="rId2"/>
                <a:stretch>
                  <a:fillRect l="-1123" b="-1852"/>
                </a:stretch>
              </a:blipFill>
            </p:spPr>
            <p:txBody>
              <a:bodyPr/>
              <a:lstStyle/>
              <a:p>
                <a:r>
                  <a:rPr lang="en-US">
                    <a:noFill/>
                  </a:rPr>
                  <a:t> </a:t>
                </a:r>
              </a:p>
            </p:txBody>
          </p:sp>
        </mc:Fallback>
      </mc:AlternateContent>
      <p:pic>
        <p:nvPicPr>
          <p:cNvPr id="4" name="Picture 2" descr="Casino de Monte-Carlo introduces digital roulette">
            <a:extLst>
              <a:ext uri="{FF2B5EF4-FFF2-40B4-BE49-F238E27FC236}">
                <a16:creationId xmlns:a16="http://schemas.microsoft.com/office/drawing/2014/main" id="{CC7416CD-B791-5279-662E-0493C84D0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780" y="2274892"/>
            <a:ext cx="4422825" cy="294855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34761DD7-70FD-496F-0A09-2484B35AFC86}"/>
              </a:ext>
            </a:extLst>
          </p:cNvPr>
          <p:cNvSpPr txBox="1">
            <a:spLocks/>
          </p:cNvSpPr>
          <p:nvPr/>
        </p:nvSpPr>
        <p:spPr>
          <a:xfrm>
            <a:off x="4847208" y="4909112"/>
            <a:ext cx="6506591" cy="1755570"/>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r>
              <a:rPr lang="en-US" sz="2400" dirty="0"/>
              <a:t>Here it is important to note that we can’t use the original binomial formula with n choose k, why?</a:t>
            </a:r>
          </a:p>
          <a:p>
            <a:r>
              <a:rPr lang="en-US" sz="2400" dirty="0"/>
              <a:t>Because of the key word “in a row”, if we use the binomial </a:t>
            </a:r>
            <a:r>
              <a:rPr lang="en-US" sz="2400" dirty="0" err="1"/>
              <a:t>pmf</a:t>
            </a:r>
            <a:r>
              <a:rPr lang="en-US" sz="2400" dirty="0"/>
              <a:t> that computes the answer for different sequences, not necessarily in a row.  </a:t>
            </a:r>
          </a:p>
        </p:txBody>
      </p:sp>
    </p:spTree>
    <p:extLst>
      <p:ext uri="{BB962C8B-B14F-4D97-AF65-F5344CB8AC3E}">
        <p14:creationId xmlns:p14="http://schemas.microsoft.com/office/powerpoint/2010/main" val="4084475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C7753-8FC9-2BFD-6F14-B1DF212EEE66}"/>
              </a:ext>
            </a:extLst>
          </p:cNvPr>
          <p:cNvSpPr>
            <a:spLocks noGrp="1"/>
          </p:cNvSpPr>
          <p:nvPr>
            <p:ph type="title"/>
          </p:nvPr>
        </p:nvSpPr>
        <p:spPr/>
        <p:style>
          <a:lnRef idx="2">
            <a:schemeClr val="dk1"/>
          </a:lnRef>
          <a:fillRef idx="1">
            <a:schemeClr val="lt1"/>
          </a:fillRef>
          <a:effectRef idx="0">
            <a:schemeClr val="dk1"/>
          </a:effectRef>
          <a:fontRef idx="minor">
            <a:schemeClr val="dk1"/>
          </a:fontRef>
        </p:style>
        <p:txBody>
          <a:bodyPr/>
          <a:lstStyle/>
          <a:p>
            <a:r>
              <a:rPr lang="en-US" dirty="0"/>
              <a:t>Back to the Casino Problem…3</a:t>
            </a:r>
          </a:p>
        </p:txBody>
      </p:sp>
      <p:pic>
        <p:nvPicPr>
          <p:cNvPr id="4" name="Picture 2" descr="Casino de Monte-Carlo introduces digital roulette">
            <a:extLst>
              <a:ext uri="{FF2B5EF4-FFF2-40B4-BE49-F238E27FC236}">
                <a16:creationId xmlns:a16="http://schemas.microsoft.com/office/drawing/2014/main" id="{CC7416CD-B791-5279-662E-0493C84D03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780" y="2274892"/>
            <a:ext cx="4422825" cy="2948550"/>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a14="http://schemas.microsoft.com/office/drawing/2010/main" Requires="a14">
          <p:sp>
            <p:nvSpPr>
              <p:cNvPr id="8" name="Content Placeholder 2">
                <a:extLst>
                  <a:ext uri="{FF2B5EF4-FFF2-40B4-BE49-F238E27FC236}">
                    <a16:creationId xmlns:a16="http://schemas.microsoft.com/office/drawing/2014/main" id="{34761DD7-70FD-496F-0A09-2484B35AFC86}"/>
                  </a:ext>
                </a:extLst>
              </p:cNvPr>
              <p:cNvSpPr txBox="1">
                <a:spLocks/>
              </p:cNvSpPr>
              <p:nvPr/>
            </p:nvSpPr>
            <p:spPr>
              <a:xfrm>
                <a:off x="4847209" y="1846315"/>
                <a:ext cx="6506591" cy="4368054"/>
              </a:xfrm>
              <a:prstGeom prst="rect">
                <a:avLst/>
              </a:prstGeom>
            </p:spPr>
            <p:style>
              <a:lnRef idx="2">
                <a:schemeClr val="accent6"/>
              </a:lnRef>
              <a:fillRef idx="1">
                <a:schemeClr val="lt1"/>
              </a:fillRef>
              <a:effectRef idx="0">
                <a:schemeClr val="accent6"/>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14:m>
                  <m:oMath xmlns:m="http://schemas.openxmlformats.org/officeDocument/2006/math">
                    <m:r>
                      <a:rPr lang="en-US" i="1" smtClean="0">
                        <a:latin typeface="Cambria Math" panose="02040503050406030204" pitchFamily="18" charset="0"/>
                      </a:rPr>
                      <m:t>𝑃</m:t>
                    </m:r>
                    <m:d>
                      <m:dPr>
                        <m:ctrlPr>
                          <a:rPr lang="en-US" i="1">
                            <a:latin typeface="Cambria Math" panose="02040503050406030204" pitchFamily="18" charset="0"/>
                          </a:rPr>
                        </m:ctrlPr>
                      </m:dPr>
                      <m:e>
                        <m:r>
                          <a:rPr lang="en-US" b="0" i="1" smtClean="0">
                            <a:latin typeface="Cambria Math" panose="02040503050406030204" pitchFamily="18" charset="0"/>
                          </a:rPr>
                          <m:t>𝐵</m:t>
                        </m:r>
                        <m:r>
                          <a:rPr lang="en-US" i="1">
                            <a:latin typeface="Cambria Math" panose="02040503050406030204" pitchFamily="18" charset="0"/>
                          </a:rPr>
                          <m:t>=</m:t>
                        </m:r>
                        <m:r>
                          <a:rPr lang="en-US" b="0" i="1" smtClean="0">
                            <a:latin typeface="Cambria Math" panose="02040503050406030204" pitchFamily="18" charset="0"/>
                          </a:rPr>
                          <m:t>15, </m:t>
                        </m:r>
                        <m:r>
                          <a:rPr lang="en-US" b="0" i="1" smtClean="0">
                            <a:latin typeface="Cambria Math" panose="02040503050406030204" pitchFamily="18" charset="0"/>
                          </a:rPr>
                          <m:t>𝑅</m:t>
                        </m:r>
                        <m:r>
                          <a:rPr lang="en-US" b="0" i="1" smtClean="0">
                            <a:latin typeface="Cambria Math" panose="02040503050406030204" pitchFamily="18" charset="0"/>
                          </a:rPr>
                          <m:t>=1</m:t>
                        </m:r>
                      </m:e>
                    </m:d>
                  </m:oMath>
                </a14:m>
                <a:r>
                  <a:rPr lang="en-US" dirty="0"/>
                  <a:t> (Order Matters, red must come last)</a:t>
                </a:r>
              </a:p>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𝑝</m:t>
                        </m:r>
                      </m:e>
                      <m:sup>
                        <m:r>
                          <a:rPr lang="en-US" b="0" i="1" smtClean="0">
                            <a:latin typeface="Cambria Math" panose="02040503050406030204" pitchFamily="18" charset="0"/>
                          </a:rPr>
                          <m:t>15</m:t>
                        </m:r>
                      </m:sup>
                    </m:sSup>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(1−</m:t>
                        </m:r>
                        <m:r>
                          <a:rPr lang="en-US" b="0" i="1" smtClean="0">
                            <a:latin typeface="Cambria Math" panose="02040503050406030204" pitchFamily="18" charset="0"/>
                          </a:rPr>
                          <m:t>𝑝</m:t>
                        </m:r>
                        <m:r>
                          <a:rPr lang="en-US" b="0" i="1" smtClean="0">
                            <a:latin typeface="Cambria Math" panose="02040503050406030204" pitchFamily="18" charset="0"/>
                          </a:rPr>
                          <m:t>)</m:t>
                        </m:r>
                      </m:e>
                      <m:sup>
                        <m:r>
                          <a:rPr lang="en-US" b="0" i="1" smtClean="0">
                            <a:latin typeface="Cambria Math" panose="02040503050406030204" pitchFamily="18" charset="0"/>
                          </a:rPr>
                          <m:t>1</m:t>
                        </m:r>
                      </m:sup>
                    </m:sSup>
                  </m:oMath>
                </a14:m>
                <a:r>
                  <a:rPr lang="en-US" dirty="0"/>
                  <a:t> since we know that </a:t>
                </a:r>
                <a14:m>
                  <m:oMath xmlns:m="http://schemas.openxmlformats.org/officeDocument/2006/math">
                    <m:r>
                      <a:rPr lang="en-US" b="0" i="1" smtClean="0">
                        <a:latin typeface="Cambria Math" panose="02040503050406030204" pitchFamily="18" charset="0"/>
                      </a:rPr>
                      <m:t>0.5</m:t>
                    </m:r>
                  </m:oMath>
                </a14:m>
                <a:r>
                  <a:rPr lang="en-US" dirty="0"/>
                  <a:t> then this simply becomes:</a:t>
                </a:r>
              </a:p>
              <a:p>
                <a14:m>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(0.5)</m:t>
                        </m:r>
                      </m:e>
                      <m:sup>
                        <m:r>
                          <a:rPr lang="en-US" b="0" i="1" smtClean="0">
                            <a:latin typeface="Cambria Math" panose="02040503050406030204" pitchFamily="18" charset="0"/>
                          </a:rPr>
                          <m:t>16</m:t>
                        </m:r>
                      </m:sup>
                    </m:sSup>
                    <m:r>
                      <a:rPr lang="en-US" b="0" i="1" smtClean="0">
                        <a:latin typeface="Cambria Math" panose="02040503050406030204" pitchFamily="18" charset="0"/>
                      </a:rPr>
                      <m:t>=</m:t>
                    </m:r>
                    <m:f>
                      <m:fPr>
                        <m:ctrlPr>
                          <a:rPr lang="en-US" i="1" smtClean="0">
                            <a:latin typeface="Cambria Math" panose="02040503050406030204" pitchFamily="18" charset="0"/>
                          </a:rPr>
                        </m:ctrlPr>
                      </m:fPr>
                      <m:num>
                        <m:r>
                          <a:rPr lang="en-US" i="1">
                            <a:latin typeface="Cambria Math" panose="02040503050406030204" pitchFamily="18" charset="0"/>
                          </a:rPr>
                          <m:t>1</m:t>
                        </m:r>
                      </m:num>
                      <m:den>
                        <m:r>
                          <a:rPr lang="en-US" i="1">
                            <a:latin typeface="Cambria Math" panose="02040503050406030204" pitchFamily="18" charset="0"/>
                          </a:rPr>
                          <m:t>65,536</m:t>
                        </m:r>
                      </m:den>
                    </m:f>
                  </m:oMath>
                </a14:m>
                <a:endParaRPr lang="en-US" dirty="0"/>
              </a:p>
              <a:p>
                <a:r>
                  <a:rPr lang="en-US" dirty="0"/>
                  <a:t>Thinking that an event is more likely based on past events when the events are statistical INDEPENDENT from one another is called the gambler’s fallacy. </a:t>
                </a:r>
              </a:p>
              <a:p>
                <a:endParaRPr lang="en-US" sz="2400" dirty="0"/>
              </a:p>
            </p:txBody>
          </p:sp>
        </mc:Choice>
        <mc:Fallback>
          <p:sp>
            <p:nvSpPr>
              <p:cNvPr id="8" name="Content Placeholder 2">
                <a:extLst>
                  <a:ext uri="{FF2B5EF4-FFF2-40B4-BE49-F238E27FC236}">
                    <a16:creationId xmlns:a16="http://schemas.microsoft.com/office/drawing/2014/main" id="{34761DD7-70FD-496F-0A09-2484B35AFC86}"/>
                  </a:ext>
                </a:extLst>
              </p:cNvPr>
              <p:cNvSpPr txBox="1">
                <a:spLocks noRot="1" noChangeAspect="1" noMove="1" noResize="1" noEditPoints="1" noAdjustHandles="1" noChangeArrowheads="1" noChangeShapeType="1" noTextEdit="1"/>
              </p:cNvSpPr>
              <p:nvPr/>
            </p:nvSpPr>
            <p:spPr>
              <a:xfrm>
                <a:off x="4847209" y="1846315"/>
                <a:ext cx="6506591" cy="4368054"/>
              </a:xfrm>
              <a:prstGeom prst="rect">
                <a:avLst/>
              </a:prstGeom>
              <a:blipFill>
                <a:blip r:embed="rId3"/>
                <a:stretch>
                  <a:fillRect l="-1589" t="-2228" r="-2710"/>
                </a:stretch>
              </a:blipFill>
            </p:spPr>
            <p:txBody>
              <a:bodyPr/>
              <a:lstStyle/>
              <a:p>
                <a:r>
                  <a:rPr lang="en-US">
                    <a:noFill/>
                  </a:rPr>
                  <a:t> </a:t>
                </a:r>
              </a:p>
            </p:txBody>
          </p:sp>
        </mc:Fallback>
      </mc:AlternateContent>
    </p:spTree>
    <p:extLst>
      <p:ext uri="{BB962C8B-B14F-4D97-AF65-F5344CB8AC3E}">
        <p14:creationId xmlns:p14="http://schemas.microsoft.com/office/powerpoint/2010/main" val="19790427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F6D17A-88D1-3D53-29C5-7F3520B3BC90}"/>
              </a:ext>
            </a:extLst>
          </p:cNvPr>
          <p:cNvSpPr>
            <a:spLocks noGrp="1"/>
          </p:cNvSpPr>
          <p:nvPr>
            <p:ph type="title"/>
          </p:nvPr>
        </p:nvSpPr>
        <p:spPr/>
        <p:txBody>
          <a:bodyPr/>
          <a:lstStyle/>
          <a:p>
            <a:pPr algn="ctr"/>
            <a:r>
              <a:rPr lang="en-US" u="sng" dirty="0"/>
              <a:t>Casino Problem Conclusions</a:t>
            </a:r>
          </a:p>
        </p:txBody>
      </p:sp>
      <p:sp>
        <p:nvSpPr>
          <p:cNvPr id="3" name="Content Placeholder 2">
            <a:extLst>
              <a:ext uri="{FF2B5EF4-FFF2-40B4-BE49-F238E27FC236}">
                <a16:creationId xmlns:a16="http://schemas.microsoft.com/office/drawing/2014/main" id="{E2D66E1E-F8A3-1382-7A6A-8A1E453D175D}"/>
              </a:ext>
            </a:extLst>
          </p:cNvPr>
          <p:cNvSpPr>
            <a:spLocks noGrp="1"/>
          </p:cNvSpPr>
          <p:nvPr>
            <p:ph idx="1"/>
          </p:nvPr>
        </p:nvSpPr>
        <p:spPr>
          <a:xfrm>
            <a:off x="838200" y="2020934"/>
            <a:ext cx="10515600" cy="4351338"/>
          </a:xfrm>
        </p:spPr>
        <p:style>
          <a:lnRef idx="2">
            <a:schemeClr val="accent6"/>
          </a:lnRef>
          <a:fillRef idx="1">
            <a:schemeClr val="lt1"/>
          </a:fillRef>
          <a:effectRef idx="0">
            <a:schemeClr val="accent6"/>
          </a:effectRef>
          <a:fontRef idx="minor">
            <a:schemeClr val="dk1"/>
          </a:fontRef>
        </p:style>
        <p:txBody>
          <a:bodyPr/>
          <a:lstStyle/>
          <a:p>
            <a:r>
              <a:rPr lang="en-US" dirty="0"/>
              <a:t>We saw that the probability of two specific sequences (15 black and 1 red) as opposed to (16 black) are equally likely. </a:t>
            </a:r>
          </a:p>
          <a:p>
            <a:r>
              <a:rPr lang="en-US" dirty="0"/>
              <a:t>Its important to understand when events are linked and effect one another (and when events are independent). </a:t>
            </a:r>
          </a:p>
          <a:p>
            <a:r>
              <a:rPr lang="en-US" dirty="0"/>
              <a:t>We can see that some conclusions make intuitive sense (e.g. it is more likely to get red on the next roll after seeing so many black). However it is important to use probability theory to analyze their accuracy. </a:t>
            </a:r>
          </a:p>
          <a:p>
            <a:r>
              <a:rPr lang="en-US" dirty="0"/>
              <a:t>Extra food for thought: How would you design a simulation in Python to test the </a:t>
            </a:r>
            <a:r>
              <a:rPr lang="en-US"/>
              <a:t>gamblers fallacy? </a:t>
            </a:r>
            <a:endParaRPr lang="en-US" dirty="0"/>
          </a:p>
        </p:txBody>
      </p:sp>
    </p:spTree>
    <p:extLst>
      <p:ext uri="{BB962C8B-B14F-4D97-AF65-F5344CB8AC3E}">
        <p14:creationId xmlns:p14="http://schemas.microsoft.com/office/powerpoint/2010/main" val="31395064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306EC-3C18-424E-8E26-3B7B1B219C85}"/>
              </a:ext>
            </a:extLst>
          </p:cNvPr>
          <p:cNvSpPr>
            <a:spLocks noGrp="1"/>
          </p:cNvSpPr>
          <p:nvPr>
            <p:ph type="title"/>
          </p:nvPr>
        </p:nvSpPr>
        <p:spPr/>
        <p:style>
          <a:lnRef idx="2">
            <a:schemeClr val="accent1"/>
          </a:lnRef>
          <a:fillRef idx="1">
            <a:schemeClr val="lt1"/>
          </a:fillRef>
          <a:effectRef idx="0">
            <a:schemeClr val="accent1"/>
          </a:effectRef>
          <a:fontRef idx="minor">
            <a:schemeClr val="dk1"/>
          </a:fontRef>
        </p:style>
        <p:txBody>
          <a:bodyPr/>
          <a:lstStyle/>
          <a:p>
            <a:pPr algn="ctr"/>
            <a:r>
              <a:rPr lang="en-US" dirty="0"/>
              <a:t>Figure Sources</a:t>
            </a:r>
          </a:p>
        </p:txBody>
      </p:sp>
      <p:sp>
        <p:nvSpPr>
          <p:cNvPr id="3" name="Content Placeholder 2">
            <a:extLst>
              <a:ext uri="{FF2B5EF4-FFF2-40B4-BE49-F238E27FC236}">
                <a16:creationId xmlns:a16="http://schemas.microsoft.com/office/drawing/2014/main" id="{57C7E7ED-6B0E-473A-84A5-16D3E95437EF}"/>
              </a:ext>
            </a:extLst>
          </p:cNvPr>
          <p:cNvSpPr>
            <a:spLocks noGrp="1"/>
          </p:cNvSpPr>
          <p:nvPr>
            <p:ph idx="1"/>
          </p:nvPr>
        </p:nvSpPr>
        <p:spPr/>
        <p:style>
          <a:lnRef idx="2">
            <a:schemeClr val="dk1"/>
          </a:lnRef>
          <a:fillRef idx="1">
            <a:schemeClr val="lt1"/>
          </a:fillRef>
          <a:effectRef idx="0">
            <a:schemeClr val="dk1"/>
          </a:effectRef>
          <a:fontRef idx="minor">
            <a:schemeClr val="dk1"/>
          </a:fontRef>
        </p:style>
        <p:txBody>
          <a:bodyPr>
            <a:normAutofit fontScale="55000" lnSpcReduction="20000"/>
          </a:bodyPr>
          <a:lstStyle/>
          <a:p>
            <a:r>
              <a:rPr lang="en-US" dirty="0">
                <a:hlinkClick r:id="rId2"/>
              </a:rPr>
              <a:t>https://gdb.voanews.com/2DAA72F0-CF5B-4D84-B996-8351DF7C1193_cx0_cy6_cw0_w1080_h608.jpg</a:t>
            </a:r>
            <a:endParaRPr lang="en-US" dirty="0"/>
          </a:p>
          <a:p>
            <a:r>
              <a:rPr lang="en-US" dirty="0">
                <a:hlinkClick r:id="rId3"/>
              </a:rPr>
              <a:t>https://upload.wikimedia.org/wikipedia/commons/thumb/0/0d/Sim%C3%A9onDenisPoisson.jpg/800px-Sim%C3%A9onDenisPoisson.jpg</a:t>
            </a:r>
            <a:endParaRPr lang="en-US" dirty="0"/>
          </a:p>
          <a:p>
            <a:r>
              <a:rPr lang="en-US" dirty="0">
                <a:hlinkClick r:id="rId4"/>
              </a:rPr>
              <a:t>https://cdn.britannica.com/27/190027-050-A9A35298/Carl-Friedrich-Gauss-engraving.jpg</a:t>
            </a:r>
            <a:endParaRPr lang="en-US" dirty="0"/>
          </a:p>
          <a:p>
            <a:r>
              <a:rPr lang="en-US" dirty="0">
                <a:hlinkClick r:id="rId5"/>
              </a:rPr>
              <a:t>https://upload.wikimedia.org/wikipedia/commons/thumb/a/ab/Florence_Nightingale_%28H_Hering_NPG_x82368%29.jpg/800px-Florence_Nightingale_%28H_Hering_NPG_x82368%29.jpg</a:t>
            </a:r>
            <a:endParaRPr lang="en-US" dirty="0"/>
          </a:p>
          <a:p>
            <a:r>
              <a:rPr lang="en-US" dirty="0">
                <a:hlinkClick r:id="rId6"/>
              </a:rPr>
              <a:t>https://upload.wikimedia.org/wikipedia/commons/1/1a/Crystal_Project_computer.png</a:t>
            </a:r>
            <a:endParaRPr lang="en-US" dirty="0"/>
          </a:p>
          <a:p>
            <a:r>
              <a:rPr lang="en-US" dirty="0">
                <a:hlinkClick r:id="rId7"/>
              </a:rPr>
              <a:t>https://herway.net/wp-content/uploads/2020/03/Confused-Man-8-Reasons-For-His-Uncertainty-And-How-To-Deal-With-It.jpg</a:t>
            </a:r>
            <a:endParaRPr lang="en-US" dirty="0"/>
          </a:p>
          <a:p>
            <a:r>
              <a:rPr lang="en-US" dirty="0">
                <a:hlinkClick r:id="rId8"/>
              </a:rPr>
              <a:t>https://theawesomedaily.com/wp-content/uploads/2020/04/puts-on-sunglasses-feat-1-1.jpg</a:t>
            </a:r>
            <a:endParaRPr lang="en-US" dirty="0"/>
          </a:p>
          <a:p>
            <a:r>
              <a:rPr lang="en-US" dirty="0">
                <a:hlinkClick r:id="rId9"/>
              </a:rPr>
              <a:t>https://cdn.vox-cdn.com/thumbor/mFiywP9BUHDC8AIRBDYJvXdfQiA=/1400x1050/filters:format(jpeg)/cdn.vox-cdn.com/uploads/chorus_asset/file/23265504/Spider_Man_meme.jpg</a:t>
            </a:r>
            <a:endParaRPr lang="en-US" dirty="0"/>
          </a:p>
          <a:p>
            <a:r>
              <a:rPr lang="en-US" dirty="0">
                <a:hlinkClick r:id="rId10"/>
              </a:rPr>
              <a:t>https://i.ytimg.com/vi/elmZ-SFw5a4/maxresdefault.jpg</a:t>
            </a:r>
            <a:endParaRPr lang="en-US" dirty="0"/>
          </a:p>
          <a:p>
            <a:r>
              <a:rPr lang="en-US" dirty="0">
                <a:hlinkClick r:id="rId11"/>
              </a:rPr>
              <a:t>https://1000logos.net/wp-content/uploads/2022/08/MIT-Logo.png</a:t>
            </a:r>
            <a:endParaRPr lang="en-US" dirty="0"/>
          </a:p>
          <a:p>
            <a:r>
              <a:rPr lang="en-US" dirty="0">
                <a:hlinkClick r:id="rId12"/>
              </a:rPr>
              <a:t>https://ocw.mit.edu/courses/18-05-introduction-to-probability-and-statistics-spring-2014/pages/class-slides/</a:t>
            </a:r>
            <a:endParaRPr lang="en-US" dirty="0"/>
          </a:p>
          <a:p>
            <a:r>
              <a:rPr lang="en-US" dirty="0">
                <a:hlinkClick r:id="rId13"/>
              </a:rPr>
              <a:t>https://focusgn.com/wp-content/uploads/2020/08/monte-carlo-casino-introduces-digital-french-roulette-600x400.jpg</a:t>
            </a:r>
            <a:endParaRPr lang="en-US" dirty="0"/>
          </a:p>
          <a:p>
            <a:endParaRPr lang="en-US" dirty="0"/>
          </a:p>
          <a:p>
            <a:endParaRPr lang="en-US" dirty="0"/>
          </a:p>
          <a:p>
            <a:endParaRPr lang="en-US"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13857650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1528</Words>
  <Application>Microsoft Office PowerPoint</Application>
  <PresentationFormat>Widescreen</PresentationFormat>
  <Paragraphs>120</Paragraphs>
  <Slides>44</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Cambria Math</vt:lpstr>
      <vt:lpstr>Office Theme</vt:lpstr>
      <vt:lpstr>CSE 2500: Introduction to Discrete Systems</vt:lpstr>
      <vt:lpstr>Review From Last Lecture</vt:lpstr>
      <vt:lpstr>A quick aside: What is the difference between probability and statistics? </vt:lpstr>
      <vt:lpstr>A Process with Multiple Random Experiments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Permutations of r Elements Selected from n objects</vt:lpstr>
      <vt:lpstr>PowerPoint Presentation</vt:lpstr>
      <vt:lpstr>PowerPoint Presentation</vt:lpstr>
      <vt:lpstr>PowerPoint Presentation</vt:lpstr>
      <vt:lpstr>PowerPoint Presentation</vt:lpstr>
      <vt:lpstr>PowerPoint Presentation</vt:lpstr>
      <vt:lpstr>Some more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And now it’s time to go to MIT.</vt:lpstr>
      <vt:lpstr>Random Variables and Functions</vt:lpstr>
      <vt:lpstr> What is a Probability Distribution? </vt:lpstr>
      <vt:lpstr>Probability Distribution Example</vt:lpstr>
      <vt:lpstr>Probability Distribution Example</vt:lpstr>
      <vt:lpstr>Why do we need probability distributions?</vt:lpstr>
      <vt:lpstr>PowerPoint Presentation</vt:lpstr>
      <vt:lpstr>PMF of the Bernoulli Distribution</vt:lpstr>
      <vt:lpstr>Bernoulli Distribution to Binomial</vt:lpstr>
      <vt:lpstr>Bernoulli Distribution to Binomial</vt:lpstr>
      <vt:lpstr>Back to the Casino Problem…</vt:lpstr>
      <vt:lpstr>Back to the Casino Problem…2</vt:lpstr>
      <vt:lpstr>Back to the Casino Problem…3</vt:lpstr>
      <vt:lpstr>Casino Problem Conclusions</vt:lpstr>
      <vt:lpstr>Figure 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2500: Introduction to Discrete Systems</dc:title>
  <dc:creator>K M</dc:creator>
  <cp:lastModifiedBy>K M</cp:lastModifiedBy>
  <cp:revision>43</cp:revision>
  <dcterms:created xsi:type="dcterms:W3CDTF">2022-11-14T20:32:15Z</dcterms:created>
  <dcterms:modified xsi:type="dcterms:W3CDTF">2022-11-15T03:17:41Z</dcterms:modified>
</cp:coreProperties>
</file>