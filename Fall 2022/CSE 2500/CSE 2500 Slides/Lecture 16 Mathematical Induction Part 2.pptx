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DD464-ED45-2D68-2C84-866B36FF2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15CB1-B558-7AC2-AB8A-8D1B0F6A7E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D565B-99EB-6A8C-3931-D13971A17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B4CC-C816-4A6B-A0C5-FB091384BB04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DC067-862F-6EA4-0590-D2E974207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1C904-6CB1-61CB-0338-45F1D297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E15F-E8B6-4E8E-AC63-ABEE64F50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28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44D1D-A7FF-5CD9-B5D4-E510D26C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14742-00AA-50A3-28C6-202E7C081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64A2A-588F-E365-EEA6-1AFDF8EA3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B4CC-C816-4A6B-A0C5-FB091384BB04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C55FC-449A-7AB3-F0EE-EA5BF7ED6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566A6-4B25-CA19-E533-22BD9122B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E15F-E8B6-4E8E-AC63-ABEE64F50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4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758B-C360-E2BB-15B8-C76271902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59CC2-C0E0-92DC-5C1C-775FE9F7E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D3E1A-64D6-0756-DA48-70C3CB390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B4CC-C816-4A6B-A0C5-FB091384BB04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77444-E080-878F-ABDA-F3A8EFD0E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85CC0-6512-103C-4D98-C2DC5C1B5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E15F-E8B6-4E8E-AC63-ABEE64F50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7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421B6-04C2-6E50-BCCF-40E66A784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AD3D6-3264-7E12-8A09-AB0BF62F9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9E446-E7ED-5DF1-3BBA-276B52A1E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EFC19-B6FF-2864-4919-C04BBCB3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B4CC-C816-4A6B-A0C5-FB091384BB04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D8942-3996-69E8-89D5-33E08145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F9AAC-67C9-8384-BB10-5CED6C74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E15F-E8B6-4E8E-AC63-ABEE64F50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68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8F003-FD7E-AAED-AA3E-6B3F42C6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8DEF7-31C1-AFD3-93E7-B3F1620F3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CA1D2-57A8-241E-630F-DBA3E8E10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982BFB-F82E-07D0-1025-47354BFB0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32CBD6-280A-4A28-8DB8-06BCEA8DE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FEF225-6D6A-A56E-7D55-A26EF3EB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B4CC-C816-4A6B-A0C5-FB091384BB04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F12ACD-88D5-8657-A9D2-9CB81B6A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206002-8B44-950C-BA40-059DD887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E15F-E8B6-4E8E-AC63-ABEE64F50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10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44EF-6094-3DB5-F92F-97981446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E2808C-EF3D-7C13-1A9E-ECB2B9D7D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B4CC-C816-4A6B-A0C5-FB091384BB04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FCDB25-8ACC-E316-A487-E7648089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DC2B2-B005-11FC-9E64-803F8BF93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E15F-E8B6-4E8E-AC63-ABEE64F50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7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F2F48-D37A-A211-16DB-48C77E794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B4CC-C816-4A6B-A0C5-FB091384BB04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917F89-B39F-46A0-FF61-6D17A76A1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05BEE-9894-A962-0930-058149BE7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E15F-E8B6-4E8E-AC63-ABEE64F50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94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457A0-050D-4676-AE7B-B31E561B3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98BE1-9765-06EE-0986-726A864F3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4B437-55F5-9EB7-E0A6-5A932ADF4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21AF2-F9DC-C1C4-E73A-5B4AD8F56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B4CC-C816-4A6B-A0C5-FB091384BB04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2AF10-8509-A3DE-2437-D3579C1F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CCCBC-93C6-4DC2-DC2B-646422362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E15F-E8B6-4E8E-AC63-ABEE64F50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1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3DB8-464E-A818-0E91-3A94BCEB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B886D4-AF31-AF20-0CC1-2C0EEDF8D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6F1CD-BEF6-C18D-BC7F-73DAFE699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1F817-F68B-2D15-5863-3A5F875A4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B4CC-C816-4A6B-A0C5-FB091384BB04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0982D-E2DA-2CCB-B3D6-2F664361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9BA7D-42D2-91A2-7447-46E60E228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E15F-E8B6-4E8E-AC63-ABEE64F50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90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F476C-7975-DD7E-4CC9-0937F496C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E1F2C-8B26-BF91-B7E4-E91F28657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ED0A1-0649-A01B-A780-C042F8DE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B4CC-C816-4A6B-A0C5-FB091384BB04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2C570-D12C-0383-E062-4618AEC9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E6D3F-F9DC-8319-4941-A1B2A881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E15F-E8B6-4E8E-AC63-ABEE64F50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49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1F9E12-C770-55CA-293E-184FBA5B3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567C2-09E7-250C-B610-A37E0B94E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0F79D-6E70-F210-F8DD-9275CE45B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B4CC-C816-4A6B-A0C5-FB091384BB04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AEBB9-46F9-15E6-9F2C-7653B1AF7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D05D7-4515-BBFA-0FB9-AF2A72206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E15F-E8B6-4E8E-AC63-ABEE64F50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09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B33C0D-500E-4F3E-726C-5BEA1BC20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895BC-C420-62C7-16E3-5BF502471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924F1-0185-3C31-0D7E-E1D6A96A05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DB4CC-C816-4A6B-A0C5-FB091384BB04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C6F91-C38C-98C3-67DF-B2CDBF55CF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E9829-FB1D-59F3-23BD-2ABCD76A1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8E15F-E8B6-4E8E-AC63-ABEE64F50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36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ic.wikia.nocookie.net/batman/images/a/a4/The_Riddler_%28BF%29.jpg/revision/latest?cb=20120718050811" TargetMode="External"/><Relationship Id="rId2" Type="http://schemas.openxmlformats.org/officeDocument/2006/relationships/hyperlink" Target="https://cdn.kapwing.com/collections/strong-dog-vs-weak-dog-meme-template-5165m.jp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C04B-99DA-465F-9622-6B3B5A36C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39902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r>
              <a:rPr lang="en-US" sz="4800" dirty="0"/>
              <a:t>CSE 2500: Introduction to Discrete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45AFA-748C-4441-9A3A-253D6A215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0693" y="5202238"/>
            <a:ext cx="9144000" cy="1655762"/>
          </a:xfrm>
        </p:spPr>
        <p:txBody>
          <a:bodyPr/>
          <a:lstStyle/>
          <a:p>
            <a:r>
              <a:rPr lang="en-US" dirty="0"/>
              <a:t>Kaleel Mahmood </a:t>
            </a:r>
          </a:p>
          <a:p>
            <a:r>
              <a:rPr lang="en-US" dirty="0"/>
              <a:t>Department of Computer Science and Engineering</a:t>
            </a:r>
          </a:p>
          <a:p>
            <a:r>
              <a:rPr lang="en-US" dirty="0"/>
              <a:t>University of Connecticut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2CB5F35-6329-406D-89BD-C9BBF92B1EAD}"/>
              </a:ext>
            </a:extLst>
          </p:cNvPr>
          <p:cNvSpPr txBox="1">
            <a:spLocks/>
          </p:cNvSpPr>
          <p:nvPr/>
        </p:nvSpPr>
        <p:spPr>
          <a:xfrm>
            <a:off x="0" y="2959075"/>
            <a:ext cx="12192000" cy="93984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/>
              <a:t>Lecture 16: </a:t>
            </a:r>
            <a:r>
              <a:rPr lang="en-US" sz="7200" dirty="0"/>
              <a:t>Mathematical Induction Part 2</a:t>
            </a:r>
          </a:p>
        </p:txBody>
      </p:sp>
    </p:spTree>
    <p:extLst>
      <p:ext uri="{BB962C8B-B14F-4D97-AF65-F5344CB8AC3E}">
        <p14:creationId xmlns:p14="http://schemas.microsoft.com/office/powerpoint/2010/main" val="252123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6FABE0-E674-4DB1-946C-A724AD429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41" y="229625"/>
            <a:ext cx="10414518" cy="639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8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1EAF32-9350-4DAE-A26F-74FC2D997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55" y="175047"/>
            <a:ext cx="11330281" cy="14671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C03E49-7CE1-47BC-BCB6-39782492D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660" y="1642189"/>
            <a:ext cx="10100679" cy="490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85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2B77CA-5CB2-4812-807D-9BB47CB4E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81" y="662393"/>
            <a:ext cx="10510837" cy="553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15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5DD85A-14CA-466B-950B-36F5F8DB0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380" y="68424"/>
            <a:ext cx="8810625" cy="472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CC4488-1803-4166-AFD1-6A83D438B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904" y="4981672"/>
            <a:ext cx="8791575" cy="1000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4EF24C-8B78-48D4-9140-D52A1B166A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5192" t="40117" r="1858"/>
          <a:stretch/>
        </p:blipFill>
        <p:spPr>
          <a:xfrm>
            <a:off x="9458325" y="5682343"/>
            <a:ext cx="506769" cy="2994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AD7793-BBA6-40F8-8776-BB8B379063A5}"/>
              </a:ext>
            </a:extLst>
          </p:cNvPr>
          <p:cNvSpPr txBox="1"/>
          <p:nvPr/>
        </p:nvSpPr>
        <p:spPr>
          <a:xfrm>
            <a:off x="1793521" y="5893808"/>
            <a:ext cx="81810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We can conclude that the theorem is true.</a:t>
            </a:r>
          </a:p>
        </p:txBody>
      </p:sp>
    </p:spTree>
    <p:extLst>
      <p:ext uri="{BB962C8B-B14F-4D97-AF65-F5344CB8AC3E}">
        <p14:creationId xmlns:p14="http://schemas.microsoft.com/office/powerpoint/2010/main" val="169004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93E37-E398-4283-9E0E-BBAACF0B7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3843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Whiteboard Example</a:t>
            </a:r>
          </a:p>
        </p:txBody>
      </p:sp>
    </p:spTree>
    <p:extLst>
      <p:ext uri="{BB962C8B-B14F-4D97-AF65-F5344CB8AC3E}">
        <p14:creationId xmlns:p14="http://schemas.microsoft.com/office/powerpoint/2010/main" val="3997386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1643F-0639-4E12-A7D2-ACB6A5D6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Next Topic…</a:t>
            </a:r>
          </a:p>
        </p:txBody>
      </p:sp>
      <p:pic>
        <p:nvPicPr>
          <p:cNvPr id="1026" name="Picture 2" descr="Strong Dog Vs Weak Dog Meme Template">
            <a:extLst>
              <a:ext uri="{FF2B5EF4-FFF2-40B4-BE49-F238E27FC236}">
                <a16:creationId xmlns:a16="http://schemas.microsoft.com/office/drawing/2014/main" id="{7DCC8061-AC9C-4F5B-A165-51D8A38149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83" b="3607"/>
          <a:stretch/>
        </p:blipFill>
        <p:spPr bwMode="auto">
          <a:xfrm flipH="1">
            <a:off x="1684175" y="1864892"/>
            <a:ext cx="8823650" cy="462798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0BA9C6-F177-49A5-BCD6-1D53382D2149}"/>
              </a:ext>
            </a:extLst>
          </p:cNvPr>
          <p:cNvSpPr txBox="1"/>
          <p:nvPr/>
        </p:nvSpPr>
        <p:spPr>
          <a:xfrm>
            <a:off x="2642117" y="2804622"/>
            <a:ext cx="25659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Mathematical Induction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8594B3-31F2-430A-BEF4-DBC99A5C1AE5}"/>
              </a:ext>
            </a:extLst>
          </p:cNvPr>
          <p:cNvSpPr txBox="1"/>
          <p:nvPr/>
        </p:nvSpPr>
        <p:spPr>
          <a:xfrm>
            <a:off x="6704044" y="2043404"/>
            <a:ext cx="342433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STRONG Mathematical Induction</a:t>
            </a:r>
          </a:p>
        </p:txBody>
      </p:sp>
    </p:spTree>
    <p:extLst>
      <p:ext uri="{BB962C8B-B14F-4D97-AF65-F5344CB8AC3E}">
        <p14:creationId xmlns:p14="http://schemas.microsoft.com/office/powerpoint/2010/main" val="3440823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AF8A8E-206B-4C60-B29D-867F7900F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057" y="-13996"/>
            <a:ext cx="9379501" cy="47258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806845-76BE-47F5-9E90-14A94BD6E9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771"/>
          <a:stretch/>
        </p:blipFill>
        <p:spPr>
          <a:xfrm>
            <a:off x="2151410" y="4725895"/>
            <a:ext cx="7889180" cy="213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46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AD089-3F7A-4C04-8FC4-91B50BDA44D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Strong Mathematical Induction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C8D64-CFFE-4470-8A4A-1B3A9DBD9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36" y="1811922"/>
            <a:ext cx="10055192" cy="48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11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62CB-0763-4AB6-81AA-670FA35D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Before proving, first sketch the first few terms...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4BA10D-D534-442E-AE04-1EE894DDB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661" y="3554347"/>
            <a:ext cx="9246678" cy="24462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D865C4-12C5-4817-A5AD-F3DFBE612F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489" t="29732" r="8320" b="57976"/>
          <a:stretch/>
        </p:blipFill>
        <p:spPr>
          <a:xfrm>
            <a:off x="3247053" y="1266322"/>
            <a:ext cx="7066768" cy="77444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72FC72-8F88-4890-A760-441890B68465}"/>
                  </a:ext>
                </a:extLst>
              </p:cNvPr>
              <p:cNvSpPr txBox="1"/>
              <p:nvPr/>
            </p:nvSpPr>
            <p:spPr>
              <a:xfrm>
                <a:off x="1595535" y="1242376"/>
                <a:ext cx="194076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72FC72-8F88-4890-A760-441890B68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535" y="1242376"/>
                <a:ext cx="1940767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713B48-F48C-4B3B-844B-1B99E812A3C6}"/>
                  </a:ext>
                </a:extLst>
              </p:cNvPr>
              <p:cNvSpPr txBox="1"/>
              <p:nvPr/>
            </p:nvSpPr>
            <p:spPr>
              <a:xfrm>
                <a:off x="2797628" y="2392879"/>
                <a:ext cx="6596743" cy="71885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713B48-F48C-4B3B-844B-1B99E812A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628" y="2392879"/>
                <a:ext cx="6596743" cy="7188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334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AD089-3F7A-4C04-8FC4-91B50BDA44D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Strong Mathematical Induction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F63EEE-C675-4B71-B7E0-0C817106D4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1792"/>
          <a:stretch/>
        </p:blipFill>
        <p:spPr>
          <a:xfrm>
            <a:off x="1147762" y="1856792"/>
            <a:ext cx="9896475" cy="15722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1FA0E2-D7BC-4312-875D-384C4CEB7B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407" b="1"/>
          <a:stretch/>
        </p:blipFill>
        <p:spPr>
          <a:xfrm>
            <a:off x="1147762" y="3429000"/>
            <a:ext cx="9896475" cy="245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63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AD089-3F7A-4C04-8FC4-91B50BDA44D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Strong Mathematical Induction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0F7228-CFF2-47DC-B439-F08403A01A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787"/>
          <a:stretch/>
        </p:blipFill>
        <p:spPr>
          <a:xfrm>
            <a:off x="1152525" y="4208106"/>
            <a:ext cx="9886950" cy="25609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FBA512-DE12-4FD0-A9A2-251B328586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715"/>
          <a:stretch/>
        </p:blipFill>
        <p:spPr>
          <a:xfrm>
            <a:off x="1152525" y="1846196"/>
            <a:ext cx="9886950" cy="246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030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98CB31-AE97-40E7-9E8B-61F40BE1C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87" y="0"/>
            <a:ext cx="10029825" cy="16573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9B0218-C76C-4E33-B591-42AB3FB649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l="1129" t="48787" r="2307" b="35726"/>
          <a:stretch/>
        </p:blipFill>
        <p:spPr>
          <a:xfrm>
            <a:off x="1194318" y="1847461"/>
            <a:ext cx="9685176" cy="7744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247EE5-1A7F-47FD-81C8-4277FD76F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9638" y="2812013"/>
            <a:ext cx="4438650" cy="590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0A5894-8164-413D-B88E-4FDF2A75E4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9638" y="3616974"/>
            <a:ext cx="5724525" cy="619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8D83E0-70BE-4523-96A2-F77C8148DC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9638" y="4406674"/>
            <a:ext cx="5486400" cy="9429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462541D-0380-481C-BC00-D58CF33A1F7B}"/>
              </a:ext>
            </a:extLst>
          </p:cNvPr>
          <p:cNvSpPr/>
          <p:nvPr/>
        </p:nvSpPr>
        <p:spPr>
          <a:xfrm>
            <a:off x="3135086" y="3616974"/>
            <a:ext cx="1483567" cy="619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1DBD99-A230-4667-93E9-55559DE1DAE0}"/>
              </a:ext>
            </a:extLst>
          </p:cNvPr>
          <p:cNvSpPr/>
          <p:nvPr/>
        </p:nvSpPr>
        <p:spPr>
          <a:xfrm>
            <a:off x="4894101" y="3616974"/>
            <a:ext cx="1234946" cy="619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BF9719-211D-42CD-9FC8-7B74C9ADCC37}"/>
              </a:ext>
            </a:extLst>
          </p:cNvPr>
          <p:cNvCxnSpPr>
            <a:cxnSpLocks/>
          </p:cNvCxnSpPr>
          <p:nvPr/>
        </p:nvCxnSpPr>
        <p:spPr>
          <a:xfrm>
            <a:off x="3433665" y="3241026"/>
            <a:ext cx="447870" cy="3759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D7CBC0-36B3-4A5E-AA64-A84F5172B07A}"/>
              </a:ext>
            </a:extLst>
          </p:cNvPr>
          <p:cNvCxnSpPr>
            <a:cxnSpLocks/>
          </p:cNvCxnSpPr>
          <p:nvPr/>
        </p:nvCxnSpPr>
        <p:spPr>
          <a:xfrm>
            <a:off x="6718041" y="4068147"/>
            <a:ext cx="726767" cy="3294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E381208-8DBF-4657-9E89-E00D0C2000F9}"/>
              </a:ext>
            </a:extLst>
          </p:cNvPr>
          <p:cNvSpPr/>
          <p:nvPr/>
        </p:nvSpPr>
        <p:spPr>
          <a:xfrm>
            <a:off x="6212828" y="4397635"/>
            <a:ext cx="2133210" cy="538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C0BA39C-5B5E-44F7-B0A7-C657321A7168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3433665" y="3241026"/>
            <a:ext cx="2077909" cy="3759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7F370D71-75B2-4746-919B-BA5E3FC1C8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9638" y="5734050"/>
            <a:ext cx="4648200" cy="112395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FF60D90-0E07-4FFF-9208-16F75C393AF3}"/>
              </a:ext>
            </a:extLst>
          </p:cNvPr>
          <p:cNvSpPr txBox="1"/>
          <p:nvPr/>
        </p:nvSpPr>
        <p:spPr>
          <a:xfrm>
            <a:off x="176017" y="5780782"/>
            <a:ext cx="25858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Do some simplification:</a:t>
            </a:r>
          </a:p>
        </p:txBody>
      </p:sp>
    </p:spTree>
    <p:extLst>
      <p:ext uri="{BB962C8B-B14F-4D97-AF65-F5344CB8AC3E}">
        <p14:creationId xmlns:p14="http://schemas.microsoft.com/office/powerpoint/2010/main" val="258330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22" grpId="0" animBg="1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7F1E81-E940-43D8-A1C4-B462B5BA2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6" y="564307"/>
            <a:ext cx="9877425" cy="6181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9376BE-EDB5-429E-AF99-AA2FAA8A005A}"/>
              </a:ext>
            </a:extLst>
          </p:cNvPr>
          <p:cNvSpPr txBox="1"/>
          <p:nvPr/>
        </p:nvSpPr>
        <p:spPr>
          <a:xfrm>
            <a:off x="2167811" y="0"/>
            <a:ext cx="7856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The whole picture:</a:t>
            </a:r>
          </a:p>
        </p:txBody>
      </p:sp>
    </p:spTree>
    <p:extLst>
      <p:ext uri="{BB962C8B-B14F-4D97-AF65-F5344CB8AC3E}">
        <p14:creationId xmlns:p14="http://schemas.microsoft.com/office/powerpoint/2010/main" val="4183987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BD28A-3AAF-4C9F-94F9-3996BDB34D9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u="sng" dirty="0"/>
              <a:t>Time for a riddle…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0AC19-1360-40C0-8F74-86EC7207F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758" y="1825625"/>
            <a:ext cx="7352523" cy="140276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400" dirty="0"/>
              <a:t>3,5,7… what is the next number in the sequence?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88FB5-C55B-4856-A6B5-F8BE8A2E1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8492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295026">
            <a:off x="-317192" y="2028616"/>
            <a:ext cx="4646081" cy="511686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3D8AF6-BF5A-4AC7-8CD6-C0E17BD35BFC}"/>
              </a:ext>
            </a:extLst>
          </p:cNvPr>
          <p:cNvSpPr txBox="1">
            <a:spLocks/>
          </p:cNvSpPr>
          <p:nvPr/>
        </p:nvSpPr>
        <p:spPr>
          <a:xfrm>
            <a:off x="4254758" y="3511824"/>
            <a:ext cx="7352523" cy="31409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Actually its impossible to say without more information. Why?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/>
              <a:t>The sequence could be the list of prime numbers starting at 3. So 3,5,7,11,…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/>
              <a:t>The sequence could be the list of odd numbers starting at 3. So 3,5,7,9….</a:t>
            </a:r>
          </a:p>
        </p:txBody>
      </p:sp>
    </p:spTree>
    <p:extLst>
      <p:ext uri="{BB962C8B-B14F-4D97-AF65-F5344CB8AC3E}">
        <p14:creationId xmlns:p14="http://schemas.microsoft.com/office/powerpoint/2010/main" val="1236413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C3B59-B459-4C40-9B3B-75F5D6A34C70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Question: How can we avoid ambiguous number sequences?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BAC63E-08B2-45BF-8877-8ACB757E69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Solutions:</a:t>
                </a:r>
              </a:p>
              <a:p>
                <a:pPr marL="0" indent="0">
                  <a:buNone/>
                </a:pPr>
                <a:endParaRPr lang="en-US" sz="32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200" dirty="0"/>
                  <a:t>Change our major to English.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200" dirty="0"/>
                  <a:t>Define a sequence using a formula for each term as a function of some index. For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. Drawback: May be hard to figure out the function.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200" dirty="0"/>
                  <a:t>Define the sequence using a recurrence relation.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BAC63E-08B2-45BF-8877-8ACB757E69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6" t="-2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9907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FD5B3C-0CC1-41D1-B6FB-7910866E3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10" y="1069911"/>
            <a:ext cx="10819179" cy="485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55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4F47CA-FE9E-477D-BEAF-05D51EF77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81051" cy="29075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42EA96-09B6-4EA0-805E-90EF541A8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773" y="2430367"/>
            <a:ext cx="6957187" cy="41757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572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1384-88CC-41DD-80F5-5F7F054A6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Figure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FAA55-023E-4D7B-B2CD-7CE232592F3C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hlinkClick r:id="rId2"/>
              </a:rPr>
              <a:t>https://cdn.kapwing.com/collections/strong-dog-vs-weak-dog-meme-template-5165m.jpg</a:t>
            </a:r>
            <a:endParaRPr lang="en-US" dirty="0"/>
          </a:p>
          <a:p>
            <a:r>
              <a:rPr lang="en-US" dirty="0">
                <a:hlinkClick r:id="rId3"/>
              </a:rPr>
              <a:t>https://static.wikia.nocookie.net/batman/images/a/a4/The_Riddler_%28BF%29.jpg/revision/latest?cb=20120718050811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021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252</Words>
  <Application>Microsoft Office PowerPoint</Application>
  <PresentationFormat>Widescreen</PresentationFormat>
  <Paragraphs>32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Office Theme</vt:lpstr>
      <vt:lpstr>CSE 2500: Introduction to Discrete Systems</vt:lpstr>
      <vt:lpstr>PowerPoint Presentation</vt:lpstr>
      <vt:lpstr>PowerPoint Presentation</vt:lpstr>
      <vt:lpstr>PowerPoint Presentation</vt:lpstr>
      <vt:lpstr>PowerPoint Presentation</vt:lpstr>
      <vt:lpstr>Whiteboard Example</vt:lpstr>
      <vt:lpstr>Next Topic…</vt:lpstr>
      <vt:lpstr>PowerPoint Presentation</vt:lpstr>
      <vt:lpstr>Strong Mathematical Induction Example</vt:lpstr>
      <vt:lpstr>Before proving, first sketch the first few terms...</vt:lpstr>
      <vt:lpstr>Strong Mathematical Induction Example</vt:lpstr>
      <vt:lpstr>Strong Mathematical Induction Example</vt:lpstr>
      <vt:lpstr>PowerPoint Presentation</vt:lpstr>
      <vt:lpstr>PowerPoint Presentation</vt:lpstr>
      <vt:lpstr>Time for a riddle…</vt:lpstr>
      <vt:lpstr>Question: How can we avoid ambiguous number sequences? </vt:lpstr>
      <vt:lpstr>PowerPoint Presentation</vt:lpstr>
      <vt:lpstr>PowerPoint Presentation</vt:lpstr>
      <vt:lpstr>Figure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2500: Introduction to Discrete Systems</dc:title>
  <dc:creator>K M</dc:creator>
  <cp:lastModifiedBy>K M</cp:lastModifiedBy>
  <cp:revision>7</cp:revision>
  <dcterms:created xsi:type="dcterms:W3CDTF">2022-10-25T20:56:11Z</dcterms:created>
  <dcterms:modified xsi:type="dcterms:W3CDTF">2022-10-26T21:40:51Z</dcterms:modified>
</cp:coreProperties>
</file>