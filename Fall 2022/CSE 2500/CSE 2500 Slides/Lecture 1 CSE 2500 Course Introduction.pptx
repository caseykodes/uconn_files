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6"/>
  </p:notesMasterIdLst>
  <p:sldIdLst>
    <p:sldId id="257" r:id="rId2"/>
    <p:sldId id="282" r:id="rId3"/>
    <p:sldId id="259" r:id="rId4"/>
    <p:sldId id="260" r:id="rId5"/>
    <p:sldId id="261" r:id="rId6"/>
    <p:sldId id="262" r:id="rId7"/>
    <p:sldId id="263" r:id="rId8"/>
    <p:sldId id="264" r:id="rId9"/>
    <p:sldId id="258" r:id="rId10"/>
    <p:sldId id="265" r:id="rId11"/>
    <p:sldId id="268" r:id="rId12"/>
    <p:sldId id="269" r:id="rId13"/>
    <p:sldId id="270" r:id="rId14"/>
    <p:sldId id="266" r:id="rId15"/>
    <p:sldId id="271" r:id="rId16"/>
    <p:sldId id="272" r:id="rId17"/>
    <p:sldId id="273" r:id="rId18"/>
    <p:sldId id="275" r:id="rId19"/>
    <p:sldId id="274" r:id="rId20"/>
    <p:sldId id="277" r:id="rId21"/>
    <p:sldId id="278" r:id="rId22"/>
    <p:sldId id="281" r:id="rId23"/>
    <p:sldId id="280" r:id="rId24"/>
    <p:sldId id="267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2" d="100"/>
          <a:sy n="82" d="100"/>
        </p:scale>
        <p:origin x="691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643CCBF-52EE-4B70-9A0D-D61D7A62B170}" type="datetimeFigureOut">
              <a:rPr lang="en-US" smtClean="0"/>
              <a:t>8/30/2022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B5F8D5-3FA6-48B3-98DD-97F3E3DB42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50970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B5F8D5-3FA6-48B3-98DD-97F3E3DB4228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076474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B5F8D5-3FA6-48B3-98DD-97F3E3DB4228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565471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B5F8D5-3FA6-48B3-98DD-97F3E3DB4228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103399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B5F8D5-3FA6-48B3-98DD-97F3E3DB4228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083680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B5F8D5-3FA6-48B3-98DD-97F3E3DB4228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642155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B5F8D5-3FA6-48B3-98DD-97F3E3DB4228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57092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B5F8D5-3FA6-48B3-98DD-97F3E3DB4228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064037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B5F8D5-3FA6-48B3-98DD-97F3E3DB4228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98207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7E63D3-FBD4-4C96-B5AD-58F8FFF7CFD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1B35023-7187-4EEE-9ACC-CA2C99DA000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BA1D4B-CBC8-441E-AEDB-0E7CA6508E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992A70-A698-4A85-AA7F-CFB12103E15B}" type="datetimeFigureOut">
              <a:rPr lang="en-US" smtClean="0"/>
              <a:t>8/30/2022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0C8EFC-DCD4-4FD4-988F-695FFB0444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EB7741-E892-40DA-A028-B62C149714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6F00F7-C09D-46F6-A219-9C1528E0CB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12469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74FA96-0000-4F45-B07C-947B85A723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CAEC73-5050-44B8-8D83-E313F21B0F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C30BFC-9E24-4C81-8951-B4B0660DCF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992A70-A698-4A85-AA7F-CFB12103E15B}" type="datetimeFigureOut">
              <a:rPr lang="en-US" smtClean="0"/>
              <a:t>8/30/2022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8E65B9-D9E4-47EB-B78B-C2710D64AB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2B71C5-458D-456D-B649-F7DEF2764D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6F00F7-C09D-46F6-A219-9C1528E0CB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07536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6A2279-DCC8-4135-8D6D-CD8CC82F9C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CA3E0E-788F-49EB-A140-560AA6F9C7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8DD62E-CEFA-43CC-B4B8-7F2AD1F282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992A70-A698-4A85-AA7F-CFB12103E15B}" type="datetimeFigureOut">
              <a:rPr lang="en-US" smtClean="0"/>
              <a:t>8/30/2022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432579-10A2-4A3E-836E-E0FDAE8E92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51E344-E84E-4C77-8D84-29118AA1D3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6F00F7-C09D-46F6-A219-9C1528E0CB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0599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617A4D-637A-4ABF-8E5C-1A7A504A08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B019E0-E82F-47CA-8D59-9A899041F53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9A3F4A-F34C-4A38-972B-76EF68C892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FEAA489-5259-4FB1-A384-D7154667E4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992A70-A698-4A85-AA7F-CFB12103E15B}" type="datetimeFigureOut">
              <a:rPr lang="en-US" smtClean="0"/>
              <a:t>8/30/2022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87E7C5-678A-4778-9D26-AF6EC962DA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96C5F6-C190-4650-8BF1-6115874FF9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6F00F7-C09D-46F6-A219-9C1528E0CB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67407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C57614-3BFE-4872-AE27-EE2F538FB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F88B17-AA24-4F30-924E-9A35366CB2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AA55385-4130-4D8B-B61E-B50A66C0EE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3AD68AA-4173-4B1E-82C5-64B8C4C80C8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39771E0-9D36-4214-B033-FDA3420462B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A004BE8-CA5C-4761-AA00-65D933E235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992A70-A698-4A85-AA7F-CFB12103E15B}" type="datetimeFigureOut">
              <a:rPr lang="en-US" smtClean="0"/>
              <a:t>8/30/2022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6DAB3CA-2382-4B55-B015-81AC447BA6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27F8490-0252-4B02-BD25-60C4761EA9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6F00F7-C09D-46F6-A219-9C1528E0CB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29861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EB1527-23A5-4CED-959A-443770AF7A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C6E5752-FF86-47FA-88F9-DDC843FC67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992A70-A698-4A85-AA7F-CFB12103E15B}" type="datetimeFigureOut">
              <a:rPr lang="en-US" smtClean="0"/>
              <a:t>8/30/2022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BEE7F34-AF55-4B49-984B-840D7BC94B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46D7CAD-FA79-4AAA-A733-AFFE42EE87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6F00F7-C09D-46F6-A219-9C1528E0CB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3540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F2A1628-92ED-4E31-BBF3-205407CF53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992A70-A698-4A85-AA7F-CFB12103E15B}" type="datetimeFigureOut">
              <a:rPr lang="en-US" smtClean="0"/>
              <a:t>8/30/2022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2C30A30-BFC2-424B-9E9D-15396EDD64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95A7B4-E1FA-48BD-84F2-76441CE2E9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6F00F7-C09D-46F6-A219-9C1528E0CB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12891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90ED23-4A4F-4CF8-A22A-1B23EEA412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D07E77-CBD6-4FAC-B464-F1CDD1DC90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4867D98-F536-4F41-9BC3-0706C5402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345249D-56F4-4303-A9C3-90C8390F8D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992A70-A698-4A85-AA7F-CFB12103E15B}" type="datetimeFigureOut">
              <a:rPr lang="en-US" smtClean="0"/>
              <a:t>8/30/2022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ECB2616-3DC0-4753-8A98-35ABAD5BC9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01837E-9BEF-46B6-AB4C-625DC49186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6F00F7-C09D-46F6-A219-9C1528E0CB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97020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D379AD-3699-42B2-B010-E027524BA7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B98320D-11EE-4B20-8DF1-3CFCB9A076E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F1E066E-3241-4AE4-9A05-397B0DAD6EA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DAA7A4-9E12-447C-BD3E-710A448DE7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992A70-A698-4A85-AA7F-CFB12103E15B}" type="datetimeFigureOut">
              <a:rPr lang="en-US" smtClean="0"/>
              <a:t>8/30/2022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60DE976-E356-450B-873C-30240A53E3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178AEE-0EE0-4572-9889-92C56160C3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6F00F7-C09D-46F6-A219-9C1528E0CB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30839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27168B-BD2B-4BC0-BAC4-510C38A874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98F6417-462B-4247-A1A7-CC9F4301268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1CE0D2-EF37-477F-A616-0E560A5F13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992A70-A698-4A85-AA7F-CFB12103E15B}" type="datetimeFigureOut">
              <a:rPr lang="en-US" smtClean="0"/>
              <a:t>8/30/2022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E4C57D-6293-40CA-833F-E367539ED6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485C9C-A55E-4602-A3E2-1D2C88D577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6F00F7-C09D-46F6-A219-9C1528E0CB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88950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E3313AA-E66E-4BF4-9CC6-0A14FFA0B84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1B420F0-0DBA-4553-96D6-26032F4CDD9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65D6FA-F5CD-406A-9AA7-B2D62D0AB4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992A70-A698-4A85-AA7F-CFB12103E15B}" type="datetimeFigureOut">
              <a:rPr lang="en-US" smtClean="0"/>
              <a:t>8/30/2022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77AE9E-2B68-473B-9FCE-9297CA7AED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267E75-B0F6-49C3-AF76-CE9895D2CC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6F00F7-C09D-46F6-A219-9C1528E0CB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54561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ECA843B-BAD7-491F-BA88-D25B5C51C5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CEE75C-7F1E-4671-9D9B-36B3AD8EE3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1C325C-1331-416E-8F1B-D4DB30C8AC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992A70-A698-4A85-AA7F-CFB12103E15B}" type="datetimeFigureOut">
              <a:rPr lang="en-US" smtClean="0"/>
              <a:t>8/30/2022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729268-88F8-41E0-9D82-E5E9A898010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1B4103-E692-47A8-97FB-1B278ED9D91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6F00F7-C09D-46F6-A219-9C1528E0CB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29965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Relationship Id="rId5" Type="http://schemas.openxmlformats.org/officeDocument/2006/relationships/hyperlink" Target="https://ocw.mit.edu/courses/electrical-engineering-and-computer-science/6-042j-mathematics-for-computer-science-fall-2010/readings/" TargetMode="External"/><Relationship Id="rId4" Type="http://schemas.openxmlformats.org/officeDocument/2006/relationships/hyperlink" Target="https://ocw.mit.edu/courses/electrical-engineering-and-computer-science/6-042j-mathematics-for-computer-science-fall-2010/" TargetMode="Externa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hyperlink" Target="https://mindyourdecisions.com/blog/2022/06/22/brazilian-olympiad-pinocchios-green-hats-viral-question/" TargetMode="External"/><Relationship Id="rId3" Type="http://schemas.openxmlformats.org/officeDocument/2006/relationships/hyperlink" Target="https://en.meming.world/images/en/7/79/Panik_Kalm.jpg" TargetMode="External"/><Relationship Id="rId7" Type="http://schemas.openxmlformats.org/officeDocument/2006/relationships/hyperlink" Target="https://ctl.s6img.com/society6/img/LBmnjjTY80iBCUPGHRKFatk_LMg/w_1500/prints/~artwork/s6-original-art-uploads/society6/uploads/misc/318f6925be6d47c885d1cddffc05328b/~~/uncle-sam-i-want-you-prints.jpg" TargetMode="External"/><Relationship Id="rId2" Type="http://schemas.openxmlformats.org/officeDocument/2006/relationships/hyperlink" Target="https://pbs.twimg.com/media/EdDxRTzXoAcHRRY.jpg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i.kym-cdn.com/entries/icons/facebook/000/018/489/nick-young-confused-face-300x256-nqlyaa.jpg" TargetMode="External"/><Relationship Id="rId5" Type="http://schemas.openxmlformats.org/officeDocument/2006/relationships/hyperlink" Target="https://images-na.ssl-images-amazon.com/images/I/51JHfPwgAJL._SX398_BO1,204,203,200_.jpg" TargetMode="External"/><Relationship Id="rId4" Type="http://schemas.openxmlformats.org/officeDocument/2006/relationships/hyperlink" Target="https://m.media-amazon.com/images/I/51nxbInnFpL.jpg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73C04B-99DA-465F-9622-6B3B5A36CF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12192000" cy="839902"/>
          </a:xfr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16200000" scaled="1"/>
            <a:tileRect/>
          </a:gradFill>
        </p:spPr>
        <p:txBody>
          <a:bodyPr>
            <a:normAutofit/>
          </a:bodyPr>
          <a:lstStyle/>
          <a:p>
            <a:r>
              <a:rPr lang="en-US" sz="4800" dirty="0"/>
              <a:t>CSE 2500: Introduction to Discrete Systems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9245AFA-748C-4441-9A3A-253D6A215D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30693" y="5202238"/>
            <a:ext cx="9144000" cy="1655762"/>
          </a:xfrm>
        </p:spPr>
        <p:txBody>
          <a:bodyPr/>
          <a:lstStyle/>
          <a:p>
            <a:r>
              <a:rPr lang="en-US" dirty="0"/>
              <a:t>Kaleel Mahmood </a:t>
            </a:r>
          </a:p>
          <a:p>
            <a:r>
              <a:rPr lang="en-US" dirty="0"/>
              <a:t>Department of Computer Science and Engineering</a:t>
            </a:r>
          </a:p>
          <a:p>
            <a:r>
              <a:rPr lang="en-US" dirty="0"/>
              <a:t>University of Connecticut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02CB5F35-6329-406D-89BD-C9BBF92B1EAD}"/>
              </a:ext>
            </a:extLst>
          </p:cNvPr>
          <p:cNvSpPr txBox="1">
            <a:spLocks/>
          </p:cNvSpPr>
          <p:nvPr/>
        </p:nvSpPr>
        <p:spPr>
          <a:xfrm>
            <a:off x="0" y="2959075"/>
            <a:ext cx="12192000" cy="939849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7200" dirty="0"/>
              <a:t>Lecture 1: Course Introduction</a:t>
            </a:r>
          </a:p>
        </p:txBody>
      </p:sp>
    </p:spTree>
    <p:extLst>
      <p:ext uri="{BB962C8B-B14F-4D97-AF65-F5344CB8AC3E}">
        <p14:creationId xmlns:p14="http://schemas.microsoft.com/office/powerpoint/2010/main" val="25212347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C21FFC-4727-469B-9978-326993C91F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pPr algn="ctr"/>
            <a:r>
              <a:rPr lang="en-US" dirty="0"/>
              <a:t>Course Objective: </a:t>
            </a:r>
            <a:br>
              <a:rPr lang="en-US" dirty="0"/>
            </a:br>
            <a:r>
              <a:rPr lang="en-US" dirty="0"/>
              <a:t>Learn discrete math, logic and formal reasoning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073B20-6855-4701-8104-356E24B346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325563"/>
            <a:ext cx="10515600" cy="435133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4000" dirty="0"/>
              <a:t>Example: Prove 2=1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7" name="Table 6">
                <a:extLst>
                  <a:ext uri="{FF2B5EF4-FFF2-40B4-BE49-F238E27FC236}">
                    <a16:creationId xmlns:a16="http://schemas.microsoft.com/office/drawing/2014/main" id="{5A76ED7E-B4AE-4EBF-85F0-12F22E2F554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103219416"/>
                  </p:ext>
                </p:extLst>
              </p:nvPr>
            </p:nvGraphicFramePr>
            <p:xfrm>
              <a:off x="660917" y="1973277"/>
              <a:ext cx="10870163" cy="495300"/>
            </p:xfrm>
            <a:graphic>
              <a:graphicData uri="http://schemas.openxmlformats.org/drawingml/2006/table">
                <a:tbl>
                  <a:tblPr>
                    <a:tableStyleId>{5940675A-B579-460E-94D1-54222C63F5DA}</a:tableStyleId>
                  </a:tblPr>
                  <a:tblGrid>
                    <a:gridCol w="4526902">
                      <a:extLst>
                        <a:ext uri="{9D8B030D-6E8A-4147-A177-3AD203B41FA5}">
                          <a16:colId xmlns:a16="http://schemas.microsoft.com/office/drawing/2014/main" val="3018797996"/>
                        </a:ext>
                      </a:extLst>
                    </a:gridCol>
                    <a:gridCol w="6343261">
                      <a:extLst>
                        <a:ext uri="{9D8B030D-6E8A-4147-A177-3AD203B41FA5}">
                          <a16:colId xmlns:a16="http://schemas.microsoft.com/office/drawing/2014/main" val="4003415002"/>
                        </a:ext>
                      </a:extLst>
                    </a:gridCol>
                  </a:tblGrid>
                  <a:tr h="483482">
                    <a:tc>
                      <a:txBody>
                        <a:bodyPr/>
                        <a:lstStyle/>
                        <a:p>
                          <a:pPr algn="l" fontAlgn="b"/>
                          <a:r>
                            <a:rPr lang="en-US" sz="24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Let </a:t>
                          </a:r>
                          <a14:m>
                            <m:oMath xmlns:m="http://schemas.openxmlformats.org/officeDocument/2006/math">
                              <m:r>
                                <a:rPr lang="en-US" sz="2400" b="0" i="1" u="none" strike="noStrike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oMath>
                          </a14:m>
                          <a:r>
                            <a:rPr lang="en-US" sz="24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 and </a:t>
                          </a:r>
                          <a14:m>
                            <m:oMath xmlns:m="http://schemas.openxmlformats.org/officeDocument/2006/math">
                              <m:r>
                                <a:rPr lang="en-US" sz="2400" b="0" i="1" u="none" strike="noStrike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oMath>
                          </a14:m>
                          <a:r>
                            <a:rPr lang="en-US" sz="24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 be non-zero such that:</a:t>
                          </a:r>
                          <a:endParaRPr lang="en-US" sz="2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l" fontAlgn="b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3200" b="0" i="1" u="none" strike="noStrike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  <m:r>
                                  <a:rPr lang="en-US" sz="3200" b="0" i="1" u="none" strike="noStrike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sz="3200" b="0" i="1" u="none" strike="noStrike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oMath>
                            </m:oMathPara>
                          </a14:m>
                          <a:endParaRPr lang="en-US" sz="3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136901205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7" name="Table 6">
                <a:extLst>
                  <a:ext uri="{FF2B5EF4-FFF2-40B4-BE49-F238E27FC236}">
                    <a16:creationId xmlns:a16="http://schemas.microsoft.com/office/drawing/2014/main" id="{5A76ED7E-B4AE-4EBF-85F0-12F22E2F554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103219416"/>
                  </p:ext>
                </p:extLst>
              </p:nvPr>
            </p:nvGraphicFramePr>
            <p:xfrm>
              <a:off x="660917" y="1973277"/>
              <a:ext cx="10870163" cy="495300"/>
            </p:xfrm>
            <a:graphic>
              <a:graphicData uri="http://schemas.openxmlformats.org/drawingml/2006/table">
                <a:tbl>
                  <a:tblPr>
                    <a:tableStyleId>{5940675A-B579-460E-94D1-54222C63F5DA}</a:tableStyleId>
                  </a:tblPr>
                  <a:tblGrid>
                    <a:gridCol w="4526902">
                      <a:extLst>
                        <a:ext uri="{9D8B030D-6E8A-4147-A177-3AD203B41FA5}">
                          <a16:colId xmlns:a16="http://schemas.microsoft.com/office/drawing/2014/main" val="3018797996"/>
                        </a:ext>
                      </a:extLst>
                    </a:gridCol>
                    <a:gridCol w="6343261">
                      <a:extLst>
                        <a:ext uri="{9D8B030D-6E8A-4147-A177-3AD203B41FA5}">
                          <a16:colId xmlns:a16="http://schemas.microsoft.com/office/drawing/2014/main" val="4003415002"/>
                        </a:ext>
                      </a:extLst>
                    </a:gridCol>
                  </a:tblGrid>
                  <a:tr h="4953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7620" marR="7620" marT="7620" marB="0" anchor="b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r="-140242" b="-3658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7620" marR="7620" marT="7620" marB="0" anchor="b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71374" r="-96" b="-3658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36901205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3074217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C21FFC-4727-469B-9978-326993C91F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pPr algn="ctr"/>
            <a:r>
              <a:rPr lang="en-US" dirty="0"/>
              <a:t>Course Objective: </a:t>
            </a:r>
            <a:br>
              <a:rPr lang="en-US" dirty="0"/>
            </a:br>
            <a:r>
              <a:rPr lang="en-US" dirty="0"/>
              <a:t>Learn discrete math, logic and formal reasoning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073B20-6855-4701-8104-356E24B346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325563"/>
            <a:ext cx="10515600" cy="435133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4000" dirty="0"/>
              <a:t>Example: Prove 2=1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Table 6">
                <a:extLst>
                  <a:ext uri="{FF2B5EF4-FFF2-40B4-BE49-F238E27FC236}">
                    <a16:creationId xmlns:a16="http://schemas.microsoft.com/office/drawing/2014/main" id="{5A76ED7E-B4AE-4EBF-85F0-12F22E2F554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496015727"/>
                  </p:ext>
                </p:extLst>
              </p:nvPr>
            </p:nvGraphicFramePr>
            <p:xfrm>
              <a:off x="660917" y="1973277"/>
              <a:ext cx="10870163" cy="1158240"/>
            </p:xfrm>
            <a:graphic>
              <a:graphicData uri="http://schemas.openxmlformats.org/drawingml/2006/table">
                <a:tbl>
                  <a:tblPr>
                    <a:tableStyleId>{5940675A-B579-460E-94D1-54222C63F5DA}</a:tableStyleId>
                  </a:tblPr>
                  <a:tblGrid>
                    <a:gridCol w="4526902">
                      <a:extLst>
                        <a:ext uri="{9D8B030D-6E8A-4147-A177-3AD203B41FA5}">
                          <a16:colId xmlns:a16="http://schemas.microsoft.com/office/drawing/2014/main" val="3018797996"/>
                        </a:ext>
                      </a:extLst>
                    </a:gridCol>
                    <a:gridCol w="6343261">
                      <a:extLst>
                        <a:ext uri="{9D8B030D-6E8A-4147-A177-3AD203B41FA5}">
                          <a16:colId xmlns:a16="http://schemas.microsoft.com/office/drawing/2014/main" val="4003415002"/>
                        </a:ext>
                      </a:extLst>
                    </a:gridCol>
                  </a:tblGrid>
                  <a:tr h="483482">
                    <a:tc>
                      <a:txBody>
                        <a:bodyPr/>
                        <a:lstStyle/>
                        <a:p>
                          <a:pPr algn="l" fontAlgn="b"/>
                          <a:r>
                            <a:rPr lang="en-US" sz="24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Let </a:t>
                          </a:r>
                          <a14:m>
                            <m:oMath xmlns:m="http://schemas.openxmlformats.org/officeDocument/2006/math">
                              <m:r>
                                <a:rPr lang="en-US" sz="2400" b="0" i="1" u="none" strike="noStrike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oMath>
                          </a14:m>
                          <a:r>
                            <a:rPr lang="en-US" sz="24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 and </a:t>
                          </a:r>
                          <a14:m>
                            <m:oMath xmlns:m="http://schemas.openxmlformats.org/officeDocument/2006/math">
                              <m:r>
                                <a:rPr lang="en-US" sz="2400" b="0" i="1" u="none" strike="noStrike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oMath>
                          </a14:m>
                          <a:r>
                            <a:rPr lang="en-US" sz="24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 be non-zero such that:</a:t>
                          </a:r>
                          <a:endParaRPr lang="en-US" sz="2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l" fontAlgn="b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3200" b="0" i="1" u="none" strike="noStrike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  <m:r>
                                  <a:rPr lang="en-US" sz="3200" b="0" i="1" u="none" strike="noStrike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sz="3200" b="0" i="1" u="none" strike="noStrike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oMath>
                            </m:oMathPara>
                          </a14:m>
                          <a:endParaRPr lang="en-US" sz="3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136901205"/>
                      </a:ext>
                    </a:extLst>
                  </a:tr>
                  <a:tr h="483482">
                    <a:tc>
                      <a:txBody>
                        <a:bodyPr/>
                        <a:lstStyle/>
                        <a:p>
                          <a:pPr algn="l" fontAlgn="b"/>
                          <a:r>
                            <a:rPr lang="en-US" sz="24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Multiply both sides by </a:t>
                          </a:r>
                          <a14:m>
                            <m:oMath xmlns:m="http://schemas.openxmlformats.org/officeDocument/2006/math">
                              <m:r>
                                <a:rPr lang="en-US" sz="2400" b="0" i="1" u="none" strike="noStrike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oMath>
                          </a14:m>
                          <a:endParaRPr lang="en-US" sz="2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b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sz="3200" b="0" i="1" u="none" strike="noStrike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3200" b="0" i="1" u="none" strike="noStrike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p>
                                    <m:r>
                                      <a:rPr lang="en-US" sz="3200" b="0" i="1" u="none" strike="noStrike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US" sz="3200" b="0" i="1" u="none" strike="noStrike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sz="3200" b="0" i="1" u="none" strike="noStrike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𝑎𝑏</m:t>
                                </m:r>
                              </m:oMath>
                            </m:oMathPara>
                          </a14:m>
                          <a:endParaRPr lang="en-US" sz="3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  <a:p>
                          <a:pPr algn="l" fontAlgn="b"/>
                          <a:endParaRPr lang="en-US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428195605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Table 6">
                <a:extLst>
                  <a:ext uri="{FF2B5EF4-FFF2-40B4-BE49-F238E27FC236}">
                    <a16:creationId xmlns:a16="http://schemas.microsoft.com/office/drawing/2014/main" id="{5A76ED7E-B4AE-4EBF-85F0-12F22E2F554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496015727"/>
                  </p:ext>
                </p:extLst>
              </p:nvPr>
            </p:nvGraphicFramePr>
            <p:xfrm>
              <a:off x="660917" y="1973277"/>
              <a:ext cx="10870163" cy="1158240"/>
            </p:xfrm>
            <a:graphic>
              <a:graphicData uri="http://schemas.openxmlformats.org/drawingml/2006/table">
                <a:tbl>
                  <a:tblPr>
                    <a:tableStyleId>{5940675A-B579-460E-94D1-54222C63F5DA}</a:tableStyleId>
                  </a:tblPr>
                  <a:tblGrid>
                    <a:gridCol w="4526902">
                      <a:extLst>
                        <a:ext uri="{9D8B030D-6E8A-4147-A177-3AD203B41FA5}">
                          <a16:colId xmlns:a16="http://schemas.microsoft.com/office/drawing/2014/main" val="3018797996"/>
                        </a:ext>
                      </a:extLst>
                    </a:gridCol>
                    <a:gridCol w="6343261">
                      <a:extLst>
                        <a:ext uri="{9D8B030D-6E8A-4147-A177-3AD203B41FA5}">
                          <a16:colId xmlns:a16="http://schemas.microsoft.com/office/drawing/2014/main" val="4003415002"/>
                        </a:ext>
                      </a:extLst>
                    </a:gridCol>
                  </a:tblGrid>
                  <a:tr h="4953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7620" marR="7620" marT="7620" marB="0" anchor="b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r="-140242" b="-16951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7620" marR="7620" marT="7620" marB="0" anchor="b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71374" r="-96" b="-16951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36901205"/>
                      </a:ext>
                    </a:extLst>
                  </a:tr>
                  <a:tr h="6629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7620" marR="7620" marT="7620" marB="0" anchor="b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t="-75229" r="-140242" b="-2752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7620" marR="7620" marT="7620" marB="0" anchor="b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71374" t="-75229" r="-96" b="-2752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81956055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41566979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C21FFC-4727-469B-9978-326993C91F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pPr algn="ctr"/>
            <a:r>
              <a:rPr lang="en-US" dirty="0"/>
              <a:t>Course Objective: </a:t>
            </a:r>
            <a:br>
              <a:rPr lang="en-US" dirty="0"/>
            </a:br>
            <a:r>
              <a:rPr lang="en-US" dirty="0"/>
              <a:t>Learn discrete math, logic and formal reasoning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073B20-6855-4701-8104-356E24B346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325563"/>
            <a:ext cx="10515600" cy="435133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4000" dirty="0"/>
              <a:t>Example: Prove 2=1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Table 6">
                <a:extLst>
                  <a:ext uri="{FF2B5EF4-FFF2-40B4-BE49-F238E27FC236}">
                    <a16:creationId xmlns:a16="http://schemas.microsoft.com/office/drawing/2014/main" id="{5A76ED7E-B4AE-4EBF-85F0-12F22E2F554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09320742"/>
                  </p:ext>
                </p:extLst>
              </p:nvPr>
            </p:nvGraphicFramePr>
            <p:xfrm>
              <a:off x="660917" y="1973277"/>
              <a:ext cx="10870163" cy="1653540"/>
            </p:xfrm>
            <a:graphic>
              <a:graphicData uri="http://schemas.openxmlformats.org/drawingml/2006/table">
                <a:tbl>
                  <a:tblPr>
                    <a:tableStyleId>{5940675A-B579-460E-94D1-54222C63F5DA}</a:tableStyleId>
                  </a:tblPr>
                  <a:tblGrid>
                    <a:gridCol w="4526902">
                      <a:extLst>
                        <a:ext uri="{9D8B030D-6E8A-4147-A177-3AD203B41FA5}">
                          <a16:colId xmlns:a16="http://schemas.microsoft.com/office/drawing/2014/main" val="3018797996"/>
                        </a:ext>
                      </a:extLst>
                    </a:gridCol>
                    <a:gridCol w="6343261">
                      <a:extLst>
                        <a:ext uri="{9D8B030D-6E8A-4147-A177-3AD203B41FA5}">
                          <a16:colId xmlns:a16="http://schemas.microsoft.com/office/drawing/2014/main" val="4003415002"/>
                        </a:ext>
                      </a:extLst>
                    </a:gridCol>
                  </a:tblGrid>
                  <a:tr h="483482">
                    <a:tc>
                      <a:txBody>
                        <a:bodyPr/>
                        <a:lstStyle/>
                        <a:p>
                          <a:pPr algn="l" fontAlgn="b"/>
                          <a:r>
                            <a:rPr lang="en-US" sz="24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Let </a:t>
                          </a:r>
                          <a14:m>
                            <m:oMath xmlns:m="http://schemas.openxmlformats.org/officeDocument/2006/math">
                              <m:r>
                                <a:rPr lang="en-US" sz="2400" b="0" i="1" u="none" strike="noStrike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oMath>
                          </a14:m>
                          <a:r>
                            <a:rPr lang="en-US" sz="24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 and </a:t>
                          </a:r>
                          <a14:m>
                            <m:oMath xmlns:m="http://schemas.openxmlformats.org/officeDocument/2006/math">
                              <m:r>
                                <a:rPr lang="en-US" sz="2400" b="0" i="1" u="none" strike="noStrike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oMath>
                          </a14:m>
                          <a:r>
                            <a:rPr lang="en-US" sz="24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 be non-zero such that:</a:t>
                          </a:r>
                          <a:endParaRPr lang="en-US" sz="2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l" fontAlgn="b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3200" b="0" i="1" u="none" strike="noStrike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  <m:r>
                                  <a:rPr lang="en-US" sz="3200" b="0" i="1" u="none" strike="noStrike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sz="3200" b="0" i="1" u="none" strike="noStrike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oMath>
                            </m:oMathPara>
                          </a14:m>
                          <a:endParaRPr lang="en-US" sz="3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136901205"/>
                      </a:ext>
                    </a:extLst>
                  </a:tr>
                  <a:tr h="483482">
                    <a:tc>
                      <a:txBody>
                        <a:bodyPr/>
                        <a:lstStyle/>
                        <a:p>
                          <a:pPr algn="l" fontAlgn="b"/>
                          <a:r>
                            <a:rPr lang="en-US" sz="24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Multiply both sides by </a:t>
                          </a:r>
                          <a14:m>
                            <m:oMath xmlns:m="http://schemas.openxmlformats.org/officeDocument/2006/math">
                              <m:r>
                                <a:rPr lang="en-US" sz="2400" b="0" i="1" u="none" strike="noStrike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oMath>
                          </a14:m>
                          <a:endParaRPr lang="en-US" sz="2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b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sz="3200" b="0" i="1" u="none" strike="noStrike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3200" b="0" i="1" u="none" strike="noStrike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p>
                                    <m:r>
                                      <a:rPr lang="en-US" sz="3200" b="0" i="1" u="none" strike="noStrike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US" sz="3200" b="0" i="1" u="none" strike="noStrike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sz="3200" b="0" i="1" u="none" strike="noStrike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𝑎𝑏</m:t>
                                </m:r>
                              </m:oMath>
                            </m:oMathPara>
                          </a14:m>
                          <a:endParaRPr lang="en-US" sz="3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  <a:p>
                          <a:pPr algn="l" fontAlgn="b"/>
                          <a:endParaRPr lang="en-US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4281956055"/>
                      </a:ext>
                    </a:extLst>
                  </a:tr>
                  <a:tr h="483482">
                    <a:tc>
                      <a:txBody>
                        <a:bodyPr/>
                        <a:lstStyle/>
                        <a:p>
                          <a:pPr algn="l" fontAlgn="b"/>
                          <a:r>
                            <a:rPr lang="en-US" sz="24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Subtract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sz="2400" b="0" i="1" u="none" strike="noStrike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b="0" i="1" u="none" strike="noStrike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p>
                                  <m:r>
                                    <a:rPr lang="en-US" sz="2400" b="0" i="1" u="none" strike="noStrike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oMath>
                          </a14:m>
                          <a:r>
                            <a:rPr lang="en-US" sz="24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 </a:t>
                          </a:r>
                          <a:endParaRPr lang="en-US" sz="2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l" fontAlgn="b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sz="3200" b="0" i="1" u="none" strike="noStrike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3200" b="0" i="1" u="none" strike="noStrike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p>
                                    <m:r>
                                      <a:rPr lang="en-US" sz="3200" b="0" i="1" u="none" strike="noStrike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US" sz="3200" b="0" i="1" u="none" strike="noStrike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p>
                                  <m:sSupPr>
                                    <m:ctrlPr>
                                      <a:rPr lang="en-US" sz="3200" b="0" i="1" u="none" strike="noStrike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3200" b="0" i="1" u="none" strike="noStrike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p>
                                    <m:r>
                                      <a:rPr lang="en-US" sz="3200" b="0" i="1" u="none" strike="noStrike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US" sz="3200" b="0" i="1" u="none" strike="noStrike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sz="3200" b="0" i="1" u="none" strike="noStrike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𝑎𝑏</m:t>
                                </m:r>
                                <m:r>
                                  <a:rPr lang="en-US" sz="3200" b="0" i="1" u="none" strike="noStrike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p>
                                  <m:sSupPr>
                                    <m:ctrlPr>
                                      <a:rPr lang="en-US" sz="3200" b="0" i="1" u="none" strike="noStrike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3200" b="0" i="1" u="none" strike="noStrike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p>
                                    <m:r>
                                      <a:rPr lang="en-US" sz="3200" b="0" i="1" u="none" strike="noStrike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sz="3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110288832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Table 6">
                <a:extLst>
                  <a:ext uri="{FF2B5EF4-FFF2-40B4-BE49-F238E27FC236}">
                    <a16:creationId xmlns:a16="http://schemas.microsoft.com/office/drawing/2014/main" id="{5A76ED7E-B4AE-4EBF-85F0-12F22E2F554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09320742"/>
                  </p:ext>
                </p:extLst>
              </p:nvPr>
            </p:nvGraphicFramePr>
            <p:xfrm>
              <a:off x="660917" y="1973277"/>
              <a:ext cx="10870163" cy="1653540"/>
            </p:xfrm>
            <a:graphic>
              <a:graphicData uri="http://schemas.openxmlformats.org/drawingml/2006/table">
                <a:tbl>
                  <a:tblPr>
                    <a:tableStyleId>{5940675A-B579-460E-94D1-54222C63F5DA}</a:tableStyleId>
                  </a:tblPr>
                  <a:tblGrid>
                    <a:gridCol w="4526902">
                      <a:extLst>
                        <a:ext uri="{9D8B030D-6E8A-4147-A177-3AD203B41FA5}">
                          <a16:colId xmlns:a16="http://schemas.microsoft.com/office/drawing/2014/main" val="3018797996"/>
                        </a:ext>
                      </a:extLst>
                    </a:gridCol>
                    <a:gridCol w="6343261">
                      <a:extLst>
                        <a:ext uri="{9D8B030D-6E8A-4147-A177-3AD203B41FA5}">
                          <a16:colId xmlns:a16="http://schemas.microsoft.com/office/drawing/2014/main" val="4003415002"/>
                        </a:ext>
                      </a:extLst>
                    </a:gridCol>
                  </a:tblGrid>
                  <a:tr h="4953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7620" marR="7620" marT="7620" marB="0" anchor="b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r="-140242" b="-27284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7620" marR="7620" marT="7620" marB="0" anchor="b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71374" r="-96" b="-27284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36901205"/>
                      </a:ext>
                    </a:extLst>
                  </a:tr>
                  <a:tr h="6629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7620" marR="7620" marT="7620" marB="0" anchor="b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t="-73636" r="-140242" b="-10090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7620" marR="7620" marT="7620" marB="0" anchor="b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71374" t="-73636" r="-96" b="-10090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81956055"/>
                      </a:ext>
                    </a:extLst>
                  </a:tr>
                  <a:tr h="4953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7620" marR="7620" marT="7620" marB="0" anchor="b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t="-235802" r="-140242" b="-3703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7620" marR="7620" marT="7620" marB="0" anchor="b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71374" t="-235802" r="-96" b="-3703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02888327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0816559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C21FFC-4727-469B-9978-326993C91F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pPr algn="ctr"/>
            <a:r>
              <a:rPr lang="en-US" dirty="0"/>
              <a:t>Course Objective: </a:t>
            </a:r>
            <a:br>
              <a:rPr lang="en-US" dirty="0"/>
            </a:br>
            <a:r>
              <a:rPr lang="en-US" dirty="0"/>
              <a:t>Learn discrete math, logic and formal reasoning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073B20-6855-4701-8104-356E24B346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325563"/>
            <a:ext cx="10515600" cy="435133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4000" dirty="0"/>
              <a:t>Example: Prove 2=1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Table 6">
                <a:extLst>
                  <a:ext uri="{FF2B5EF4-FFF2-40B4-BE49-F238E27FC236}">
                    <a16:creationId xmlns:a16="http://schemas.microsoft.com/office/drawing/2014/main" id="{5A76ED7E-B4AE-4EBF-85F0-12F22E2F554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980340914"/>
                  </p:ext>
                </p:extLst>
              </p:nvPr>
            </p:nvGraphicFramePr>
            <p:xfrm>
              <a:off x="660917" y="1973277"/>
              <a:ext cx="10870163" cy="2148840"/>
            </p:xfrm>
            <a:graphic>
              <a:graphicData uri="http://schemas.openxmlformats.org/drawingml/2006/table">
                <a:tbl>
                  <a:tblPr>
                    <a:tableStyleId>{5940675A-B579-460E-94D1-54222C63F5DA}</a:tableStyleId>
                  </a:tblPr>
                  <a:tblGrid>
                    <a:gridCol w="4526902">
                      <a:extLst>
                        <a:ext uri="{9D8B030D-6E8A-4147-A177-3AD203B41FA5}">
                          <a16:colId xmlns:a16="http://schemas.microsoft.com/office/drawing/2014/main" val="3018797996"/>
                        </a:ext>
                      </a:extLst>
                    </a:gridCol>
                    <a:gridCol w="6343261">
                      <a:extLst>
                        <a:ext uri="{9D8B030D-6E8A-4147-A177-3AD203B41FA5}">
                          <a16:colId xmlns:a16="http://schemas.microsoft.com/office/drawing/2014/main" val="4003415002"/>
                        </a:ext>
                      </a:extLst>
                    </a:gridCol>
                  </a:tblGrid>
                  <a:tr h="483482">
                    <a:tc>
                      <a:txBody>
                        <a:bodyPr/>
                        <a:lstStyle/>
                        <a:p>
                          <a:pPr algn="l" fontAlgn="b"/>
                          <a:r>
                            <a:rPr lang="en-US" sz="24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Let </a:t>
                          </a:r>
                          <a14:m>
                            <m:oMath xmlns:m="http://schemas.openxmlformats.org/officeDocument/2006/math">
                              <m:r>
                                <a:rPr lang="en-US" sz="2400" b="0" i="1" u="none" strike="noStrike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oMath>
                          </a14:m>
                          <a:r>
                            <a:rPr lang="en-US" sz="24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 and </a:t>
                          </a:r>
                          <a14:m>
                            <m:oMath xmlns:m="http://schemas.openxmlformats.org/officeDocument/2006/math">
                              <m:r>
                                <a:rPr lang="en-US" sz="2400" b="0" i="1" u="none" strike="noStrike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oMath>
                          </a14:m>
                          <a:r>
                            <a:rPr lang="en-US" sz="24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 be non-zero such that:</a:t>
                          </a:r>
                          <a:endParaRPr lang="en-US" sz="2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l" fontAlgn="b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3200" b="0" i="1" u="none" strike="noStrike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  <m:r>
                                  <a:rPr lang="en-US" sz="3200" b="0" i="1" u="none" strike="noStrike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sz="3200" b="0" i="1" u="none" strike="noStrike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oMath>
                            </m:oMathPara>
                          </a14:m>
                          <a:endParaRPr lang="en-US" sz="3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136901205"/>
                      </a:ext>
                    </a:extLst>
                  </a:tr>
                  <a:tr h="483482">
                    <a:tc>
                      <a:txBody>
                        <a:bodyPr/>
                        <a:lstStyle/>
                        <a:p>
                          <a:pPr algn="l" fontAlgn="b"/>
                          <a:r>
                            <a:rPr lang="en-US" sz="24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Multiply both sides by </a:t>
                          </a:r>
                          <a14:m>
                            <m:oMath xmlns:m="http://schemas.openxmlformats.org/officeDocument/2006/math">
                              <m:r>
                                <a:rPr lang="en-US" sz="2400" b="0" i="1" u="none" strike="noStrike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oMath>
                          </a14:m>
                          <a:endParaRPr lang="en-US" sz="2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b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sz="3200" b="0" i="1" u="none" strike="noStrike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3200" b="0" i="1" u="none" strike="noStrike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p>
                                    <m:r>
                                      <a:rPr lang="en-US" sz="3200" b="0" i="1" u="none" strike="noStrike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US" sz="3200" b="0" i="1" u="none" strike="noStrike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sz="3200" b="0" i="1" u="none" strike="noStrike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𝑎𝑏</m:t>
                                </m:r>
                              </m:oMath>
                            </m:oMathPara>
                          </a14:m>
                          <a:endParaRPr lang="en-US" sz="3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  <a:p>
                          <a:pPr algn="l" fontAlgn="b"/>
                          <a:endParaRPr lang="en-US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4281956055"/>
                      </a:ext>
                    </a:extLst>
                  </a:tr>
                  <a:tr h="483482">
                    <a:tc>
                      <a:txBody>
                        <a:bodyPr/>
                        <a:lstStyle/>
                        <a:p>
                          <a:pPr algn="l" fontAlgn="b"/>
                          <a:r>
                            <a:rPr lang="en-US" sz="24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Subtract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sz="2400" b="0" i="1" u="none" strike="noStrike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b="0" i="1" u="none" strike="noStrike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p>
                                  <m:r>
                                    <a:rPr lang="en-US" sz="2400" b="0" i="1" u="none" strike="noStrike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oMath>
                          </a14:m>
                          <a:r>
                            <a:rPr lang="en-US" sz="24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 </a:t>
                          </a:r>
                          <a:endParaRPr lang="en-US" sz="2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l" fontAlgn="b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sz="3200" b="0" i="1" u="none" strike="noStrike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3200" b="0" i="1" u="none" strike="noStrike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p>
                                    <m:r>
                                      <a:rPr lang="en-US" sz="3200" b="0" i="1" u="none" strike="noStrike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US" sz="3200" b="0" i="1" u="none" strike="noStrike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p>
                                  <m:sSupPr>
                                    <m:ctrlPr>
                                      <a:rPr lang="en-US" sz="3200" b="0" i="1" u="none" strike="noStrike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3200" b="0" i="1" u="none" strike="noStrike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p>
                                    <m:r>
                                      <a:rPr lang="en-US" sz="3200" b="0" i="1" u="none" strike="noStrike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US" sz="3200" b="0" i="1" u="none" strike="noStrike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sz="3200" b="0" i="1" u="none" strike="noStrike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𝑎𝑏</m:t>
                                </m:r>
                                <m:r>
                                  <a:rPr lang="en-US" sz="3200" b="0" i="1" u="none" strike="noStrike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p>
                                  <m:sSupPr>
                                    <m:ctrlPr>
                                      <a:rPr lang="en-US" sz="3200" b="0" i="1" u="none" strike="noStrike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3200" b="0" i="1" u="none" strike="noStrike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p>
                                    <m:r>
                                      <a:rPr lang="en-US" sz="3200" b="0" i="1" u="none" strike="noStrike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sz="3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1102888327"/>
                      </a:ext>
                    </a:extLst>
                  </a:tr>
                  <a:tr h="483482">
                    <a:tc>
                      <a:txBody>
                        <a:bodyPr/>
                        <a:lstStyle/>
                        <a:p>
                          <a:pPr algn="l" fontAlgn="b"/>
                          <a:r>
                            <a:rPr lang="en-US" sz="24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Factor both sides</a:t>
                          </a:r>
                          <a:endParaRPr lang="en-US" sz="2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l" fontAlgn="b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ctrlPr>
                                      <a:rPr lang="en-US" sz="3200" b="0" i="1" u="none" strike="noStrike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3200" b="0" i="1" u="none" strike="noStrike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  <m:r>
                                      <a:rPr lang="en-US" sz="3200" b="0" i="1" u="none" strike="noStrike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sz="3200" b="0" i="1" u="none" strike="noStrike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</m:d>
                                <m:d>
                                  <m:dPr>
                                    <m:ctrlPr>
                                      <a:rPr lang="en-US" sz="3200" b="0" i="1" u="none" strike="noStrike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3200" b="0" i="1" u="none" strike="noStrike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  <m:r>
                                      <a:rPr lang="en-US" sz="3200" b="0" i="1" u="none" strike="noStrike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n-US" sz="3200" b="0" i="1" u="none" strike="noStrike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</m:d>
                                <m:r>
                                  <a:rPr lang="en-US" sz="3200" b="0" i="1" u="none" strike="noStrike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sz="3200" b="0" i="1" u="none" strike="noStrike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  <m:r>
                                  <a:rPr lang="en-US" sz="3200" b="0" i="1" u="none" strike="noStrike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3200" b="0" i="1" u="none" strike="noStrike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  <m:r>
                                  <a:rPr lang="en-US" sz="3200" b="0" i="1" u="none" strike="noStrike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3200" b="0" i="1" u="none" strike="noStrike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  <m:r>
                                  <a:rPr lang="en-US" sz="3200" b="0" i="1" u="none" strike="noStrike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3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372102702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Table 6">
                <a:extLst>
                  <a:ext uri="{FF2B5EF4-FFF2-40B4-BE49-F238E27FC236}">
                    <a16:creationId xmlns:a16="http://schemas.microsoft.com/office/drawing/2014/main" id="{5A76ED7E-B4AE-4EBF-85F0-12F22E2F554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980340914"/>
                  </p:ext>
                </p:extLst>
              </p:nvPr>
            </p:nvGraphicFramePr>
            <p:xfrm>
              <a:off x="660917" y="1973277"/>
              <a:ext cx="10870163" cy="2148840"/>
            </p:xfrm>
            <a:graphic>
              <a:graphicData uri="http://schemas.openxmlformats.org/drawingml/2006/table">
                <a:tbl>
                  <a:tblPr>
                    <a:tableStyleId>{5940675A-B579-460E-94D1-54222C63F5DA}</a:tableStyleId>
                  </a:tblPr>
                  <a:tblGrid>
                    <a:gridCol w="4526902">
                      <a:extLst>
                        <a:ext uri="{9D8B030D-6E8A-4147-A177-3AD203B41FA5}">
                          <a16:colId xmlns:a16="http://schemas.microsoft.com/office/drawing/2014/main" val="3018797996"/>
                        </a:ext>
                      </a:extLst>
                    </a:gridCol>
                    <a:gridCol w="6343261">
                      <a:extLst>
                        <a:ext uri="{9D8B030D-6E8A-4147-A177-3AD203B41FA5}">
                          <a16:colId xmlns:a16="http://schemas.microsoft.com/office/drawing/2014/main" val="4003415002"/>
                        </a:ext>
                      </a:extLst>
                    </a:gridCol>
                  </a:tblGrid>
                  <a:tr h="4953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7620" marR="7620" marT="7620" marB="0" anchor="b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r="-140242" b="-36829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7620" marR="7620" marT="7620" marB="0" anchor="b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71374" r="-96" b="-36829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36901205"/>
                      </a:ext>
                    </a:extLst>
                  </a:tr>
                  <a:tr h="6629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7620" marR="7620" marT="7620" marB="0" anchor="b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t="-75229" r="-140242" b="-17706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7620" marR="7620" marT="7620" marB="0" anchor="b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71374" t="-75229" r="-96" b="-17706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81956055"/>
                      </a:ext>
                    </a:extLst>
                  </a:tr>
                  <a:tr h="4953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7620" marR="7620" marT="7620" marB="0" anchor="b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t="-235802" r="-140242" b="-13827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7620" marR="7620" marT="7620" marB="0" anchor="b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71374" t="-235802" r="-96" b="-13827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02888327"/>
                      </a:ext>
                    </a:extLst>
                  </a:tr>
                  <a:tr h="495300">
                    <a:tc>
                      <a:txBody>
                        <a:bodyPr/>
                        <a:lstStyle/>
                        <a:p>
                          <a:pPr algn="l" fontAlgn="b"/>
                          <a:r>
                            <a:rPr lang="en-US" sz="24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Factor both sides</a:t>
                          </a:r>
                          <a:endParaRPr lang="en-US" sz="2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7620" marR="7620" marT="7620" marB="0" anchor="b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71374" t="-331707" r="-96" b="-3658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2102702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2453762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C21FFC-4727-469B-9978-326993C91F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pPr algn="ctr"/>
            <a:r>
              <a:rPr lang="en-US" dirty="0"/>
              <a:t>Course Objective: </a:t>
            </a:r>
            <a:br>
              <a:rPr lang="en-US" dirty="0"/>
            </a:br>
            <a:r>
              <a:rPr lang="en-US" dirty="0"/>
              <a:t>Learn discrete math, logic and formal reasoning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073B20-6855-4701-8104-356E24B346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325563"/>
            <a:ext cx="10515600" cy="435133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4000" dirty="0"/>
              <a:t>Example: Prove 2=1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Table 6">
                <a:extLst>
                  <a:ext uri="{FF2B5EF4-FFF2-40B4-BE49-F238E27FC236}">
                    <a16:creationId xmlns:a16="http://schemas.microsoft.com/office/drawing/2014/main" id="{5A76ED7E-B4AE-4EBF-85F0-12F22E2F554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96056619"/>
                  </p:ext>
                </p:extLst>
              </p:nvPr>
            </p:nvGraphicFramePr>
            <p:xfrm>
              <a:off x="660917" y="1973277"/>
              <a:ext cx="10870163" cy="2644140"/>
            </p:xfrm>
            <a:graphic>
              <a:graphicData uri="http://schemas.openxmlformats.org/drawingml/2006/table">
                <a:tbl>
                  <a:tblPr>
                    <a:tableStyleId>{5940675A-B579-460E-94D1-54222C63F5DA}</a:tableStyleId>
                  </a:tblPr>
                  <a:tblGrid>
                    <a:gridCol w="4526902">
                      <a:extLst>
                        <a:ext uri="{9D8B030D-6E8A-4147-A177-3AD203B41FA5}">
                          <a16:colId xmlns:a16="http://schemas.microsoft.com/office/drawing/2014/main" val="3018797996"/>
                        </a:ext>
                      </a:extLst>
                    </a:gridCol>
                    <a:gridCol w="6343261">
                      <a:extLst>
                        <a:ext uri="{9D8B030D-6E8A-4147-A177-3AD203B41FA5}">
                          <a16:colId xmlns:a16="http://schemas.microsoft.com/office/drawing/2014/main" val="4003415002"/>
                        </a:ext>
                      </a:extLst>
                    </a:gridCol>
                  </a:tblGrid>
                  <a:tr h="483482">
                    <a:tc>
                      <a:txBody>
                        <a:bodyPr/>
                        <a:lstStyle/>
                        <a:p>
                          <a:pPr algn="l" fontAlgn="b"/>
                          <a:r>
                            <a:rPr lang="en-US" sz="24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Let </a:t>
                          </a:r>
                          <a14:m>
                            <m:oMath xmlns:m="http://schemas.openxmlformats.org/officeDocument/2006/math">
                              <m:r>
                                <a:rPr lang="en-US" sz="2400" b="0" i="1" u="none" strike="noStrike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oMath>
                          </a14:m>
                          <a:r>
                            <a:rPr lang="en-US" sz="24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 and </a:t>
                          </a:r>
                          <a14:m>
                            <m:oMath xmlns:m="http://schemas.openxmlformats.org/officeDocument/2006/math">
                              <m:r>
                                <a:rPr lang="en-US" sz="2400" b="0" i="1" u="none" strike="noStrike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oMath>
                          </a14:m>
                          <a:r>
                            <a:rPr lang="en-US" sz="24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 be non-zero such that:</a:t>
                          </a:r>
                          <a:endParaRPr lang="en-US" sz="2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l" fontAlgn="b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3200" b="0" i="1" u="none" strike="noStrike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  <m:r>
                                  <a:rPr lang="en-US" sz="3200" b="0" i="1" u="none" strike="noStrike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sz="3200" b="0" i="1" u="none" strike="noStrike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oMath>
                            </m:oMathPara>
                          </a14:m>
                          <a:endParaRPr lang="en-US" sz="3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136901205"/>
                      </a:ext>
                    </a:extLst>
                  </a:tr>
                  <a:tr h="483482">
                    <a:tc>
                      <a:txBody>
                        <a:bodyPr/>
                        <a:lstStyle/>
                        <a:p>
                          <a:pPr algn="l" fontAlgn="b"/>
                          <a:r>
                            <a:rPr lang="en-US" sz="24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Multiply both sides by </a:t>
                          </a:r>
                          <a14:m>
                            <m:oMath xmlns:m="http://schemas.openxmlformats.org/officeDocument/2006/math">
                              <m:r>
                                <a:rPr lang="en-US" sz="2400" b="0" i="1" u="none" strike="noStrike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oMath>
                          </a14:m>
                          <a:endParaRPr lang="en-US" sz="2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b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sz="3200" b="0" i="1" u="none" strike="noStrike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3200" b="0" i="1" u="none" strike="noStrike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p>
                                    <m:r>
                                      <a:rPr lang="en-US" sz="3200" b="0" i="1" u="none" strike="noStrike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US" sz="3200" b="0" i="1" u="none" strike="noStrike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sz="3200" b="0" i="1" u="none" strike="noStrike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𝑎𝑏</m:t>
                                </m:r>
                              </m:oMath>
                            </m:oMathPara>
                          </a14:m>
                          <a:endParaRPr lang="en-US" sz="3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  <a:p>
                          <a:pPr algn="l" fontAlgn="b"/>
                          <a:endParaRPr lang="en-US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4281956055"/>
                      </a:ext>
                    </a:extLst>
                  </a:tr>
                  <a:tr h="483482">
                    <a:tc>
                      <a:txBody>
                        <a:bodyPr/>
                        <a:lstStyle/>
                        <a:p>
                          <a:pPr algn="l" fontAlgn="b"/>
                          <a:r>
                            <a:rPr lang="en-US" sz="24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Subtract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sz="2400" b="0" i="1" u="none" strike="noStrike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b="0" i="1" u="none" strike="noStrike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p>
                                  <m:r>
                                    <a:rPr lang="en-US" sz="2400" b="0" i="1" u="none" strike="noStrike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oMath>
                          </a14:m>
                          <a:r>
                            <a:rPr lang="en-US" sz="24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 </a:t>
                          </a:r>
                          <a:endParaRPr lang="en-US" sz="2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l" fontAlgn="b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sz="3200" b="0" i="1" u="none" strike="noStrike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3200" b="0" i="1" u="none" strike="noStrike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p>
                                    <m:r>
                                      <a:rPr lang="en-US" sz="3200" b="0" i="1" u="none" strike="noStrike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US" sz="3200" b="0" i="1" u="none" strike="noStrike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p>
                                  <m:sSupPr>
                                    <m:ctrlPr>
                                      <a:rPr lang="en-US" sz="3200" b="0" i="1" u="none" strike="noStrike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3200" b="0" i="1" u="none" strike="noStrike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p>
                                    <m:r>
                                      <a:rPr lang="en-US" sz="3200" b="0" i="1" u="none" strike="noStrike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US" sz="3200" b="0" i="1" u="none" strike="noStrike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sz="3200" b="0" i="1" u="none" strike="noStrike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𝑎𝑏</m:t>
                                </m:r>
                                <m:r>
                                  <a:rPr lang="en-US" sz="3200" b="0" i="1" u="none" strike="noStrike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p>
                                  <m:sSupPr>
                                    <m:ctrlPr>
                                      <a:rPr lang="en-US" sz="3200" b="0" i="1" u="none" strike="noStrike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3200" b="0" i="1" u="none" strike="noStrike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p>
                                    <m:r>
                                      <a:rPr lang="en-US" sz="3200" b="0" i="1" u="none" strike="noStrike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sz="3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1102888327"/>
                      </a:ext>
                    </a:extLst>
                  </a:tr>
                  <a:tr h="483482">
                    <a:tc>
                      <a:txBody>
                        <a:bodyPr/>
                        <a:lstStyle/>
                        <a:p>
                          <a:pPr algn="l" fontAlgn="b"/>
                          <a:r>
                            <a:rPr lang="en-US" sz="24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Factor both sides</a:t>
                          </a:r>
                          <a:endParaRPr lang="en-US" sz="2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l" fontAlgn="b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ctrlPr>
                                      <a:rPr lang="en-US" sz="3200" b="0" i="1" u="none" strike="noStrike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3200" b="0" i="1" u="none" strike="noStrike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  <m:r>
                                      <a:rPr lang="en-US" sz="3200" b="0" i="1" u="none" strike="noStrike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sz="3200" b="0" i="1" u="none" strike="noStrike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</m:d>
                                <m:d>
                                  <m:dPr>
                                    <m:ctrlPr>
                                      <a:rPr lang="en-US" sz="3200" b="0" i="1" u="none" strike="noStrike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3200" b="0" i="1" u="none" strike="noStrike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  <m:r>
                                      <a:rPr lang="en-US" sz="3200" b="0" i="1" u="none" strike="noStrike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n-US" sz="3200" b="0" i="1" u="none" strike="noStrike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</m:d>
                                <m:r>
                                  <a:rPr lang="en-US" sz="3200" b="0" i="1" u="none" strike="noStrike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sz="3200" b="0" i="1" u="none" strike="noStrike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  <m:r>
                                  <a:rPr lang="en-US" sz="3200" b="0" i="1" u="none" strike="noStrike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3200" b="0" i="1" u="none" strike="noStrike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  <m:r>
                                  <a:rPr lang="en-US" sz="3200" b="0" i="1" u="none" strike="noStrike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3200" b="0" i="1" u="none" strike="noStrike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  <m:r>
                                  <a:rPr lang="en-US" sz="3200" b="0" i="1" u="none" strike="noStrike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3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3721027024"/>
                      </a:ext>
                    </a:extLst>
                  </a:tr>
                  <a:tr h="483482">
                    <a:tc>
                      <a:txBody>
                        <a:bodyPr/>
                        <a:lstStyle/>
                        <a:p>
                          <a:pPr algn="l" fontAlgn="b"/>
                          <a:r>
                            <a:rPr lang="en-US" sz="24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Divide by </a:t>
                          </a:r>
                          <a14:m>
                            <m:oMath xmlns:m="http://schemas.openxmlformats.org/officeDocument/2006/math">
                              <m:r>
                                <a:rPr lang="en-US" sz="2400" b="0" i="1" u="none" strike="noStrike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2400" b="0" i="1" u="none" strike="noStrike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US" sz="2400" b="0" i="1" u="none" strike="noStrike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400" b="0" i="1" u="none" strike="noStrike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  <m:r>
                                <a:rPr lang="en-US" sz="2400" b="0" i="1" u="none" strike="noStrike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oMath>
                          </a14:m>
                          <a:endParaRPr lang="en-US" sz="2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l" fontAlgn="b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3200" b="0" i="1" u="none" strike="noStrike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  <m:r>
                                  <a:rPr lang="en-US" sz="3200" b="0" i="1" u="none" strike="noStrike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sz="3200" b="0" i="1" u="none" strike="noStrike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  <m:r>
                                  <a:rPr lang="en-US" sz="3200" b="0" i="1" u="none" strike="noStrike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sz="3200" b="0" i="1" u="none" strike="noStrike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oMath>
                            </m:oMathPara>
                          </a14:m>
                          <a:endParaRPr lang="en-US" sz="3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203452471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Table 6">
                <a:extLst>
                  <a:ext uri="{FF2B5EF4-FFF2-40B4-BE49-F238E27FC236}">
                    <a16:creationId xmlns:a16="http://schemas.microsoft.com/office/drawing/2014/main" id="{5A76ED7E-B4AE-4EBF-85F0-12F22E2F554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96056619"/>
                  </p:ext>
                </p:extLst>
              </p:nvPr>
            </p:nvGraphicFramePr>
            <p:xfrm>
              <a:off x="660917" y="1973277"/>
              <a:ext cx="10870163" cy="2644140"/>
            </p:xfrm>
            <a:graphic>
              <a:graphicData uri="http://schemas.openxmlformats.org/drawingml/2006/table">
                <a:tbl>
                  <a:tblPr>
                    <a:tableStyleId>{5940675A-B579-460E-94D1-54222C63F5DA}</a:tableStyleId>
                  </a:tblPr>
                  <a:tblGrid>
                    <a:gridCol w="4526902">
                      <a:extLst>
                        <a:ext uri="{9D8B030D-6E8A-4147-A177-3AD203B41FA5}">
                          <a16:colId xmlns:a16="http://schemas.microsoft.com/office/drawing/2014/main" val="3018797996"/>
                        </a:ext>
                      </a:extLst>
                    </a:gridCol>
                    <a:gridCol w="6343261">
                      <a:extLst>
                        <a:ext uri="{9D8B030D-6E8A-4147-A177-3AD203B41FA5}">
                          <a16:colId xmlns:a16="http://schemas.microsoft.com/office/drawing/2014/main" val="4003415002"/>
                        </a:ext>
                      </a:extLst>
                    </a:gridCol>
                  </a:tblGrid>
                  <a:tr h="4953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7620" marR="7620" marT="7620" marB="0" anchor="b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r="-140242" b="-47407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7620" marR="7620" marT="7620" marB="0" anchor="b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71374" r="-96" b="-47407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36901205"/>
                      </a:ext>
                    </a:extLst>
                  </a:tr>
                  <a:tr h="6629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7620" marR="7620" marT="7620" marB="0" anchor="b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t="-73636" r="-140242" b="-24909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7620" marR="7620" marT="7620" marB="0" anchor="b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71374" t="-73636" r="-96" b="-24909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81956055"/>
                      </a:ext>
                    </a:extLst>
                  </a:tr>
                  <a:tr h="4953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7620" marR="7620" marT="7620" marB="0" anchor="b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t="-235802" r="-140242" b="-23827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7620" marR="7620" marT="7620" marB="0" anchor="b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71374" t="-235802" r="-96" b="-23827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02888327"/>
                      </a:ext>
                    </a:extLst>
                  </a:tr>
                  <a:tr h="495300">
                    <a:tc>
                      <a:txBody>
                        <a:bodyPr/>
                        <a:lstStyle/>
                        <a:p>
                          <a:pPr algn="l" fontAlgn="b"/>
                          <a:r>
                            <a:rPr lang="en-US" sz="24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Factor both sides</a:t>
                          </a:r>
                          <a:endParaRPr lang="en-US" sz="2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7620" marR="7620" marT="7620" marB="0" anchor="b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71374" t="-331707" r="-96" b="-13536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21027024"/>
                      </a:ext>
                    </a:extLst>
                  </a:tr>
                  <a:tr h="4953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7620" marR="7620" marT="7620" marB="0" anchor="b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t="-437037" r="-140242" b="-3703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7620" marR="7620" marT="7620" marB="0" anchor="b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71374" t="-437037" r="-96" b="-3703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34524718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6575059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C21FFC-4727-469B-9978-326993C91F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pPr algn="ctr"/>
            <a:r>
              <a:rPr lang="en-US" dirty="0"/>
              <a:t>Course Objective: </a:t>
            </a:r>
            <a:br>
              <a:rPr lang="en-US" dirty="0"/>
            </a:br>
            <a:r>
              <a:rPr lang="en-US" dirty="0"/>
              <a:t>Learn discrete math, logic and formal reasoning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073B20-6855-4701-8104-356E24B346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325563"/>
            <a:ext cx="10515600" cy="435133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4000" dirty="0"/>
              <a:t>Example: Prove 2=1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Table 6">
                <a:extLst>
                  <a:ext uri="{FF2B5EF4-FFF2-40B4-BE49-F238E27FC236}">
                    <a16:creationId xmlns:a16="http://schemas.microsoft.com/office/drawing/2014/main" id="{5A76ED7E-B4AE-4EBF-85F0-12F22E2F554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325194903"/>
                  </p:ext>
                </p:extLst>
              </p:nvPr>
            </p:nvGraphicFramePr>
            <p:xfrm>
              <a:off x="660917" y="1973277"/>
              <a:ext cx="10870163" cy="3139440"/>
            </p:xfrm>
            <a:graphic>
              <a:graphicData uri="http://schemas.openxmlformats.org/drawingml/2006/table">
                <a:tbl>
                  <a:tblPr>
                    <a:tableStyleId>{5940675A-B579-460E-94D1-54222C63F5DA}</a:tableStyleId>
                  </a:tblPr>
                  <a:tblGrid>
                    <a:gridCol w="4526902">
                      <a:extLst>
                        <a:ext uri="{9D8B030D-6E8A-4147-A177-3AD203B41FA5}">
                          <a16:colId xmlns:a16="http://schemas.microsoft.com/office/drawing/2014/main" val="3018797996"/>
                        </a:ext>
                      </a:extLst>
                    </a:gridCol>
                    <a:gridCol w="6343261">
                      <a:extLst>
                        <a:ext uri="{9D8B030D-6E8A-4147-A177-3AD203B41FA5}">
                          <a16:colId xmlns:a16="http://schemas.microsoft.com/office/drawing/2014/main" val="4003415002"/>
                        </a:ext>
                      </a:extLst>
                    </a:gridCol>
                  </a:tblGrid>
                  <a:tr h="483482">
                    <a:tc>
                      <a:txBody>
                        <a:bodyPr/>
                        <a:lstStyle/>
                        <a:p>
                          <a:pPr algn="l" fontAlgn="b"/>
                          <a:r>
                            <a:rPr lang="en-US" sz="24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Let </a:t>
                          </a:r>
                          <a14:m>
                            <m:oMath xmlns:m="http://schemas.openxmlformats.org/officeDocument/2006/math">
                              <m:r>
                                <a:rPr lang="en-US" sz="2400" b="0" i="1" u="none" strike="noStrike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oMath>
                          </a14:m>
                          <a:r>
                            <a:rPr lang="en-US" sz="24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 and </a:t>
                          </a:r>
                          <a14:m>
                            <m:oMath xmlns:m="http://schemas.openxmlformats.org/officeDocument/2006/math">
                              <m:r>
                                <a:rPr lang="en-US" sz="2400" b="0" i="1" u="none" strike="noStrike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oMath>
                          </a14:m>
                          <a:r>
                            <a:rPr lang="en-US" sz="24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 be non-zero such that:</a:t>
                          </a:r>
                          <a:endParaRPr lang="en-US" sz="2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l" fontAlgn="b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3200" b="0" i="1" u="none" strike="noStrike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  <m:r>
                                  <a:rPr lang="en-US" sz="3200" b="0" i="1" u="none" strike="noStrike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sz="3200" b="0" i="1" u="none" strike="noStrike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oMath>
                            </m:oMathPara>
                          </a14:m>
                          <a:endParaRPr lang="en-US" sz="3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136901205"/>
                      </a:ext>
                    </a:extLst>
                  </a:tr>
                  <a:tr h="483482">
                    <a:tc>
                      <a:txBody>
                        <a:bodyPr/>
                        <a:lstStyle/>
                        <a:p>
                          <a:pPr algn="l" fontAlgn="b"/>
                          <a:r>
                            <a:rPr lang="en-US" sz="24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Multiply both sides by </a:t>
                          </a:r>
                          <a14:m>
                            <m:oMath xmlns:m="http://schemas.openxmlformats.org/officeDocument/2006/math">
                              <m:r>
                                <a:rPr lang="en-US" sz="2400" b="0" i="1" u="none" strike="noStrike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oMath>
                          </a14:m>
                          <a:endParaRPr lang="en-US" sz="2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b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sz="3200" b="0" i="1" u="none" strike="noStrike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3200" b="0" i="1" u="none" strike="noStrike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p>
                                    <m:r>
                                      <a:rPr lang="en-US" sz="3200" b="0" i="1" u="none" strike="noStrike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US" sz="3200" b="0" i="1" u="none" strike="noStrike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sz="3200" b="0" i="1" u="none" strike="noStrike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𝑎𝑏</m:t>
                                </m:r>
                              </m:oMath>
                            </m:oMathPara>
                          </a14:m>
                          <a:endParaRPr lang="en-US" sz="3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  <a:p>
                          <a:pPr algn="l" fontAlgn="b"/>
                          <a:endParaRPr lang="en-US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4281956055"/>
                      </a:ext>
                    </a:extLst>
                  </a:tr>
                  <a:tr h="483482">
                    <a:tc>
                      <a:txBody>
                        <a:bodyPr/>
                        <a:lstStyle/>
                        <a:p>
                          <a:pPr algn="l" fontAlgn="b"/>
                          <a:r>
                            <a:rPr lang="en-US" sz="24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Subtract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sz="2400" b="0" i="1" u="none" strike="noStrike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b="0" i="1" u="none" strike="noStrike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p>
                                  <m:r>
                                    <a:rPr lang="en-US" sz="2400" b="0" i="1" u="none" strike="noStrike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oMath>
                          </a14:m>
                          <a:r>
                            <a:rPr lang="en-US" sz="24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 </a:t>
                          </a:r>
                          <a:endParaRPr lang="en-US" sz="2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l" fontAlgn="b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sz="3200" b="0" i="1" u="none" strike="noStrike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3200" b="0" i="1" u="none" strike="noStrike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p>
                                    <m:r>
                                      <a:rPr lang="en-US" sz="3200" b="0" i="1" u="none" strike="noStrike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US" sz="3200" b="0" i="1" u="none" strike="noStrike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p>
                                  <m:sSupPr>
                                    <m:ctrlPr>
                                      <a:rPr lang="en-US" sz="3200" b="0" i="1" u="none" strike="noStrike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3200" b="0" i="1" u="none" strike="noStrike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p>
                                    <m:r>
                                      <a:rPr lang="en-US" sz="3200" b="0" i="1" u="none" strike="noStrike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US" sz="3200" b="0" i="1" u="none" strike="noStrike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sz="3200" b="0" i="1" u="none" strike="noStrike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𝑎𝑏</m:t>
                                </m:r>
                                <m:r>
                                  <a:rPr lang="en-US" sz="3200" b="0" i="1" u="none" strike="noStrike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p>
                                  <m:sSupPr>
                                    <m:ctrlPr>
                                      <a:rPr lang="en-US" sz="3200" b="0" i="1" u="none" strike="noStrike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3200" b="0" i="1" u="none" strike="noStrike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p>
                                    <m:r>
                                      <a:rPr lang="en-US" sz="3200" b="0" i="1" u="none" strike="noStrike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sz="3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1102888327"/>
                      </a:ext>
                    </a:extLst>
                  </a:tr>
                  <a:tr h="483482">
                    <a:tc>
                      <a:txBody>
                        <a:bodyPr/>
                        <a:lstStyle/>
                        <a:p>
                          <a:pPr algn="l" fontAlgn="b"/>
                          <a:r>
                            <a:rPr lang="en-US" sz="24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Factor both sides</a:t>
                          </a:r>
                          <a:endParaRPr lang="en-US" sz="2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l" fontAlgn="b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ctrlPr>
                                      <a:rPr lang="en-US" sz="3200" b="0" i="1" u="none" strike="noStrike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3200" b="0" i="1" u="none" strike="noStrike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  <m:r>
                                      <a:rPr lang="en-US" sz="3200" b="0" i="1" u="none" strike="noStrike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sz="3200" b="0" i="1" u="none" strike="noStrike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</m:d>
                                <m:d>
                                  <m:dPr>
                                    <m:ctrlPr>
                                      <a:rPr lang="en-US" sz="3200" b="0" i="1" u="none" strike="noStrike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3200" b="0" i="1" u="none" strike="noStrike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  <m:r>
                                      <a:rPr lang="en-US" sz="3200" b="0" i="1" u="none" strike="noStrike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n-US" sz="3200" b="0" i="1" u="none" strike="noStrike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</m:d>
                                <m:r>
                                  <a:rPr lang="en-US" sz="3200" b="0" i="1" u="none" strike="noStrike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sz="3200" b="0" i="1" u="none" strike="noStrike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  <m:r>
                                  <a:rPr lang="en-US" sz="3200" b="0" i="1" u="none" strike="noStrike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3200" b="0" i="1" u="none" strike="noStrike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  <m:r>
                                  <a:rPr lang="en-US" sz="3200" b="0" i="1" u="none" strike="noStrike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3200" b="0" i="1" u="none" strike="noStrike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  <m:r>
                                  <a:rPr lang="en-US" sz="3200" b="0" i="1" u="none" strike="noStrike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3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3721027024"/>
                      </a:ext>
                    </a:extLst>
                  </a:tr>
                  <a:tr h="483482">
                    <a:tc>
                      <a:txBody>
                        <a:bodyPr/>
                        <a:lstStyle/>
                        <a:p>
                          <a:pPr algn="l" fontAlgn="b"/>
                          <a:r>
                            <a:rPr lang="en-US" sz="24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Divide by </a:t>
                          </a:r>
                          <a14:m>
                            <m:oMath xmlns:m="http://schemas.openxmlformats.org/officeDocument/2006/math">
                              <m:r>
                                <a:rPr lang="en-US" sz="2400" b="0" i="1" u="none" strike="noStrike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2400" b="0" i="1" u="none" strike="noStrike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US" sz="2400" b="0" i="1" u="none" strike="noStrike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400" b="0" i="1" u="none" strike="noStrike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  <m:r>
                                <a:rPr lang="en-US" sz="2400" b="0" i="1" u="none" strike="noStrike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oMath>
                          </a14:m>
                          <a:endParaRPr lang="en-US" sz="2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l" fontAlgn="b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3200" b="0" i="1" u="none" strike="noStrike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  <m:r>
                                  <a:rPr lang="en-US" sz="3200" b="0" i="1" u="none" strike="noStrike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sz="3200" b="0" i="1" u="none" strike="noStrike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  <m:r>
                                  <a:rPr lang="en-US" sz="3200" b="0" i="1" u="none" strike="noStrike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sz="3200" b="0" i="1" u="none" strike="noStrike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oMath>
                            </m:oMathPara>
                          </a14:m>
                          <a:endParaRPr lang="en-US" sz="3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2034524718"/>
                      </a:ext>
                    </a:extLst>
                  </a:tr>
                  <a:tr h="483482">
                    <a:tc>
                      <a:txBody>
                        <a:bodyPr/>
                        <a:lstStyle/>
                        <a:p>
                          <a:pPr algn="l" fontAlgn="b"/>
                          <a:r>
                            <a:rPr lang="en-US" sz="24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Since </a:t>
                          </a:r>
                          <a14:m>
                            <m:oMath xmlns:m="http://schemas.openxmlformats.org/officeDocument/2006/math">
                              <m:r>
                                <a:rPr lang="en-US" sz="2400" b="0" i="1" u="none" strike="noStrike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US" sz="2400" b="0" i="1" u="none" strike="noStrike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sz="2400" b="0" i="1" u="none" strike="noStrike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oMath>
                          </a14:m>
                          <a:r>
                            <a:rPr lang="en-US" sz="24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 we replace b with a</a:t>
                          </a:r>
                          <a:endParaRPr lang="en-US" sz="2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l" fontAlgn="b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3200" b="0" i="1" u="none" strike="noStrike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  <m:r>
                                  <a:rPr lang="en-US" sz="3200" b="0" i="1" u="none" strike="noStrike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sz="3200" b="0" i="1" u="none" strike="noStrike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  <m:r>
                                  <a:rPr lang="en-US" sz="3200" b="0" i="1" u="none" strike="noStrike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sz="3200" b="0" i="1" u="none" strike="noStrike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oMath>
                            </m:oMathPara>
                          </a14:m>
                          <a:endParaRPr lang="en-US" sz="3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391660637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Table 6">
                <a:extLst>
                  <a:ext uri="{FF2B5EF4-FFF2-40B4-BE49-F238E27FC236}">
                    <a16:creationId xmlns:a16="http://schemas.microsoft.com/office/drawing/2014/main" id="{5A76ED7E-B4AE-4EBF-85F0-12F22E2F554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325194903"/>
                  </p:ext>
                </p:extLst>
              </p:nvPr>
            </p:nvGraphicFramePr>
            <p:xfrm>
              <a:off x="660917" y="1973277"/>
              <a:ext cx="10870163" cy="3139440"/>
            </p:xfrm>
            <a:graphic>
              <a:graphicData uri="http://schemas.openxmlformats.org/drawingml/2006/table">
                <a:tbl>
                  <a:tblPr>
                    <a:tableStyleId>{5940675A-B579-460E-94D1-54222C63F5DA}</a:tableStyleId>
                  </a:tblPr>
                  <a:tblGrid>
                    <a:gridCol w="4526902">
                      <a:extLst>
                        <a:ext uri="{9D8B030D-6E8A-4147-A177-3AD203B41FA5}">
                          <a16:colId xmlns:a16="http://schemas.microsoft.com/office/drawing/2014/main" val="3018797996"/>
                        </a:ext>
                      </a:extLst>
                    </a:gridCol>
                    <a:gridCol w="6343261">
                      <a:extLst>
                        <a:ext uri="{9D8B030D-6E8A-4147-A177-3AD203B41FA5}">
                          <a16:colId xmlns:a16="http://schemas.microsoft.com/office/drawing/2014/main" val="4003415002"/>
                        </a:ext>
                      </a:extLst>
                    </a:gridCol>
                  </a:tblGrid>
                  <a:tr h="4953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7620" marR="7620" marT="7620" marB="0" anchor="b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r="-140242" b="-57407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7620" marR="7620" marT="7620" marB="0" anchor="b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71374" r="-96" b="-57407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36901205"/>
                      </a:ext>
                    </a:extLst>
                  </a:tr>
                  <a:tr h="6629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7620" marR="7620" marT="7620" marB="0" anchor="b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t="-74312" r="-140242" b="-32660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7620" marR="7620" marT="7620" marB="0" anchor="b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71374" t="-74312" r="-96" b="-32660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81956055"/>
                      </a:ext>
                    </a:extLst>
                  </a:tr>
                  <a:tr h="4953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7620" marR="7620" marT="7620" marB="0" anchor="b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t="-231707" r="-140242" b="-33414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7620" marR="7620" marT="7620" marB="0" anchor="b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71374" t="-231707" r="-96" b="-33414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02888327"/>
                      </a:ext>
                    </a:extLst>
                  </a:tr>
                  <a:tr h="495300">
                    <a:tc>
                      <a:txBody>
                        <a:bodyPr/>
                        <a:lstStyle/>
                        <a:p>
                          <a:pPr algn="l" fontAlgn="b"/>
                          <a:r>
                            <a:rPr lang="en-US" sz="24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Factor both sides</a:t>
                          </a:r>
                          <a:endParaRPr lang="en-US" sz="2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7620" marR="7620" marT="7620" marB="0" anchor="b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71374" t="-335802" r="-96" b="-23827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21027024"/>
                      </a:ext>
                    </a:extLst>
                  </a:tr>
                  <a:tr h="4953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7620" marR="7620" marT="7620" marB="0" anchor="b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t="-430488" r="-140242" b="-13536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7620" marR="7620" marT="7620" marB="0" anchor="b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71374" t="-430488" r="-96" b="-13536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34524718"/>
                      </a:ext>
                    </a:extLst>
                  </a:tr>
                  <a:tr h="4953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7620" marR="7620" marT="7620" marB="0" anchor="b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t="-537037" r="-140242" b="-3703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7620" marR="7620" marT="7620" marB="0" anchor="b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71374" t="-537037" r="-96" b="-3703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1660637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3714162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C21FFC-4727-469B-9978-326993C91F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pPr algn="ctr"/>
            <a:r>
              <a:rPr lang="en-US" dirty="0"/>
              <a:t>Course Objective: </a:t>
            </a:r>
            <a:br>
              <a:rPr lang="en-US" dirty="0"/>
            </a:br>
            <a:r>
              <a:rPr lang="en-US" dirty="0"/>
              <a:t>Learn discrete math, logic and formal reasoning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073B20-6855-4701-8104-356E24B346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325563"/>
            <a:ext cx="10515600" cy="435133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4000" dirty="0"/>
              <a:t>Example: Prove 2=1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Table 6">
                <a:extLst>
                  <a:ext uri="{FF2B5EF4-FFF2-40B4-BE49-F238E27FC236}">
                    <a16:creationId xmlns:a16="http://schemas.microsoft.com/office/drawing/2014/main" id="{5A76ED7E-B4AE-4EBF-85F0-12F22E2F554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28313888"/>
                  </p:ext>
                </p:extLst>
              </p:nvPr>
            </p:nvGraphicFramePr>
            <p:xfrm>
              <a:off x="660917" y="1973277"/>
              <a:ext cx="10870163" cy="3634740"/>
            </p:xfrm>
            <a:graphic>
              <a:graphicData uri="http://schemas.openxmlformats.org/drawingml/2006/table">
                <a:tbl>
                  <a:tblPr>
                    <a:tableStyleId>{5940675A-B579-460E-94D1-54222C63F5DA}</a:tableStyleId>
                  </a:tblPr>
                  <a:tblGrid>
                    <a:gridCol w="4526902">
                      <a:extLst>
                        <a:ext uri="{9D8B030D-6E8A-4147-A177-3AD203B41FA5}">
                          <a16:colId xmlns:a16="http://schemas.microsoft.com/office/drawing/2014/main" val="3018797996"/>
                        </a:ext>
                      </a:extLst>
                    </a:gridCol>
                    <a:gridCol w="6343261">
                      <a:extLst>
                        <a:ext uri="{9D8B030D-6E8A-4147-A177-3AD203B41FA5}">
                          <a16:colId xmlns:a16="http://schemas.microsoft.com/office/drawing/2014/main" val="4003415002"/>
                        </a:ext>
                      </a:extLst>
                    </a:gridCol>
                  </a:tblGrid>
                  <a:tr h="483482">
                    <a:tc>
                      <a:txBody>
                        <a:bodyPr/>
                        <a:lstStyle/>
                        <a:p>
                          <a:pPr algn="l" fontAlgn="b"/>
                          <a:r>
                            <a:rPr lang="en-US" sz="24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Let </a:t>
                          </a:r>
                          <a14:m>
                            <m:oMath xmlns:m="http://schemas.openxmlformats.org/officeDocument/2006/math">
                              <m:r>
                                <a:rPr lang="en-US" sz="2400" b="0" i="1" u="none" strike="noStrike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oMath>
                          </a14:m>
                          <a:r>
                            <a:rPr lang="en-US" sz="24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 and </a:t>
                          </a:r>
                          <a14:m>
                            <m:oMath xmlns:m="http://schemas.openxmlformats.org/officeDocument/2006/math">
                              <m:r>
                                <a:rPr lang="en-US" sz="2400" b="0" i="1" u="none" strike="noStrike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oMath>
                          </a14:m>
                          <a:r>
                            <a:rPr lang="en-US" sz="24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 be non-zero such that:</a:t>
                          </a:r>
                          <a:endParaRPr lang="en-US" sz="2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l" fontAlgn="b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3200" b="0" i="1" u="none" strike="noStrike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  <m:r>
                                  <a:rPr lang="en-US" sz="3200" b="0" i="1" u="none" strike="noStrike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sz="3200" b="0" i="1" u="none" strike="noStrike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oMath>
                            </m:oMathPara>
                          </a14:m>
                          <a:endParaRPr lang="en-US" sz="3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136901205"/>
                      </a:ext>
                    </a:extLst>
                  </a:tr>
                  <a:tr h="483482">
                    <a:tc>
                      <a:txBody>
                        <a:bodyPr/>
                        <a:lstStyle/>
                        <a:p>
                          <a:pPr algn="l" fontAlgn="b"/>
                          <a:r>
                            <a:rPr lang="en-US" sz="24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Multiply both sides by </a:t>
                          </a:r>
                          <a14:m>
                            <m:oMath xmlns:m="http://schemas.openxmlformats.org/officeDocument/2006/math">
                              <m:r>
                                <a:rPr lang="en-US" sz="2400" b="0" i="1" u="none" strike="noStrike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oMath>
                          </a14:m>
                          <a:endParaRPr lang="en-US" sz="2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b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sz="3200" b="0" i="1" u="none" strike="noStrike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3200" b="0" i="1" u="none" strike="noStrike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p>
                                    <m:r>
                                      <a:rPr lang="en-US" sz="3200" b="0" i="1" u="none" strike="noStrike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US" sz="3200" b="0" i="1" u="none" strike="noStrike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sz="3200" b="0" i="1" u="none" strike="noStrike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𝑎𝑏</m:t>
                                </m:r>
                              </m:oMath>
                            </m:oMathPara>
                          </a14:m>
                          <a:endParaRPr lang="en-US" sz="3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  <a:p>
                          <a:pPr algn="l" fontAlgn="b"/>
                          <a:endParaRPr lang="en-US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4281956055"/>
                      </a:ext>
                    </a:extLst>
                  </a:tr>
                  <a:tr h="483482">
                    <a:tc>
                      <a:txBody>
                        <a:bodyPr/>
                        <a:lstStyle/>
                        <a:p>
                          <a:pPr algn="l" fontAlgn="b"/>
                          <a:r>
                            <a:rPr lang="en-US" sz="24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Subtract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sz="2400" b="0" i="1" u="none" strike="noStrike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b="0" i="1" u="none" strike="noStrike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p>
                                  <m:r>
                                    <a:rPr lang="en-US" sz="2400" b="0" i="1" u="none" strike="noStrike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oMath>
                          </a14:m>
                          <a:r>
                            <a:rPr lang="en-US" sz="24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 </a:t>
                          </a:r>
                          <a:endParaRPr lang="en-US" sz="2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l" fontAlgn="b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sz="3200" b="0" i="1" u="none" strike="noStrike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3200" b="0" i="1" u="none" strike="noStrike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p>
                                    <m:r>
                                      <a:rPr lang="en-US" sz="3200" b="0" i="1" u="none" strike="noStrike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US" sz="3200" b="0" i="1" u="none" strike="noStrike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p>
                                  <m:sSupPr>
                                    <m:ctrlPr>
                                      <a:rPr lang="en-US" sz="3200" b="0" i="1" u="none" strike="noStrike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3200" b="0" i="1" u="none" strike="noStrike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p>
                                    <m:r>
                                      <a:rPr lang="en-US" sz="3200" b="0" i="1" u="none" strike="noStrike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US" sz="3200" b="0" i="1" u="none" strike="noStrike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sz="3200" b="0" i="1" u="none" strike="noStrike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𝑎𝑏</m:t>
                                </m:r>
                                <m:r>
                                  <a:rPr lang="en-US" sz="3200" b="0" i="1" u="none" strike="noStrike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p>
                                  <m:sSupPr>
                                    <m:ctrlPr>
                                      <a:rPr lang="en-US" sz="3200" b="0" i="1" u="none" strike="noStrike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3200" b="0" i="1" u="none" strike="noStrike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p>
                                    <m:r>
                                      <a:rPr lang="en-US" sz="3200" b="0" i="1" u="none" strike="noStrike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sz="3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1102888327"/>
                      </a:ext>
                    </a:extLst>
                  </a:tr>
                  <a:tr h="483482">
                    <a:tc>
                      <a:txBody>
                        <a:bodyPr/>
                        <a:lstStyle/>
                        <a:p>
                          <a:pPr algn="l" fontAlgn="b"/>
                          <a:r>
                            <a:rPr lang="en-US" sz="24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Factor both sides</a:t>
                          </a:r>
                          <a:endParaRPr lang="en-US" sz="2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l" fontAlgn="b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ctrlPr>
                                      <a:rPr lang="en-US" sz="3200" b="0" i="1" u="none" strike="noStrike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3200" b="0" i="1" u="none" strike="noStrike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  <m:r>
                                      <a:rPr lang="en-US" sz="3200" b="0" i="1" u="none" strike="noStrike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sz="3200" b="0" i="1" u="none" strike="noStrike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</m:d>
                                <m:d>
                                  <m:dPr>
                                    <m:ctrlPr>
                                      <a:rPr lang="en-US" sz="3200" b="0" i="1" u="none" strike="noStrike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3200" b="0" i="1" u="none" strike="noStrike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  <m:r>
                                      <a:rPr lang="en-US" sz="3200" b="0" i="1" u="none" strike="noStrike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n-US" sz="3200" b="0" i="1" u="none" strike="noStrike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</m:d>
                                <m:r>
                                  <a:rPr lang="en-US" sz="3200" b="0" i="1" u="none" strike="noStrike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sz="3200" b="0" i="1" u="none" strike="noStrike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  <m:r>
                                  <a:rPr lang="en-US" sz="3200" b="0" i="1" u="none" strike="noStrike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3200" b="0" i="1" u="none" strike="noStrike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  <m:r>
                                  <a:rPr lang="en-US" sz="3200" b="0" i="1" u="none" strike="noStrike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3200" b="0" i="1" u="none" strike="noStrike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  <m:r>
                                  <a:rPr lang="en-US" sz="3200" b="0" i="1" u="none" strike="noStrike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3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3721027024"/>
                      </a:ext>
                    </a:extLst>
                  </a:tr>
                  <a:tr h="483482">
                    <a:tc>
                      <a:txBody>
                        <a:bodyPr/>
                        <a:lstStyle/>
                        <a:p>
                          <a:pPr algn="l" fontAlgn="b"/>
                          <a:r>
                            <a:rPr lang="en-US" sz="24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Divide by </a:t>
                          </a:r>
                          <a14:m>
                            <m:oMath xmlns:m="http://schemas.openxmlformats.org/officeDocument/2006/math">
                              <m:r>
                                <a:rPr lang="en-US" sz="2400" b="0" i="1" u="none" strike="noStrike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2400" b="0" i="1" u="none" strike="noStrike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US" sz="2400" b="0" i="1" u="none" strike="noStrike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400" b="0" i="1" u="none" strike="noStrike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  <m:r>
                                <a:rPr lang="en-US" sz="2400" b="0" i="1" u="none" strike="noStrike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oMath>
                          </a14:m>
                          <a:endParaRPr lang="en-US" sz="2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l" fontAlgn="b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3200" b="0" i="1" u="none" strike="noStrike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  <m:r>
                                  <a:rPr lang="en-US" sz="3200" b="0" i="1" u="none" strike="noStrike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sz="3200" b="0" i="1" u="none" strike="noStrike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  <m:r>
                                  <a:rPr lang="en-US" sz="3200" b="0" i="1" u="none" strike="noStrike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sz="3200" b="0" i="1" u="none" strike="noStrike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oMath>
                            </m:oMathPara>
                          </a14:m>
                          <a:endParaRPr lang="en-US" sz="3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2034524718"/>
                      </a:ext>
                    </a:extLst>
                  </a:tr>
                  <a:tr h="483482">
                    <a:tc>
                      <a:txBody>
                        <a:bodyPr/>
                        <a:lstStyle/>
                        <a:p>
                          <a:pPr algn="l" fontAlgn="b"/>
                          <a:r>
                            <a:rPr lang="en-US" sz="24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Since </a:t>
                          </a:r>
                          <a14:m>
                            <m:oMath xmlns:m="http://schemas.openxmlformats.org/officeDocument/2006/math">
                              <m:r>
                                <a:rPr lang="en-US" sz="2400" b="0" i="1" u="none" strike="noStrike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US" sz="2400" b="0" i="1" u="none" strike="noStrike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sz="2400" b="0" i="1" u="none" strike="noStrike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oMath>
                          </a14:m>
                          <a:r>
                            <a:rPr lang="en-US" sz="24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 we replace b with a</a:t>
                          </a:r>
                          <a:endParaRPr lang="en-US" sz="2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l" fontAlgn="b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3200" b="0" i="1" u="none" strike="noStrike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  <m:r>
                                  <a:rPr lang="en-US" sz="3200" b="0" i="1" u="none" strike="noStrike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sz="3200" b="0" i="1" u="none" strike="noStrike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  <m:r>
                                  <a:rPr lang="en-US" sz="3200" b="0" i="1" u="none" strike="noStrike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sz="3200" b="0" i="1" u="none" strike="noStrike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oMath>
                            </m:oMathPara>
                          </a14:m>
                          <a:endParaRPr lang="en-US" sz="3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3916606374"/>
                      </a:ext>
                    </a:extLst>
                  </a:tr>
                  <a:tr h="483482">
                    <a:tc>
                      <a:txBody>
                        <a:bodyPr/>
                        <a:lstStyle/>
                        <a:p>
                          <a:pPr algn="l" fontAlgn="b"/>
                          <a:r>
                            <a:rPr lang="en-US" sz="24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Combine terms:</a:t>
                          </a:r>
                          <a:endParaRPr lang="en-US" sz="2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l" fontAlgn="b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3200" b="0" i="1" u="none" strike="noStrike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US" sz="3200" b="0" i="1" u="none" strike="noStrike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  <m:r>
                                  <a:rPr lang="en-US" sz="3200" b="0" i="1" u="none" strike="noStrike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sz="3200" b="0" i="1" u="none" strike="noStrike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oMath>
                            </m:oMathPara>
                          </a14:m>
                          <a:endParaRPr lang="en-US" sz="3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31787175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Table 6">
                <a:extLst>
                  <a:ext uri="{FF2B5EF4-FFF2-40B4-BE49-F238E27FC236}">
                    <a16:creationId xmlns:a16="http://schemas.microsoft.com/office/drawing/2014/main" id="{5A76ED7E-B4AE-4EBF-85F0-12F22E2F554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28313888"/>
                  </p:ext>
                </p:extLst>
              </p:nvPr>
            </p:nvGraphicFramePr>
            <p:xfrm>
              <a:off x="660917" y="1973277"/>
              <a:ext cx="10870163" cy="3634740"/>
            </p:xfrm>
            <a:graphic>
              <a:graphicData uri="http://schemas.openxmlformats.org/drawingml/2006/table">
                <a:tbl>
                  <a:tblPr>
                    <a:tableStyleId>{5940675A-B579-460E-94D1-54222C63F5DA}</a:tableStyleId>
                  </a:tblPr>
                  <a:tblGrid>
                    <a:gridCol w="4526902">
                      <a:extLst>
                        <a:ext uri="{9D8B030D-6E8A-4147-A177-3AD203B41FA5}">
                          <a16:colId xmlns:a16="http://schemas.microsoft.com/office/drawing/2014/main" val="3018797996"/>
                        </a:ext>
                      </a:extLst>
                    </a:gridCol>
                    <a:gridCol w="6343261">
                      <a:extLst>
                        <a:ext uri="{9D8B030D-6E8A-4147-A177-3AD203B41FA5}">
                          <a16:colId xmlns:a16="http://schemas.microsoft.com/office/drawing/2014/main" val="4003415002"/>
                        </a:ext>
                      </a:extLst>
                    </a:gridCol>
                  </a:tblGrid>
                  <a:tr h="4953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7620" marR="7620" marT="7620" marB="0" anchor="b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r="-140242" b="-67407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7620" marR="7620" marT="7620" marB="0" anchor="b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71374" r="-96" b="-67407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36901205"/>
                      </a:ext>
                    </a:extLst>
                  </a:tr>
                  <a:tr h="6629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7620" marR="7620" marT="7620" marB="0" anchor="b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t="-74312" r="-140242" b="-40091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7620" marR="7620" marT="7620" marB="0" anchor="b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71374" t="-74312" r="-96" b="-40091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81956055"/>
                      </a:ext>
                    </a:extLst>
                  </a:tr>
                  <a:tr h="4953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7620" marR="7620" marT="7620" marB="0" anchor="b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t="-231707" r="-140242" b="-4329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7620" marR="7620" marT="7620" marB="0" anchor="b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71374" t="-231707" r="-96" b="-43292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02888327"/>
                      </a:ext>
                    </a:extLst>
                  </a:tr>
                  <a:tr h="495300">
                    <a:tc>
                      <a:txBody>
                        <a:bodyPr/>
                        <a:lstStyle/>
                        <a:p>
                          <a:pPr algn="l" fontAlgn="b"/>
                          <a:r>
                            <a:rPr lang="en-US" sz="24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Factor both sides</a:t>
                          </a:r>
                          <a:endParaRPr lang="en-US" sz="2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7620" marR="7620" marT="7620" marB="0" anchor="b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71374" t="-335802" r="-96" b="-33827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21027024"/>
                      </a:ext>
                    </a:extLst>
                  </a:tr>
                  <a:tr h="4953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7620" marR="7620" marT="7620" marB="0" anchor="b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t="-435802" r="-140242" b="-23827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7620" marR="7620" marT="7620" marB="0" anchor="b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71374" t="-435802" r="-96" b="-23827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34524718"/>
                      </a:ext>
                    </a:extLst>
                  </a:tr>
                  <a:tr h="4953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7620" marR="7620" marT="7620" marB="0" anchor="b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t="-529268" r="-140242" b="-13536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7620" marR="7620" marT="7620" marB="0" anchor="b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71374" t="-529268" r="-96" b="-13536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16606374"/>
                      </a:ext>
                    </a:extLst>
                  </a:tr>
                  <a:tr h="495300">
                    <a:tc>
                      <a:txBody>
                        <a:bodyPr/>
                        <a:lstStyle/>
                        <a:p>
                          <a:pPr algn="l" fontAlgn="b"/>
                          <a:r>
                            <a:rPr lang="en-US" sz="24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Combine terms:</a:t>
                          </a:r>
                          <a:endParaRPr lang="en-US" sz="2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7620" marR="7620" marT="7620" marB="0" anchor="b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71374" t="-637037" r="-96" b="-3703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7871752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3415846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C21FFC-4727-469B-9978-326993C91F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pPr algn="ctr"/>
            <a:r>
              <a:rPr lang="en-US" dirty="0"/>
              <a:t>Course Objective: </a:t>
            </a:r>
            <a:br>
              <a:rPr lang="en-US" dirty="0"/>
            </a:br>
            <a:r>
              <a:rPr lang="en-US" dirty="0"/>
              <a:t>Learn discrete math, logic and formal reasoning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073B20-6855-4701-8104-356E24B346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325563"/>
            <a:ext cx="10515600" cy="435133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4000" dirty="0"/>
              <a:t>Example: Prove 2=1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Table 6">
                <a:extLst>
                  <a:ext uri="{FF2B5EF4-FFF2-40B4-BE49-F238E27FC236}">
                    <a16:creationId xmlns:a16="http://schemas.microsoft.com/office/drawing/2014/main" id="{5A76ED7E-B4AE-4EBF-85F0-12F22E2F554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790246111"/>
                  </p:ext>
                </p:extLst>
              </p:nvPr>
            </p:nvGraphicFramePr>
            <p:xfrm>
              <a:off x="660917" y="1973277"/>
              <a:ext cx="10870163" cy="4613522"/>
            </p:xfrm>
            <a:graphic>
              <a:graphicData uri="http://schemas.openxmlformats.org/drawingml/2006/table">
                <a:tbl>
                  <a:tblPr>
                    <a:tableStyleId>{5940675A-B579-460E-94D1-54222C63F5DA}</a:tableStyleId>
                  </a:tblPr>
                  <a:tblGrid>
                    <a:gridCol w="4526902">
                      <a:extLst>
                        <a:ext uri="{9D8B030D-6E8A-4147-A177-3AD203B41FA5}">
                          <a16:colId xmlns:a16="http://schemas.microsoft.com/office/drawing/2014/main" val="3018797996"/>
                        </a:ext>
                      </a:extLst>
                    </a:gridCol>
                    <a:gridCol w="6343261">
                      <a:extLst>
                        <a:ext uri="{9D8B030D-6E8A-4147-A177-3AD203B41FA5}">
                          <a16:colId xmlns:a16="http://schemas.microsoft.com/office/drawing/2014/main" val="4003415002"/>
                        </a:ext>
                      </a:extLst>
                    </a:gridCol>
                  </a:tblGrid>
                  <a:tr h="483482">
                    <a:tc>
                      <a:txBody>
                        <a:bodyPr/>
                        <a:lstStyle/>
                        <a:p>
                          <a:pPr algn="l" fontAlgn="b"/>
                          <a:r>
                            <a:rPr lang="en-US" sz="24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Let </a:t>
                          </a:r>
                          <a14:m>
                            <m:oMath xmlns:m="http://schemas.openxmlformats.org/officeDocument/2006/math">
                              <m:r>
                                <a:rPr lang="en-US" sz="2400" b="0" i="1" u="none" strike="noStrike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oMath>
                          </a14:m>
                          <a:r>
                            <a:rPr lang="en-US" sz="24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 and </a:t>
                          </a:r>
                          <a14:m>
                            <m:oMath xmlns:m="http://schemas.openxmlformats.org/officeDocument/2006/math">
                              <m:r>
                                <a:rPr lang="en-US" sz="2400" b="0" i="1" u="none" strike="noStrike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oMath>
                          </a14:m>
                          <a:r>
                            <a:rPr lang="en-US" sz="24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 be non-zero such that:</a:t>
                          </a:r>
                          <a:endParaRPr lang="en-US" sz="2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l" fontAlgn="b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3200" b="0" i="1" u="none" strike="noStrike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  <m:r>
                                  <a:rPr lang="en-US" sz="3200" b="0" i="1" u="none" strike="noStrike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sz="3200" b="0" i="1" u="none" strike="noStrike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oMath>
                            </m:oMathPara>
                          </a14:m>
                          <a:endParaRPr lang="en-US" sz="3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136901205"/>
                      </a:ext>
                    </a:extLst>
                  </a:tr>
                  <a:tr h="483482">
                    <a:tc>
                      <a:txBody>
                        <a:bodyPr/>
                        <a:lstStyle/>
                        <a:p>
                          <a:pPr algn="l" fontAlgn="b"/>
                          <a:r>
                            <a:rPr lang="en-US" sz="24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Multiply both sides by </a:t>
                          </a:r>
                          <a14:m>
                            <m:oMath xmlns:m="http://schemas.openxmlformats.org/officeDocument/2006/math">
                              <m:r>
                                <a:rPr lang="en-US" sz="2400" b="0" i="1" u="none" strike="noStrike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oMath>
                          </a14:m>
                          <a:endParaRPr lang="en-US" sz="2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b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sz="3200" b="0" i="1" u="none" strike="noStrike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3200" b="0" i="1" u="none" strike="noStrike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p>
                                    <m:r>
                                      <a:rPr lang="en-US" sz="3200" b="0" i="1" u="none" strike="noStrike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US" sz="3200" b="0" i="1" u="none" strike="noStrike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sz="3200" b="0" i="1" u="none" strike="noStrike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𝑎𝑏</m:t>
                                </m:r>
                              </m:oMath>
                            </m:oMathPara>
                          </a14:m>
                          <a:endParaRPr lang="en-US" sz="3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  <a:p>
                          <a:pPr algn="l" fontAlgn="b"/>
                          <a:endParaRPr lang="en-US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4281956055"/>
                      </a:ext>
                    </a:extLst>
                  </a:tr>
                  <a:tr h="483482">
                    <a:tc>
                      <a:txBody>
                        <a:bodyPr/>
                        <a:lstStyle/>
                        <a:p>
                          <a:pPr algn="l" fontAlgn="b"/>
                          <a:r>
                            <a:rPr lang="en-US" sz="24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Subtract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sz="2400" b="0" i="1" u="none" strike="noStrike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b="0" i="1" u="none" strike="noStrike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p>
                                  <m:r>
                                    <a:rPr lang="en-US" sz="2400" b="0" i="1" u="none" strike="noStrike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oMath>
                          </a14:m>
                          <a:r>
                            <a:rPr lang="en-US" sz="24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 </a:t>
                          </a:r>
                          <a:endParaRPr lang="en-US" sz="2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l" fontAlgn="b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sz="3200" b="0" i="1" u="none" strike="noStrike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3200" b="0" i="1" u="none" strike="noStrike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p>
                                    <m:r>
                                      <a:rPr lang="en-US" sz="3200" b="0" i="1" u="none" strike="noStrike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US" sz="3200" b="0" i="1" u="none" strike="noStrike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p>
                                  <m:sSupPr>
                                    <m:ctrlPr>
                                      <a:rPr lang="en-US" sz="3200" b="0" i="1" u="none" strike="noStrike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3200" b="0" i="1" u="none" strike="noStrike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p>
                                    <m:r>
                                      <a:rPr lang="en-US" sz="3200" b="0" i="1" u="none" strike="noStrike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US" sz="3200" b="0" i="1" u="none" strike="noStrike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sz="3200" b="0" i="1" u="none" strike="noStrike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𝑎𝑏</m:t>
                                </m:r>
                                <m:r>
                                  <a:rPr lang="en-US" sz="3200" b="0" i="1" u="none" strike="noStrike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p>
                                  <m:sSupPr>
                                    <m:ctrlPr>
                                      <a:rPr lang="en-US" sz="3200" b="0" i="1" u="none" strike="noStrike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3200" b="0" i="1" u="none" strike="noStrike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p>
                                    <m:r>
                                      <a:rPr lang="en-US" sz="3200" b="0" i="1" u="none" strike="noStrike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sz="3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1102888327"/>
                      </a:ext>
                    </a:extLst>
                  </a:tr>
                  <a:tr h="483482">
                    <a:tc>
                      <a:txBody>
                        <a:bodyPr/>
                        <a:lstStyle/>
                        <a:p>
                          <a:pPr algn="l" fontAlgn="b"/>
                          <a:r>
                            <a:rPr lang="en-US" sz="24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Factor both sides</a:t>
                          </a:r>
                          <a:endParaRPr lang="en-US" sz="2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l" fontAlgn="b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ctrlPr>
                                      <a:rPr lang="en-US" sz="3200" b="0" i="1" u="none" strike="noStrike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3200" b="0" i="1" u="none" strike="noStrike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  <m:r>
                                      <a:rPr lang="en-US" sz="3200" b="0" i="1" u="none" strike="noStrike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sz="3200" b="0" i="1" u="none" strike="noStrike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</m:d>
                                <m:d>
                                  <m:dPr>
                                    <m:ctrlPr>
                                      <a:rPr lang="en-US" sz="3200" b="0" i="1" u="none" strike="noStrike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3200" b="0" i="1" u="none" strike="noStrike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  <m:r>
                                      <a:rPr lang="en-US" sz="3200" b="0" i="1" u="none" strike="noStrike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n-US" sz="3200" b="0" i="1" u="none" strike="noStrike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</m:d>
                                <m:r>
                                  <a:rPr lang="en-US" sz="3200" b="0" i="1" u="none" strike="noStrike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sz="3200" b="0" i="1" u="none" strike="noStrike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  <m:r>
                                  <a:rPr lang="en-US" sz="3200" b="0" i="1" u="none" strike="noStrike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3200" b="0" i="1" u="none" strike="noStrike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  <m:r>
                                  <a:rPr lang="en-US" sz="3200" b="0" i="1" u="none" strike="noStrike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3200" b="0" i="1" u="none" strike="noStrike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  <m:r>
                                  <a:rPr lang="en-US" sz="3200" b="0" i="1" u="none" strike="noStrike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3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3721027024"/>
                      </a:ext>
                    </a:extLst>
                  </a:tr>
                  <a:tr h="483482">
                    <a:tc>
                      <a:txBody>
                        <a:bodyPr/>
                        <a:lstStyle/>
                        <a:p>
                          <a:pPr algn="l" fontAlgn="b"/>
                          <a:r>
                            <a:rPr lang="en-US" sz="24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Divide by </a:t>
                          </a:r>
                          <a14:m>
                            <m:oMath xmlns:m="http://schemas.openxmlformats.org/officeDocument/2006/math">
                              <m:r>
                                <a:rPr lang="en-US" sz="2400" b="0" i="1" u="none" strike="noStrike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2400" b="0" i="1" u="none" strike="noStrike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US" sz="2400" b="0" i="1" u="none" strike="noStrike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400" b="0" i="1" u="none" strike="noStrike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  <m:r>
                                <a:rPr lang="en-US" sz="2400" b="0" i="1" u="none" strike="noStrike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oMath>
                          </a14:m>
                          <a:endParaRPr lang="en-US" sz="2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l" fontAlgn="b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3200" b="0" i="1" u="none" strike="noStrike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  <m:r>
                                  <a:rPr lang="en-US" sz="3200" b="0" i="1" u="none" strike="noStrike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sz="3200" b="0" i="1" u="none" strike="noStrike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  <m:r>
                                  <a:rPr lang="en-US" sz="3200" b="0" i="1" u="none" strike="noStrike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sz="3200" b="0" i="1" u="none" strike="noStrike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oMath>
                            </m:oMathPara>
                          </a14:m>
                          <a:endParaRPr lang="en-US" sz="3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2034524718"/>
                      </a:ext>
                    </a:extLst>
                  </a:tr>
                  <a:tr h="483482">
                    <a:tc>
                      <a:txBody>
                        <a:bodyPr/>
                        <a:lstStyle/>
                        <a:p>
                          <a:pPr algn="l" fontAlgn="b"/>
                          <a:r>
                            <a:rPr lang="en-US" sz="24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Since </a:t>
                          </a:r>
                          <a14:m>
                            <m:oMath xmlns:m="http://schemas.openxmlformats.org/officeDocument/2006/math">
                              <m:r>
                                <a:rPr lang="en-US" sz="2400" b="0" i="1" u="none" strike="noStrike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US" sz="2400" b="0" i="1" u="none" strike="noStrike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sz="2400" b="0" i="1" u="none" strike="noStrike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oMath>
                          </a14:m>
                          <a:r>
                            <a:rPr lang="en-US" sz="24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 we replace b with a</a:t>
                          </a:r>
                          <a:endParaRPr lang="en-US" sz="2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l" fontAlgn="b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3200" b="0" i="1" u="none" strike="noStrike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  <m:r>
                                  <a:rPr lang="en-US" sz="3200" b="0" i="1" u="none" strike="noStrike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sz="3200" b="0" i="1" u="none" strike="noStrike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  <m:r>
                                  <a:rPr lang="en-US" sz="3200" b="0" i="1" u="none" strike="noStrike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sz="3200" b="0" i="1" u="none" strike="noStrike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oMath>
                            </m:oMathPara>
                          </a14:m>
                          <a:endParaRPr lang="en-US" sz="3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3916606374"/>
                      </a:ext>
                    </a:extLst>
                  </a:tr>
                  <a:tr h="483482">
                    <a:tc>
                      <a:txBody>
                        <a:bodyPr/>
                        <a:lstStyle/>
                        <a:p>
                          <a:pPr algn="l" fontAlgn="b"/>
                          <a:r>
                            <a:rPr lang="en-US" sz="24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Combine terms:</a:t>
                          </a:r>
                          <a:endParaRPr lang="en-US" sz="2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l" fontAlgn="b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3200" b="0" i="1" u="none" strike="noStrike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US" sz="3200" b="0" i="1" u="none" strike="noStrike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  <m:r>
                                  <a:rPr lang="en-US" sz="3200" b="0" i="1" u="none" strike="noStrike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sz="3200" b="0" i="1" u="none" strike="noStrike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oMath>
                            </m:oMathPara>
                          </a14:m>
                          <a:endParaRPr lang="en-US" sz="3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317871752"/>
                      </a:ext>
                    </a:extLst>
                  </a:tr>
                  <a:tr h="483482">
                    <a:tc>
                      <a:txBody>
                        <a:bodyPr/>
                        <a:lstStyle/>
                        <a:p>
                          <a:pPr algn="l" fontAlgn="b"/>
                          <a:r>
                            <a:rPr lang="en-US" sz="24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As </a:t>
                          </a:r>
                          <a14:m>
                            <m:oMath xmlns:m="http://schemas.openxmlformats.org/officeDocument/2006/math">
                              <m:r>
                                <a:rPr lang="en-US" sz="2400" b="0" i="1" u="none" strike="noStrike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oMath>
                          </a14:m>
                          <a:r>
                            <a:rPr lang="en-US" sz="24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 is non-zero divide it out:</a:t>
                          </a:r>
                          <a:endParaRPr lang="en-US" sz="2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l" fontAlgn="b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3200" b="0" i="1" u="none" strike="noStrike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2=1</m:t>
                                </m:r>
                              </m:oMath>
                            </m:oMathPara>
                          </a14:m>
                          <a:endParaRPr lang="en-US" sz="3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1938864802"/>
                      </a:ext>
                    </a:extLst>
                  </a:tr>
                  <a:tr h="483482">
                    <a:tc>
                      <a:txBody>
                        <a:bodyPr/>
                        <a:lstStyle/>
                        <a:p>
                          <a:pPr algn="l" fontAlgn="b"/>
                          <a:r>
                            <a:rPr lang="en-US" sz="24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Therefore  we have shown 2=1:</a:t>
                          </a:r>
                          <a:endParaRPr lang="en-US" sz="2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l" fontAlgn="b"/>
                          <a:endParaRPr lang="en-US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35353747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Table 6">
                <a:extLst>
                  <a:ext uri="{FF2B5EF4-FFF2-40B4-BE49-F238E27FC236}">
                    <a16:creationId xmlns:a16="http://schemas.microsoft.com/office/drawing/2014/main" id="{5A76ED7E-B4AE-4EBF-85F0-12F22E2F554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790246111"/>
                  </p:ext>
                </p:extLst>
              </p:nvPr>
            </p:nvGraphicFramePr>
            <p:xfrm>
              <a:off x="660917" y="1973277"/>
              <a:ext cx="10870163" cy="4613522"/>
            </p:xfrm>
            <a:graphic>
              <a:graphicData uri="http://schemas.openxmlformats.org/drawingml/2006/table">
                <a:tbl>
                  <a:tblPr>
                    <a:tableStyleId>{5940675A-B579-460E-94D1-54222C63F5DA}</a:tableStyleId>
                  </a:tblPr>
                  <a:tblGrid>
                    <a:gridCol w="4526902">
                      <a:extLst>
                        <a:ext uri="{9D8B030D-6E8A-4147-A177-3AD203B41FA5}">
                          <a16:colId xmlns:a16="http://schemas.microsoft.com/office/drawing/2014/main" val="3018797996"/>
                        </a:ext>
                      </a:extLst>
                    </a:gridCol>
                    <a:gridCol w="6343261">
                      <a:extLst>
                        <a:ext uri="{9D8B030D-6E8A-4147-A177-3AD203B41FA5}">
                          <a16:colId xmlns:a16="http://schemas.microsoft.com/office/drawing/2014/main" val="4003415002"/>
                        </a:ext>
                      </a:extLst>
                    </a:gridCol>
                  </a:tblGrid>
                  <a:tr h="4953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7620" marR="7620" marT="7620" marB="0" anchor="b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r="-140242" b="-87284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7620" marR="7620" marT="7620" marB="0" anchor="b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71374" r="-96" b="-87284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36901205"/>
                      </a:ext>
                    </a:extLst>
                  </a:tr>
                  <a:tr h="6629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7620" marR="7620" marT="7620" marB="0" anchor="b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t="-74312" r="-140242" b="-54862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7620" marR="7620" marT="7620" marB="0" anchor="b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71374" t="-74312" r="-96" b="-54862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81956055"/>
                      </a:ext>
                    </a:extLst>
                  </a:tr>
                  <a:tr h="4953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7620" marR="7620" marT="7620" marB="0" anchor="b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t="-231707" r="-140242" b="-62926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7620" marR="7620" marT="7620" marB="0" anchor="b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71374" t="-231707" r="-96" b="-62926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02888327"/>
                      </a:ext>
                    </a:extLst>
                  </a:tr>
                  <a:tr h="495300">
                    <a:tc>
                      <a:txBody>
                        <a:bodyPr/>
                        <a:lstStyle/>
                        <a:p>
                          <a:pPr algn="l" fontAlgn="b"/>
                          <a:r>
                            <a:rPr lang="en-US" sz="24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Factor both sides</a:t>
                          </a:r>
                          <a:endParaRPr lang="en-US" sz="2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7620" marR="7620" marT="7620" marB="0" anchor="b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71374" t="-335802" r="-96" b="-53703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21027024"/>
                      </a:ext>
                    </a:extLst>
                  </a:tr>
                  <a:tr h="4953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7620" marR="7620" marT="7620" marB="0" anchor="b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t="-435802" r="-140242" b="-43703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7620" marR="7620" marT="7620" marB="0" anchor="b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71374" t="-435802" r="-96" b="-43703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34524718"/>
                      </a:ext>
                    </a:extLst>
                  </a:tr>
                  <a:tr h="4953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7620" marR="7620" marT="7620" marB="0" anchor="b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t="-529268" r="-140242" b="-33170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7620" marR="7620" marT="7620" marB="0" anchor="b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71374" t="-529268" r="-96" b="-33170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16606374"/>
                      </a:ext>
                    </a:extLst>
                  </a:tr>
                  <a:tr h="495300">
                    <a:tc>
                      <a:txBody>
                        <a:bodyPr/>
                        <a:lstStyle/>
                        <a:p>
                          <a:pPr algn="l" fontAlgn="b"/>
                          <a:r>
                            <a:rPr lang="en-US" sz="24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Combine terms:</a:t>
                          </a:r>
                          <a:endParaRPr lang="en-US" sz="2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7620" marR="7620" marT="7620" marB="0" anchor="b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71374" t="-637037" r="-96" b="-23580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7871752"/>
                      </a:ext>
                    </a:extLst>
                  </a:tr>
                  <a:tr h="4953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7620" marR="7620" marT="7620" marB="0" anchor="b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t="-728049" r="-140242" b="-1329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7620" marR="7620" marT="7620" marB="0" anchor="b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71374" t="-728049" r="-96" b="-13292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38864802"/>
                      </a:ext>
                    </a:extLst>
                  </a:tr>
                  <a:tr h="483482">
                    <a:tc>
                      <a:txBody>
                        <a:bodyPr/>
                        <a:lstStyle/>
                        <a:p>
                          <a:pPr algn="l" fontAlgn="b"/>
                          <a:r>
                            <a:rPr lang="en-US" sz="24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Therefore  we have shown 2=1:</a:t>
                          </a:r>
                          <a:endParaRPr lang="en-US" sz="2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l" fontAlgn="b"/>
                          <a:endParaRPr lang="en-US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35353747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4180314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EF5C3F-58CF-44D4-8CF5-502F354580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2192000" cy="1325563"/>
          </a:xfrm>
        </p:spPr>
        <p:txBody>
          <a:bodyPr>
            <a:normAutofit/>
          </a:bodyPr>
          <a:lstStyle/>
          <a:p>
            <a:pPr algn="ctr"/>
            <a:r>
              <a:rPr lang="en-US" sz="3600" dirty="0"/>
              <a:t>Example from MIT’s “</a:t>
            </a:r>
            <a:r>
              <a:rPr lang="en-US" sz="3600" i="1" dirty="0"/>
              <a:t>Mathematics for Computer Science</a:t>
            </a:r>
            <a:r>
              <a:rPr lang="en-US" sz="3600" dirty="0"/>
              <a:t>”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3E2FF06-CCFA-4E8F-A6E8-C6AD615ED8A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527046"/>
                <a:ext cx="10515600" cy="4351338"/>
              </a:xfrm>
            </p:spPr>
            <p:txBody>
              <a:bodyPr>
                <a:normAutofit/>
              </a:bodyPr>
              <a:lstStyle/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en-US" sz="4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∀</m:t>
                    </m:r>
                    <m:r>
                      <a:rPr lang="en-US" sz="4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en-US" sz="4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m:rPr>
                        <m:nor/>
                      </m:rPr>
                      <a:rPr lang="en-US" sz="4400"/>
                      <m:t>ℕ</m:t>
                    </m:r>
                    <m:r>
                      <a:rPr lang="en-US" sz="4400" b="0" i="1" smtClean="0">
                        <a:latin typeface="Cambria Math" panose="02040503050406030204" pitchFamily="18" charset="0"/>
                      </a:rPr>
                      <m:t> , </m:t>
                    </m:r>
                    <m:sSup>
                      <m:sSupPr>
                        <m:ctrlPr>
                          <a:rPr lang="en-US" sz="4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4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sz="4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4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sz="4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en-US" sz="4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+41</m:t>
                    </m:r>
                  </m:oMath>
                </a14:m>
                <a:r>
                  <a:rPr lang="en-US" sz="4400" dirty="0"/>
                  <a:t> is a prime number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3E2FF06-CCFA-4E8F-A6E8-C6AD615ED8A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527046"/>
                <a:ext cx="10515600" cy="4351338"/>
              </a:xfrm>
              <a:blipFill>
                <a:blip r:embed="rId3"/>
                <a:stretch>
                  <a:fillRect t="-420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F3075A15-8777-4146-A0B9-9F71E834961F}"/>
              </a:ext>
            </a:extLst>
          </p:cNvPr>
          <p:cNvCxnSpPr>
            <a:cxnSpLocks/>
          </p:cNvCxnSpPr>
          <p:nvPr/>
        </p:nvCxnSpPr>
        <p:spPr>
          <a:xfrm flipH="1" flipV="1">
            <a:off x="1688842" y="2192695"/>
            <a:ext cx="289248" cy="88640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3A11D38B-C9F6-4592-9078-2B6065A87240}"/>
              </a:ext>
            </a:extLst>
          </p:cNvPr>
          <p:cNvSpPr txBox="1"/>
          <p:nvPr/>
        </p:nvSpPr>
        <p:spPr>
          <a:xfrm>
            <a:off x="2795295" y="3918857"/>
            <a:ext cx="182413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The natural numbers</a:t>
            </a:r>
          </a:p>
          <a:p>
            <a:pPr algn="ctr"/>
            <a:r>
              <a:rPr lang="en-US" sz="2400" dirty="0"/>
              <a:t>i.e. {0,1,2,..}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B4E47D03-F9C2-4E4F-A74F-8A7D8A98E4FB}"/>
              </a:ext>
            </a:extLst>
          </p:cNvPr>
          <p:cNvCxnSpPr>
            <a:cxnSpLocks/>
          </p:cNvCxnSpPr>
          <p:nvPr/>
        </p:nvCxnSpPr>
        <p:spPr>
          <a:xfrm flipH="1" flipV="1">
            <a:off x="3074438" y="2192695"/>
            <a:ext cx="144624" cy="172616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1D19677C-12D5-4D18-83FC-6A9CD7096EB0}"/>
              </a:ext>
            </a:extLst>
          </p:cNvPr>
          <p:cNvSpPr txBox="1"/>
          <p:nvPr/>
        </p:nvSpPr>
        <p:spPr>
          <a:xfrm>
            <a:off x="1465684" y="3192236"/>
            <a:ext cx="132961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“For All” symbol</a:t>
            </a:r>
          </a:p>
        </p:txBody>
      </p:sp>
      <p:sp>
        <p:nvSpPr>
          <p:cNvPr id="14" name="Left Brace 13">
            <a:extLst>
              <a:ext uri="{FF2B5EF4-FFF2-40B4-BE49-F238E27FC236}">
                <a16:creationId xmlns:a16="http://schemas.microsoft.com/office/drawing/2014/main" id="{215023E9-6639-4D6E-8262-FDD4FB7AB27A}"/>
              </a:ext>
            </a:extLst>
          </p:cNvPr>
          <p:cNvSpPr/>
          <p:nvPr/>
        </p:nvSpPr>
        <p:spPr>
          <a:xfrm rot="16200000">
            <a:off x="4565004" y="1107052"/>
            <a:ext cx="886407" cy="2915819"/>
          </a:xfrm>
          <a:prstGeom prst="lef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F2255D9-B69F-4A90-B8D9-A440794D6528}"/>
              </a:ext>
            </a:extLst>
          </p:cNvPr>
          <p:cNvSpPr txBox="1"/>
          <p:nvPr/>
        </p:nvSpPr>
        <p:spPr>
          <a:xfrm>
            <a:off x="3550297" y="2903790"/>
            <a:ext cx="342900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The expression we are evaluating</a:t>
            </a:r>
          </a:p>
        </p:txBody>
      </p:sp>
      <p:sp>
        <p:nvSpPr>
          <p:cNvPr id="17" name="Left Brace 16">
            <a:extLst>
              <a:ext uri="{FF2B5EF4-FFF2-40B4-BE49-F238E27FC236}">
                <a16:creationId xmlns:a16="http://schemas.microsoft.com/office/drawing/2014/main" id="{F38C824B-3CAF-4A92-A528-14060D865395}"/>
              </a:ext>
            </a:extLst>
          </p:cNvPr>
          <p:cNvSpPr/>
          <p:nvPr/>
        </p:nvSpPr>
        <p:spPr>
          <a:xfrm rot="16200000">
            <a:off x="8581830" y="850461"/>
            <a:ext cx="886407" cy="3429001"/>
          </a:xfrm>
          <a:prstGeom prst="lef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2F608B9-127E-495F-8261-00A39F4F1BD6}"/>
              </a:ext>
            </a:extLst>
          </p:cNvPr>
          <p:cNvSpPr txBox="1"/>
          <p:nvPr/>
        </p:nvSpPr>
        <p:spPr>
          <a:xfrm>
            <a:off x="7310533" y="2922451"/>
            <a:ext cx="3899031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A natural number greater than 1 that is not a product of two smaller natural numbers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7139575-A28C-45E6-9BB3-F64C6B45202B}"/>
              </a:ext>
            </a:extLst>
          </p:cNvPr>
          <p:cNvSpPr txBox="1"/>
          <p:nvPr/>
        </p:nvSpPr>
        <p:spPr>
          <a:xfrm>
            <a:off x="410547" y="5616476"/>
            <a:ext cx="1166015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i="1" dirty="0"/>
              <a:t>How do we determine if this statement is true or false?</a:t>
            </a:r>
          </a:p>
        </p:txBody>
      </p:sp>
    </p:spTree>
    <p:extLst>
      <p:ext uri="{BB962C8B-B14F-4D97-AF65-F5344CB8AC3E}">
        <p14:creationId xmlns:p14="http://schemas.microsoft.com/office/powerpoint/2010/main" val="41785921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3" grpId="0"/>
      <p:bldP spid="14" grpId="0" animBg="1"/>
      <p:bldP spid="15" grpId="0"/>
      <p:bldP spid="17" grpId="0" animBg="1"/>
      <p:bldP spid="18" grpId="0"/>
      <p:bldP spid="19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EF5C3F-58CF-44D4-8CF5-502F354580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2192000" cy="1325563"/>
          </a:xfrm>
        </p:spPr>
        <p:txBody>
          <a:bodyPr>
            <a:normAutofit/>
          </a:bodyPr>
          <a:lstStyle/>
          <a:p>
            <a:pPr algn="ctr"/>
            <a:r>
              <a:rPr lang="en-US" sz="3600" dirty="0"/>
              <a:t>Example from MIT’s “</a:t>
            </a:r>
            <a:r>
              <a:rPr lang="en-US" sz="3600" i="1" dirty="0"/>
              <a:t>Mathematics for Computer Science</a:t>
            </a:r>
            <a:r>
              <a:rPr lang="en-US" sz="3600" dirty="0"/>
              <a:t>”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3E2FF06-CCFA-4E8F-A6E8-C6AD615ED8A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527046"/>
                <a:ext cx="10515600" cy="4351338"/>
              </a:xfrm>
            </p:spPr>
            <p:txBody>
              <a:bodyPr>
                <a:normAutofit/>
              </a:bodyPr>
              <a:lstStyle/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en-US" sz="4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∀</m:t>
                    </m:r>
                    <m:r>
                      <a:rPr lang="en-US" sz="4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en-US" sz="4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m:rPr>
                        <m:nor/>
                      </m:rPr>
                      <a:rPr lang="en-US" sz="4400"/>
                      <m:t>ℕ</m:t>
                    </m:r>
                    <m:r>
                      <a:rPr lang="en-US" sz="4400" b="0" i="1" smtClean="0">
                        <a:latin typeface="Cambria Math" panose="02040503050406030204" pitchFamily="18" charset="0"/>
                      </a:rPr>
                      <m:t> , </m:t>
                    </m:r>
                    <m:sSup>
                      <m:sSupPr>
                        <m:ctrlPr>
                          <a:rPr lang="en-US" sz="4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4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sz="4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4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sz="4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en-US" sz="4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+41</m:t>
                    </m:r>
                  </m:oMath>
                </a14:m>
                <a:r>
                  <a:rPr lang="en-US" sz="4400" dirty="0"/>
                  <a:t> is a prime number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3E2FF06-CCFA-4E8F-A6E8-C6AD615ED8A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527046"/>
                <a:ext cx="10515600" cy="4351338"/>
              </a:xfrm>
              <a:blipFill>
                <a:blip r:embed="rId3"/>
                <a:stretch>
                  <a:fillRect t="-420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TextBox 18">
            <a:extLst>
              <a:ext uri="{FF2B5EF4-FFF2-40B4-BE49-F238E27FC236}">
                <a16:creationId xmlns:a16="http://schemas.microsoft.com/office/drawing/2014/main" id="{A7139575-A28C-45E6-9BB3-F64C6B45202B}"/>
              </a:ext>
            </a:extLst>
          </p:cNvPr>
          <p:cNvSpPr txBox="1"/>
          <p:nvPr/>
        </p:nvSpPr>
        <p:spPr>
          <a:xfrm>
            <a:off x="419877" y="2556035"/>
            <a:ext cx="1166015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i="1" dirty="0"/>
              <a:t>How do we determine if this statement is true or false?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E1158B02-26BD-4D43-ABB7-000EE1D13A3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97845641"/>
              </p:ext>
            </p:extLst>
          </p:nvPr>
        </p:nvGraphicFramePr>
        <p:xfrm>
          <a:off x="492966" y="3594079"/>
          <a:ext cx="5058747" cy="495300"/>
        </p:xfrm>
        <a:graphic>
          <a:graphicData uri="http://schemas.openxmlformats.org/drawingml/2006/table">
            <a:tbl>
              <a:tblPr/>
              <a:tblGrid>
                <a:gridCol w="1686249">
                  <a:extLst>
                    <a:ext uri="{9D8B030D-6E8A-4147-A177-3AD203B41FA5}">
                      <a16:colId xmlns:a16="http://schemas.microsoft.com/office/drawing/2014/main" val="251178400"/>
                    </a:ext>
                  </a:extLst>
                </a:gridCol>
                <a:gridCol w="1686249">
                  <a:extLst>
                    <a:ext uri="{9D8B030D-6E8A-4147-A177-3AD203B41FA5}">
                      <a16:colId xmlns:a16="http://schemas.microsoft.com/office/drawing/2014/main" val="729554165"/>
                    </a:ext>
                  </a:extLst>
                </a:gridCol>
                <a:gridCol w="1686249">
                  <a:extLst>
                    <a:ext uri="{9D8B030D-6E8A-4147-A177-3AD203B41FA5}">
                      <a16:colId xmlns:a16="http://schemas.microsoft.com/office/drawing/2014/main" val="641707932"/>
                    </a:ext>
                  </a:extLst>
                </a:gridCol>
              </a:tblGrid>
              <a:tr h="480227">
                <a:tc>
                  <a:txBody>
                    <a:bodyPr/>
                    <a:lstStyle/>
                    <a:p>
                      <a:pPr algn="ctr" fontAlgn="b"/>
                      <a:r>
                        <a:rPr lang="en-US" sz="3200" b="0" i="1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n=0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41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3200" b="0" i="0" u="none" strike="noStrike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Prime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6070346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915253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EF5C3F-58CF-44D4-8CF5-502F354580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2192000" cy="1325563"/>
          </a:xfrm>
        </p:spPr>
        <p:txBody>
          <a:bodyPr>
            <a:normAutofit/>
          </a:bodyPr>
          <a:lstStyle/>
          <a:p>
            <a:pPr algn="ctr"/>
            <a:r>
              <a:rPr lang="en-US" sz="3600" dirty="0"/>
              <a:t>Example from MIT’s “</a:t>
            </a:r>
            <a:r>
              <a:rPr lang="en-US" sz="3600" i="1" dirty="0"/>
              <a:t>Mathematics for Computer Science</a:t>
            </a:r>
            <a:r>
              <a:rPr lang="en-US" sz="3600" dirty="0"/>
              <a:t>”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3E2FF06-CCFA-4E8F-A6E8-C6AD615ED8A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527046"/>
                <a:ext cx="10515600" cy="4351338"/>
              </a:xfrm>
            </p:spPr>
            <p:txBody>
              <a:bodyPr>
                <a:normAutofit/>
              </a:bodyPr>
              <a:lstStyle/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en-US" sz="4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∀</m:t>
                    </m:r>
                    <m:r>
                      <a:rPr lang="en-US" sz="4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en-US" sz="4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m:rPr>
                        <m:nor/>
                      </m:rPr>
                      <a:rPr lang="en-US" sz="4400"/>
                      <m:t>ℕ</m:t>
                    </m:r>
                    <m:r>
                      <a:rPr lang="en-US" sz="4400" b="0" i="1" smtClean="0">
                        <a:latin typeface="Cambria Math" panose="02040503050406030204" pitchFamily="18" charset="0"/>
                      </a:rPr>
                      <m:t> , </m:t>
                    </m:r>
                    <m:sSup>
                      <m:sSupPr>
                        <m:ctrlPr>
                          <a:rPr lang="en-US" sz="4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4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sz="4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4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sz="4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en-US" sz="4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+41</m:t>
                    </m:r>
                  </m:oMath>
                </a14:m>
                <a:r>
                  <a:rPr lang="en-US" sz="4400" dirty="0"/>
                  <a:t> is a prime number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3E2FF06-CCFA-4E8F-A6E8-C6AD615ED8A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527046"/>
                <a:ext cx="10515600" cy="4351338"/>
              </a:xfrm>
              <a:blipFill>
                <a:blip r:embed="rId3"/>
                <a:stretch>
                  <a:fillRect t="-420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TextBox 18">
            <a:extLst>
              <a:ext uri="{FF2B5EF4-FFF2-40B4-BE49-F238E27FC236}">
                <a16:creationId xmlns:a16="http://schemas.microsoft.com/office/drawing/2014/main" id="{A7139575-A28C-45E6-9BB3-F64C6B45202B}"/>
              </a:ext>
            </a:extLst>
          </p:cNvPr>
          <p:cNvSpPr txBox="1"/>
          <p:nvPr/>
        </p:nvSpPr>
        <p:spPr>
          <a:xfrm>
            <a:off x="419877" y="2556035"/>
            <a:ext cx="1166015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i="1" dirty="0"/>
              <a:t>How do we determine if this statement is true or false?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E1158B02-26BD-4D43-ABB7-000EE1D13A3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45182508"/>
              </p:ext>
            </p:extLst>
          </p:nvPr>
        </p:nvGraphicFramePr>
        <p:xfrm>
          <a:off x="492966" y="3594079"/>
          <a:ext cx="5058747" cy="990600"/>
        </p:xfrm>
        <a:graphic>
          <a:graphicData uri="http://schemas.openxmlformats.org/drawingml/2006/table">
            <a:tbl>
              <a:tblPr/>
              <a:tblGrid>
                <a:gridCol w="1686249">
                  <a:extLst>
                    <a:ext uri="{9D8B030D-6E8A-4147-A177-3AD203B41FA5}">
                      <a16:colId xmlns:a16="http://schemas.microsoft.com/office/drawing/2014/main" val="251178400"/>
                    </a:ext>
                  </a:extLst>
                </a:gridCol>
                <a:gridCol w="1686249">
                  <a:extLst>
                    <a:ext uri="{9D8B030D-6E8A-4147-A177-3AD203B41FA5}">
                      <a16:colId xmlns:a16="http://schemas.microsoft.com/office/drawing/2014/main" val="729554165"/>
                    </a:ext>
                  </a:extLst>
                </a:gridCol>
                <a:gridCol w="1686249">
                  <a:extLst>
                    <a:ext uri="{9D8B030D-6E8A-4147-A177-3AD203B41FA5}">
                      <a16:colId xmlns:a16="http://schemas.microsoft.com/office/drawing/2014/main" val="641707932"/>
                    </a:ext>
                  </a:extLst>
                </a:gridCol>
              </a:tblGrid>
              <a:tr h="480227">
                <a:tc>
                  <a:txBody>
                    <a:bodyPr/>
                    <a:lstStyle/>
                    <a:p>
                      <a:pPr algn="ctr" fontAlgn="b"/>
                      <a:r>
                        <a:rPr lang="en-US" sz="3200" b="0" i="1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n=0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41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3200" b="0" i="0" u="none" strike="noStrike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Prime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60703464"/>
                  </a:ext>
                </a:extLst>
              </a:tr>
              <a:tr h="480227">
                <a:tc>
                  <a:txBody>
                    <a:bodyPr/>
                    <a:lstStyle/>
                    <a:p>
                      <a:pPr algn="ctr" fontAlgn="b"/>
                      <a:r>
                        <a:rPr lang="en-US" sz="3200" b="0" i="1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n=1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43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3200" b="0" i="0" u="none" strike="noStrike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Prime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8207553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838911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EF5C3F-58CF-44D4-8CF5-502F354580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2192000" cy="1325563"/>
          </a:xfrm>
        </p:spPr>
        <p:txBody>
          <a:bodyPr>
            <a:normAutofit/>
          </a:bodyPr>
          <a:lstStyle/>
          <a:p>
            <a:pPr algn="ctr"/>
            <a:r>
              <a:rPr lang="en-US" sz="3600" dirty="0"/>
              <a:t>Example from MIT’s “</a:t>
            </a:r>
            <a:r>
              <a:rPr lang="en-US" sz="3600" i="1" dirty="0"/>
              <a:t>Mathematics for Computer Science</a:t>
            </a:r>
            <a:r>
              <a:rPr lang="en-US" sz="3600" dirty="0"/>
              <a:t>”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3E2FF06-CCFA-4E8F-A6E8-C6AD615ED8A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527046"/>
                <a:ext cx="10515600" cy="4351338"/>
              </a:xfrm>
            </p:spPr>
            <p:txBody>
              <a:bodyPr>
                <a:normAutofit/>
              </a:bodyPr>
              <a:lstStyle/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en-US" sz="4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∀</m:t>
                    </m:r>
                    <m:r>
                      <a:rPr lang="en-US" sz="4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en-US" sz="4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m:rPr>
                        <m:nor/>
                      </m:rPr>
                      <a:rPr lang="en-US" sz="4400"/>
                      <m:t>ℕ</m:t>
                    </m:r>
                    <m:r>
                      <a:rPr lang="en-US" sz="4400" b="0" i="1" smtClean="0">
                        <a:latin typeface="Cambria Math" panose="02040503050406030204" pitchFamily="18" charset="0"/>
                      </a:rPr>
                      <m:t> , </m:t>
                    </m:r>
                    <m:sSup>
                      <m:sSupPr>
                        <m:ctrlPr>
                          <a:rPr lang="en-US" sz="4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4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sz="4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4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sz="4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en-US" sz="4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+41</m:t>
                    </m:r>
                  </m:oMath>
                </a14:m>
                <a:r>
                  <a:rPr lang="en-US" sz="4400" dirty="0"/>
                  <a:t> is a prime number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3E2FF06-CCFA-4E8F-A6E8-C6AD615ED8A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527046"/>
                <a:ext cx="10515600" cy="4351338"/>
              </a:xfrm>
              <a:blipFill>
                <a:blip r:embed="rId3"/>
                <a:stretch>
                  <a:fillRect t="-420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TextBox 18">
            <a:extLst>
              <a:ext uri="{FF2B5EF4-FFF2-40B4-BE49-F238E27FC236}">
                <a16:creationId xmlns:a16="http://schemas.microsoft.com/office/drawing/2014/main" id="{A7139575-A28C-45E6-9BB3-F64C6B45202B}"/>
              </a:ext>
            </a:extLst>
          </p:cNvPr>
          <p:cNvSpPr txBox="1"/>
          <p:nvPr/>
        </p:nvSpPr>
        <p:spPr>
          <a:xfrm>
            <a:off x="419877" y="2556035"/>
            <a:ext cx="1166015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i="1" dirty="0"/>
              <a:t>How do we determine if this statement is true or false?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E1158B02-26BD-4D43-ABB7-000EE1D13A3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95351392"/>
              </p:ext>
            </p:extLst>
          </p:nvPr>
        </p:nvGraphicFramePr>
        <p:xfrm>
          <a:off x="492966" y="3594079"/>
          <a:ext cx="5058747" cy="1981200"/>
        </p:xfrm>
        <a:graphic>
          <a:graphicData uri="http://schemas.openxmlformats.org/drawingml/2006/table">
            <a:tbl>
              <a:tblPr/>
              <a:tblGrid>
                <a:gridCol w="1686249">
                  <a:extLst>
                    <a:ext uri="{9D8B030D-6E8A-4147-A177-3AD203B41FA5}">
                      <a16:colId xmlns:a16="http://schemas.microsoft.com/office/drawing/2014/main" val="251178400"/>
                    </a:ext>
                  </a:extLst>
                </a:gridCol>
                <a:gridCol w="1686249">
                  <a:extLst>
                    <a:ext uri="{9D8B030D-6E8A-4147-A177-3AD203B41FA5}">
                      <a16:colId xmlns:a16="http://schemas.microsoft.com/office/drawing/2014/main" val="729554165"/>
                    </a:ext>
                  </a:extLst>
                </a:gridCol>
                <a:gridCol w="1686249">
                  <a:extLst>
                    <a:ext uri="{9D8B030D-6E8A-4147-A177-3AD203B41FA5}">
                      <a16:colId xmlns:a16="http://schemas.microsoft.com/office/drawing/2014/main" val="641707932"/>
                    </a:ext>
                  </a:extLst>
                </a:gridCol>
              </a:tblGrid>
              <a:tr h="480227">
                <a:tc>
                  <a:txBody>
                    <a:bodyPr/>
                    <a:lstStyle/>
                    <a:p>
                      <a:pPr algn="ctr" fontAlgn="b"/>
                      <a:r>
                        <a:rPr lang="en-US" sz="3200" b="0" i="1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n=0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41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3200" b="0" i="0" u="none" strike="noStrike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Prime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60703464"/>
                  </a:ext>
                </a:extLst>
              </a:tr>
              <a:tr h="480227">
                <a:tc>
                  <a:txBody>
                    <a:bodyPr/>
                    <a:lstStyle/>
                    <a:p>
                      <a:pPr algn="ctr" fontAlgn="b"/>
                      <a:r>
                        <a:rPr lang="en-US" sz="3200" b="0" i="1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n=1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43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3200" b="0" i="0" u="none" strike="noStrike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Prime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82075533"/>
                  </a:ext>
                </a:extLst>
              </a:tr>
              <a:tr h="480227">
                <a:tc>
                  <a:txBody>
                    <a:bodyPr/>
                    <a:lstStyle/>
                    <a:p>
                      <a:pPr algn="ctr" fontAlgn="b"/>
                      <a:r>
                        <a:rPr lang="en-US" sz="3200" b="0" i="1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n=2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47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3200" b="0" i="0" u="none" strike="noStrike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Prime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6827051"/>
                  </a:ext>
                </a:extLst>
              </a:tr>
              <a:tr h="480227">
                <a:tc>
                  <a:txBody>
                    <a:bodyPr/>
                    <a:lstStyle/>
                    <a:p>
                      <a:pPr algn="ctr" fontAlgn="b"/>
                      <a:r>
                        <a:rPr lang="en-US" sz="3200" b="0" i="1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n=3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53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3200" b="0" i="0" u="none" strike="noStrike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Prime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732603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2241372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EF5C3F-58CF-44D4-8CF5-502F354580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2192000" cy="1325563"/>
          </a:xfrm>
        </p:spPr>
        <p:txBody>
          <a:bodyPr>
            <a:normAutofit/>
          </a:bodyPr>
          <a:lstStyle/>
          <a:p>
            <a:pPr algn="ctr"/>
            <a:r>
              <a:rPr lang="en-US" sz="3600" dirty="0"/>
              <a:t>Example from MIT’s “</a:t>
            </a:r>
            <a:r>
              <a:rPr lang="en-US" sz="3600" i="1" dirty="0"/>
              <a:t>Mathematics for Computer Science</a:t>
            </a:r>
            <a:r>
              <a:rPr lang="en-US" sz="3600" dirty="0"/>
              <a:t>”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3E2FF06-CCFA-4E8F-A6E8-C6AD615ED8A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527046"/>
                <a:ext cx="10515600" cy="4351338"/>
              </a:xfrm>
            </p:spPr>
            <p:txBody>
              <a:bodyPr>
                <a:normAutofit/>
              </a:bodyPr>
              <a:lstStyle/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en-US" sz="4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∀</m:t>
                    </m:r>
                    <m:r>
                      <a:rPr lang="en-US" sz="4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en-US" sz="4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m:rPr>
                        <m:nor/>
                      </m:rPr>
                      <a:rPr lang="en-US" sz="4400"/>
                      <m:t>ℕ</m:t>
                    </m:r>
                    <m:r>
                      <a:rPr lang="en-US" sz="4400" b="0" i="1" smtClean="0">
                        <a:latin typeface="Cambria Math" panose="02040503050406030204" pitchFamily="18" charset="0"/>
                      </a:rPr>
                      <m:t> , </m:t>
                    </m:r>
                    <m:sSup>
                      <m:sSupPr>
                        <m:ctrlPr>
                          <a:rPr lang="en-US" sz="4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4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sz="4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4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sz="4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en-US" sz="4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+41</m:t>
                    </m:r>
                  </m:oMath>
                </a14:m>
                <a:r>
                  <a:rPr lang="en-US" sz="4400" dirty="0"/>
                  <a:t> is a prime number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3E2FF06-CCFA-4E8F-A6E8-C6AD615ED8A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527046"/>
                <a:ext cx="10515600" cy="4351338"/>
              </a:xfrm>
              <a:blipFill>
                <a:blip r:embed="rId3"/>
                <a:stretch>
                  <a:fillRect t="-420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TextBox 18">
            <a:extLst>
              <a:ext uri="{FF2B5EF4-FFF2-40B4-BE49-F238E27FC236}">
                <a16:creationId xmlns:a16="http://schemas.microsoft.com/office/drawing/2014/main" id="{A7139575-A28C-45E6-9BB3-F64C6B45202B}"/>
              </a:ext>
            </a:extLst>
          </p:cNvPr>
          <p:cNvSpPr txBox="1"/>
          <p:nvPr/>
        </p:nvSpPr>
        <p:spPr>
          <a:xfrm>
            <a:off x="419877" y="2556035"/>
            <a:ext cx="1166015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i="1" dirty="0"/>
              <a:t>How do we determine if this statement is true or false?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E1158B02-26BD-4D43-ABB7-000EE1D13A3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9792244"/>
              </p:ext>
            </p:extLst>
          </p:nvPr>
        </p:nvGraphicFramePr>
        <p:xfrm>
          <a:off x="492966" y="3594079"/>
          <a:ext cx="5058747" cy="2971800"/>
        </p:xfrm>
        <a:graphic>
          <a:graphicData uri="http://schemas.openxmlformats.org/drawingml/2006/table">
            <a:tbl>
              <a:tblPr/>
              <a:tblGrid>
                <a:gridCol w="1686249">
                  <a:extLst>
                    <a:ext uri="{9D8B030D-6E8A-4147-A177-3AD203B41FA5}">
                      <a16:colId xmlns:a16="http://schemas.microsoft.com/office/drawing/2014/main" val="251178400"/>
                    </a:ext>
                  </a:extLst>
                </a:gridCol>
                <a:gridCol w="1686249">
                  <a:extLst>
                    <a:ext uri="{9D8B030D-6E8A-4147-A177-3AD203B41FA5}">
                      <a16:colId xmlns:a16="http://schemas.microsoft.com/office/drawing/2014/main" val="729554165"/>
                    </a:ext>
                  </a:extLst>
                </a:gridCol>
                <a:gridCol w="1686249">
                  <a:extLst>
                    <a:ext uri="{9D8B030D-6E8A-4147-A177-3AD203B41FA5}">
                      <a16:colId xmlns:a16="http://schemas.microsoft.com/office/drawing/2014/main" val="641707932"/>
                    </a:ext>
                  </a:extLst>
                </a:gridCol>
              </a:tblGrid>
              <a:tr h="480227">
                <a:tc>
                  <a:txBody>
                    <a:bodyPr/>
                    <a:lstStyle/>
                    <a:p>
                      <a:pPr algn="ctr" fontAlgn="b"/>
                      <a:r>
                        <a:rPr lang="en-US" sz="3200" b="0" i="1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n=0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41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3200" b="0" i="0" u="none" strike="noStrike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Prime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60703464"/>
                  </a:ext>
                </a:extLst>
              </a:tr>
              <a:tr h="480227">
                <a:tc>
                  <a:txBody>
                    <a:bodyPr/>
                    <a:lstStyle/>
                    <a:p>
                      <a:pPr algn="ctr" fontAlgn="b"/>
                      <a:r>
                        <a:rPr lang="en-US" sz="3200" b="0" i="1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n=1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43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3200" b="0" i="0" u="none" strike="noStrike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Prime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82075533"/>
                  </a:ext>
                </a:extLst>
              </a:tr>
              <a:tr h="480227">
                <a:tc>
                  <a:txBody>
                    <a:bodyPr/>
                    <a:lstStyle/>
                    <a:p>
                      <a:pPr algn="ctr" fontAlgn="b"/>
                      <a:r>
                        <a:rPr lang="en-US" sz="3200" b="0" i="1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n=2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47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3200" b="0" i="0" u="none" strike="noStrike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Prime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6827051"/>
                  </a:ext>
                </a:extLst>
              </a:tr>
              <a:tr h="480227">
                <a:tc>
                  <a:txBody>
                    <a:bodyPr/>
                    <a:lstStyle/>
                    <a:p>
                      <a:pPr algn="ctr" fontAlgn="b"/>
                      <a:r>
                        <a:rPr lang="en-US" sz="3200" b="0" i="1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n=3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53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3200" b="0" i="0" u="none" strike="noStrike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Prime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7326030"/>
                  </a:ext>
                </a:extLst>
              </a:tr>
              <a:tr h="480227">
                <a:tc>
                  <a:txBody>
                    <a:bodyPr/>
                    <a:lstStyle/>
                    <a:p>
                      <a:pPr algn="ctr" fontAlgn="b"/>
                      <a:r>
                        <a:rPr lang="en-US" sz="3200" b="0" i="1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…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…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32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…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13836900"/>
                  </a:ext>
                </a:extLst>
              </a:tr>
              <a:tr h="480227">
                <a:tc>
                  <a:txBody>
                    <a:bodyPr/>
                    <a:lstStyle/>
                    <a:p>
                      <a:pPr algn="ctr" fontAlgn="b"/>
                      <a:r>
                        <a:rPr lang="en-US" sz="3200" b="0" i="1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n=39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1601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3200" b="0" i="0" u="none" strike="noStrike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Prime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4444808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9908419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EF5C3F-58CF-44D4-8CF5-502F354580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2192000" cy="1325563"/>
          </a:xfrm>
        </p:spPr>
        <p:txBody>
          <a:bodyPr>
            <a:normAutofit/>
          </a:bodyPr>
          <a:lstStyle/>
          <a:p>
            <a:pPr algn="ctr"/>
            <a:r>
              <a:rPr lang="en-US" sz="3600" dirty="0"/>
              <a:t>Example from MIT’s “</a:t>
            </a:r>
            <a:r>
              <a:rPr lang="en-US" sz="3600" i="1" dirty="0"/>
              <a:t>Mathematics for Computer Science</a:t>
            </a:r>
            <a:r>
              <a:rPr lang="en-US" sz="3600" dirty="0"/>
              <a:t>”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3E2FF06-CCFA-4E8F-A6E8-C6AD615ED8A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527046"/>
                <a:ext cx="10515600" cy="4351338"/>
              </a:xfrm>
            </p:spPr>
            <p:txBody>
              <a:bodyPr>
                <a:normAutofit/>
              </a:bodyPr>
              <a:lstStyle/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en-US" sz="4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∀</m:t>
                    </m:r>
                    <m:r>
                      <a:rPr lang="en-US" sz="4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en-US" sz="4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m:rPr>
                        <m:nor/>
                      </m:rPr>
                      <a:rPr lang="en-US" sz="4400"/>
                      <m:t>ℕ</m:t>
                    </m:r>
                    <m:r>
                      <a:rPr lang="en-US" sz="4400" b="0" i="1" smtClean="0">
                        <a:latin typeface="Cambria Math" panose="02040503050406030204" pitchFamily="18" charset="0"/>
                      </a:rPr>
                      <m:t> , </m:t>
                    </m:r>
                    <m:sSup>
                      <m:sSupPr>
                        <m:ctrlPr>
                          <a:rPr lang="en-US" sz="4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4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sz="4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4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sz="4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en-US" sz="4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+41</m:t>
                    </m:r>
                  </m:oMath>
                </a14:m>
                <a:r>
                  <a:rPr lang="en-US" sz="4400" dirty="0"/>
                  <a:t> is a prime number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3E2FF06-CCFA-4E8F-A6E8-C6AD615ED8A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527046"/>
                <a:ext cx="10515600" cy="4351338"/>
              </a:xfrm>
              <a:blipFill>
                <a:blip r:embed="rId3"/>
                <a:stretch>
                  <a:fillRect t="-420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TextBox 18">
            <a:extLst>
              <a:ext uri="{FF2B5EF4-FFF2-40B4-BE49-F238E27FC236}">
                <a16:creationId xmlns:a16="http://schemas.microsoft.com/office/drawing/2014/main" id="{A7139575-A28C-45E6-9BB3-F64C6B45202B}"/>
              </a:ext>
            </a:extLst>
          </p:cNvPr>
          <p:cNvSpPr txBox="1"/>
          <p:nvPr/>
        </p:nvSpPr>
        <p:spPr>
          <a:xfrm>
            <a:off x="419877" y="2556035"/>
            <a:ext cx="1166015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i="1" dirty="0"/>
              <a:t>How do we determine if this statement is true or false?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E1158B02-26BD-4D43-ABB7-000EE1D13A38}"/>
              </a:ext>
            </a:extLst>
          </p:cNvPr>
          <p:cNvGraphicFramePr>
            <a:graphicFrameLocks noGrp="1"/>
          </p:cNvGraphicFramePr>
          <p:nvPr/>
        </p:nvGraphicFramePr>
        <p:xfrm>
          <a:off x="492966" y="3594079"/>
          <a:ext cx="5058747" cy="2971800"/>
        </p:xfrm>
        <a:graphic>
          <a:graphicData uri="http://schemas.openxmlformats.org/drawingml/2006/table">
            <a:tbl>
              <a:tblPr/>
              <a:tblGrid>
                <a:gridCol w="1686249">
                  <a:extLst>
                    <a:ext uri="{9D8B030D-6E8A-4147-A177-3AD203B41FA5}">
                      <a16:colId xmlns:a16="http://schemas.microsoft.com/office/drawing/2014/main" val="251178400"/>
                    </a:ext>
                  </a:extLst>
                </a:gridCol>
                <a:gridCol w="1686249">
                  <a:extLst>
                    <a:ext uri="{9D8B030D-6E8A-4147-A177-3AD203B41FA5}">
                      <a16:colId xmlns:a16="http://schemas.microsoft.com/office/drawing/2014/main" val="729554165"/>
                    </a:ext>
                  </a:extLst>
                </a:gridCol>
                <a:gridCol w="1686249">
                  <a:extLst>
                    <a:ext uri="{9D8B030D-6E8A-4147-A177-3AD203B41FA5}">
                      <a16:colId xmlns:a16="http://schemas.microsoft.com/office/drawing/2014/main" val="641707932"/>
                    </a:ext>
                  </a:extLst>
                </a:gridCol>
              </a:tblGrid>
              <a:tr h="480227">
                <a:tc>
                  <a:txBody>
                    <a:bodyPr/>
                    <a:lstStyle/>
                    <a:p>
                      <a:pPr algn="ctr" fontAlgn="b"/>
                      <a:r>
                        <a:rPr lang="en-US" sz="3200" b="0" i="1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n=0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41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3200" b="0" i="0" u="none" strike="noStrike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Prime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60703464"/>
                  </a:ext>
                </a:extLst>
              </a:tr>
              <a:tr h="480227">
                <a:tc>
                  <a:txBody>
                    <a:bodyPr/>
                    <a:lstStyle/>
                    <a:p>
                      <a:pPr algn="ctr" fontAlgn="b"/>
                      <a:r>
                        <a:rPr lang="en-US" sz="3200" b="0" i="1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n=1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43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3200" b="0" i="0" u="none" strike="noStrike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Prime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82075533"/>
                  </a:ext>
                </a:extLst>
              </a:tr>
              <a:tr h="480227">
                <a:tc>
                  <a:txBody>
                    <a:bodyPr/>
                    <a:lstStyle/>
                    <a:p>
                      <a:pPr algn="ctr" fontAlgn="b"/>
                      <a:r>
                        <a:rPr lang="en-US" sz="3200" b="0" i="1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n=2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47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3200" b="0" i="0" u="none" strike="noStrike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Prime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6827051"/>
                  </a:ext>
                </a:extLst>
              </a:tr>
              <a:tr h="480227">
                <a:tc>
                  <a:txBody>
                    <a:bodyPr/>
                    <a:lstStyle/>
                    <a:p>
                      <a:pPr algn="ctr" fontAlgn="b"/>
                      <a:r>
                        <a:rPr lang="en-US" sz="3200" b="0" i="1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n=3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53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3200" b="0" i="0" u="none" strike="noStrike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Prime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7326030"/>
                  </a:ext>
                </a:extLst>
              </a:tr>
              <a:tr h="480227">
                <a:tc>
                  <a:txBody>
                    <a:bodyPr/>
                    <a:lstStyle/>
                    <a:p>
                      <a:pPr algn="ctr" fontAlgn="b"/>
                      <a:r>
                        <a:rPr lang="en-US" sz="3200" b="0" i="1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…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…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32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…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13836900"/>
                  </a:ext>
                </a:extLst>
              </a:tr>
              <a:tr h="480227">
                <a:tc>
                  <a:txBody>
                    <a:bodyPr/>
                    <a:lstStyle/>
                    <a:p>
                      <a:pPr algn="ctr" fontAlgn="b"/>
                      <a:r>
                        <a:rPr lang="en-US" sz="3200" b="0" i="1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n=39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1601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3200" b="0" i="0" u="none" strike="noStrike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Prime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44448088"/>
                  </a:ext>
                </a:extLst>
              </a:tr>
            </a:tbl>
          </a:graphicData>
        </a:graphic>
      </p:graphicFrame>
      <p:pic>
        <p:nvPicPr>
          <p:cNvPr id="9218" name="Picture 2" descr="CU Boulder Engineering 🦬 on Twitter: &amp;quot;engineering&amp;quot; / Twitter">
            <a:extLst>
              <a:ext uri="{FF2B5EF4-FFF2-40B4-BE49-F238E27FC236}">
                <a16:creationId xmlns:a16="http://schemas.microsoft.com/office/drawing/2014/main" id="{B9D4FEB9-1ECE-47FB-810F-737AF72587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81465" y="4040776"/>
            <a:ext cx="3259491" cy="25803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B1DE86E-C857-42CC-9856-EC18BF5C7562}"/>
              </a:ext>
            </a:extLst>
          </p:cNvPr>
          <p:cNvSpPr txBox="1"/>
          <p:nvPr/>
        </p:nvSpPr>
        <p:spPr>
          <a:xfrm>
            <a:off x="7084270" y="3542373"/>
            <a:ext cx="367781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/>
              <a:t>Checked 40 test cases:</a:t>
            </a:r>
          </a:p>
        </p:txBody>
      </p:sp>
    </p:spTree>
    <p:extLst>
      <p:ext uri="{BB962C8B-B14F-4D97-AF65-F5344CB8AC3E}">
        <p14:creationId xmlns:p14="http://schemas.microsoft.com/office/powerpoint/2010/main" val="864693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EF5C3F-58CF-44D4-8CF5-502F354580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2192000" cy="1325563"/>
          </a:xfrm>
        </p:spPr>
        <p:txBody>
          <a:bodyPr>
            <a:normAutofit/>
          </a:bodyPr>
          <a:lstStyle/>
          <a:p>
            <a:pPr algn="ctr"/>
            <a:r>
              <a:rPr lang="en-US" sz="3600" dirty="0"/>
              <a:t>Example from MIT’s “</a:t>
            </a:r>
            <a:r>
              <a:rPr lang="en-US" sz="3600" i="1" dirty="0"/>
              <a:t>Mathematics for Computer Science</a:t>
            </a:r>
            <a:r>
              <a:rPr lang="en-US" sz="3600" dirty="0"/>
              <a:t>”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3E2FF06-CCFA-4E8F-A6E8-C6AD615ED8A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527046"/>
                <a:ext cx="10515600" cy="4351338"/>
              </a:xfrm>
            </p:spPr>
            <p:txBody>
              <a:bodyPr>
                <a:normAutofit/>
              </a:bodyPr>
              <a:lstStyle/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en-US" sz="4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∀</m:t>
                    </m:r>
                    <m:r>
                      <a:rPr lang="en-US" sz="4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en-US" sz="4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m:rPr>
                        <m:nor/>
                      </m:rPr>
                      <a:rPr lang="en-US" sz="4400"/>
                      <m:t>ℕ</m:t>
                    </m:r>
                    <m:r>
                      <a:rPr lang="en-US" sz="4400" b="0" i="1" smtClean="0">
                        <a:latin typeface="Cambria Math" panose="02040503050406030204" pitchFamily="18" charset="0"/>
                      </a:rPr>
                      <m:t> , </m:t>
                    </m:r>
                    <m:sSup>
                      <m:sSupPr>
                        <m:ctrlPr>
                          <a:rPr lang="en-US" sz="4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4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sz="4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4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sz="4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en-US" sz="4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+41</m:t>
                    </m:r>
                  </m:oMath>
                </a14:m>
                <a:r>
                  <a:rPr lang="en-US" sz="4400" dirty="0"/>
                  <a:t> is a prime number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3E2FF06-CCFA-4E8F-A6E8-C6AD615ED8A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527046"/>
                <a:ext cx="10515600" cy="4351338"/>
              </a:xfrm>
              <a:blipFill>
                <a:blip r:embed="rId3"/>
                <a:stretch>
                  <a:fillRect t="-420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761614A-EC95-4ADF-87EB-62C11BC7BED8}"/>
                  </a:ext>
                </a:extLst>
              </p:cNvPr>
              <p:cNvSpPr txBox="1"/>
              <p:nvPr/>
            </p:nvSpPr>
            <p:spPr>
              <a:xfrm>
                <a:off x="1909664" y="3350025"/>
                <a:ext cx="4478694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400" b="0" i="1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4400" b="0" i="1" smtClean="0">
                          <a:latin typeface="Cambria Math" panose="02040503050406030204" pitchFamily="18" charset="0"/>
                        </a:rPr>
                        <m:t>=41</m:t>
                      </m:r>
                      <m:r>
                        <a:rPr lang="en-US" sz="44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r>
                        <a:rPr lang="en-US" sz="4400" b="0" i="1" smtClean="0">
                          <a:latin typeface="Cambria Math" panose="02040503050406030204" pitchFamily="18" charset="0"/>
                        </a:rPr>
                        <m:t>1,763</m:t>
                      </m:r>
                    </m:oMath>
                  </m:oMathPara>
                </a14:m>
                <a:endParaRPr lang="en-US" sz="4400" b="0" i="1" dirty="0">
                  <a:latin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400" b="0" i="1" smtClean="0">
                          <a:latin typeface="Cambria Math" panose="02040503050406030204" pitchFamily="18" charset="0"/>
                        </a:rPr>
                        <m:t>1,763=43</m:t>
                      </m:r>
                      <m:r>
                        <a:rPr lang="en-US" sz="4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×41</m:t>
                      </m:r>
                    </m:oMath>
                  </m:oMathPara>
                </a14:m>
                <a:endParaRPr lang="en-US" sz="44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761614A-EC95-4ADF-87EB-62C11BC7BE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9664" y="3350025"/>
                <a:ext cx="4478694" cy="144655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A39E21A1-1500-4D4F-8016-3560CFB0138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90962" y="2239340"/>
            <a:ext cx="4591374" cy="44695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2843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DC9386-D326-40CE-AB8E-F898F27957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5400" i="1" dirty="0"/>
              <a:t>Why am I taking this course?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213251-444B-4A41-8E2C-32689D80B1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06481" y="1461730"/>
            <a:ext cx="6708711" cy="4976391"/>
          </a:xfrm>
        </p:spPr>
        <p:txBody>
          <a:bodyPr>
            <a:normAutofit fontScale="92500"/>
          </a:bodyPr>
          <a:lstStyle/>
          <a:p>
            <a:r>
              <a:rPr lang="en-US" sz="4000" dirty="0"/>
              <a:t>Knowing theory will help you design better algorithms and write better programs: </a:t>
            </a:r>
            <a:r>
              <a:rPr lang="en-US" sz="4000" i="1" dirty="0"/>
              <a:t>BECOME A BETTER PROGRAMMER.</a:t>
            </a:r>
          </a:p>
          <a:p>
            <a:r>
              <a:rPr lang="en-US" sz="4000" dirty="0"/>
              <a:t>Data structures in programming are based on theory covered  by discrete math: sets, list, arrays, trees, etc.</a:t>
            </a:r>
          </a:p>
          <a:p>
            <a:endParaRPr lang="en-US" dirty="0"/>
          </a:p>
        </p:txBody>
      </p:sp>
      <p:pic>
        <p:nvPicPr>
          <p:cNvPr id="15364" name="Picture 4" descr="Amazon.com: Because I Said So (Widescreen Edition) : Diane Keaton, Mandy  Moore, Gabriel Macht, Tom Everett Scott, Lauren Graham, Piper Perabo,  Stephen Collins, Colin Ferguson, Michael Lehmann, Paul Brooks, Jessie  Nelson, Karen">
            <a:extLst>
              <a:ext uri="{FF2B5EF4-FFF2-40B4-BE49-F238E27FC236}">
                <a16:creationId xmlns:a16="http://schemas.microsoft.com/office/drawing/2014/main" id="{5D63EB7D-849B-43BB-BA0B-0E52E9F963A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634"/>
          <a:stretch/>
        </p:blipFill>
        <p:spPr bwMode="auto">
          <a:xfrm>
            <a:off x="660919" y="1611328"/>
            <a:ext cx="3314700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5D444F6-DF2A-4495-AC45-EF1210CBE0C1}"/>
              </a:ext>
            </a:extLst>
          </p:cNvPr>
          <p:cNvSpPr txBox="1"/>
          <p:nvPr/>
        </p:nvSpPr>
        <p:spPr>
          <a:xfrm>
            <a:off x="746450" y="4357395"/>
            <a:ext cx="16624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err="1">
                <a:solidFill>
                  <a:schemeClr val="bg1"/>
                </a:solidFill>
              </a:rPr>
              <a:t>Uconn</a:t>
            </a:r>
            <a:r>
              <a:rPr lang="en-US" b="1" dirty="0">
                <a:solidFill>
                  <a:schemeClr val="bg1"/>
                </a:solidFill>
              </a:rPr>
              <a:t> Course Requirements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E6A48E4-EA98-4396-8715-76CE6AF80914}"/>
              </a:ext>
            </a:extLst>
          </p:cNvPr>
          <p:cNvSpPr txBox="1"/>
          <p:nvPr/>
        </p:nvSpPr>
        <p:spPr>
          <a:xfrm>
            <a:off x="2861972" y="4602910"/>
            <a:ext cx="120092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UConn Students</a:t>
            </a:r>
          </a:p>
        </p:txBody>
      </p:sp>
    </p:spTree>
    <p:extLst>
      <p:ext uri="{BB962C8B-B14F-4D97-AF65-F5344CB8AC3E}">
        <p14:creationId xmlns:p14="http://schemas.microsoft.com/office/powerpoint/2010/main" val="20611924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3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3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4416BD-6B9B-4039-8B28-195597997A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74456"/>
            <a:ext cx="10515600" cy="1325563"/>
          </a:xfrm>
        </p:spPr>
        <p:txBody>
          <a:bodyPr/>
          <a:lstStyle/>
          <a:p>
            <a:pPr algn="ctr"/>
            <a:r>
              <a:rPr lang="en-US" u="sng" dirty="0"/>
              <a:t>Answering some basic course questions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9C6067-3466-4CD4-AE3C-0629B5D082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7262" y="1759080"/>
            <a:ext cx="6517431" cy="4733795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marL="1143000" indent="-1143000">
              <a:buFont typeface="+mj-lt"/>
              <a:buAutoNum type="arabicPeriod"/>
            </a:pPr>
            <a:r>
              <a:rPr lang="en-US" sz="4800" i="1" dirty="0"/>
              <a:t>How will I be graded?</a:t>
            </a:r>
          </a:p>
          <a:p>
            <a:pPr marL="1143000" indent="-1143000">
              <a:buFont typeface="+mj-lt"/>
              <a:buAutoNum type="arabicPeriod"/>
            </a:pPr>
            <a:r>
              <a:rPr lang="en-US" sz="4800" i="1" dirty="0"/>
              <a:t>Do you need a textbook?</a:t>
            </a:r>
          </a:p>
          <a:p>
            <a:pPr marL="1143000" indent="-1143000">
              <a:buFont typeface="+mj-lt"/>
              <a:buAutoNum type="arabicPeriod"/>
            </a:pPr>
            <a:r>
              <a:rPr lang="en-US" sz="4800" i="1" dirty="0"/>
              <a:t>What topics are covered?</a:t>
            </a:r>
          </a:p>
          <a:p>
            <a:pPr marL="1143000" indent="-1143000">
              <a:buFont typeface="+mj-lt"/>
              <a:buAutoNum type="arabicPeriod"/>
            </a:pPr>
            <a:r>
              <a:rPr lang="en-US" sz="2200" dirty="0"/>
              <a:t>What is the meaning of life?</a:t>
            </a:r>
          </a:p>
        </p:txBody>
      </p:sp>
      <p:pic>
        <p:nvPicPr>
          <p:cNvPr id="2050" name="Picture 2" descr="Confused Nick Young | Know Your Meme">
            <a:extLst>
              <a:ext uri="{FF2B5EF4-FFF2-40B4-BE49-F238E27FC236}">
                <a16:creationId xmlns:a16="http://schemas.microsoft.com/office/drawing/2014/main" id="{D01080CC-AC9E-4717-B0B3-E1E4FA006A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88110" y="2435288"/>
            <a:ext cx="4956628" cy="31554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1884739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02754F-CB37-4C67-9D5D-496434CDC5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7200" i="1" dirty="0"/>
              <a:t>How will you be graded?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2CBEEB-ED62-4744-9659-2C667B680A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1176" y="1825625"/>
            <a:ext cx="11374016" cy="4351338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r>
              <a:rPr lang="en-US" sz="4800" dirty="0"/>
              <a:t>7-10 Homework Assignments (30%)</a:t>
            </a:r>
          </a:p>
          <a:p>
            <a:pPr lvl="1"/>
            <a:r>
              <a:rPr lang="en-US" sz="4400" dirty="0"/>
              <a:t>Depends on course pacing/material covered.</a:t>
            </a:r>
          </a:p>
          <a:p>
            <a:r>
              <a:rPr lang="en-US" sz="4800" dirty="0"/>
              <a:t>1 Midterm Exam (30%)</a:t>
            </a:r>
          </a:p>
          <a:p>
            <a:r>
              <a:rPr lang="en-US" sz="4800" dirty="0"/>
              <a:t>1 Final </a:t>
            </a:r>
            <a:r>
              <a:rPr lang="en-US" sz="4800"/>
              <a:t>Exam (40</a:t>
            </a:r>
            <a:r>
              <a:rPr lang="en-US" sz="4800" dirty="0"/>
              <a:t>%)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370826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5497F5-4396-4955-A8FE-49C22B5BF3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56356"/>
            <a:ext cx="10515600" cy="1325563"/>
          </a:xfrm>
        </p:spPr>
        <p:txBody>
          <a:bodyPr/>
          <a:lstStyle/>
          <a:p>
            <a:pPr algn="ctr"/>
            <a:r>
              <a:rPr lang="en-US" i="1" dirty="0"/>
              <a:t>Do you need a textbook?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9DE081-D0A7-48CD-A8FF-520B5C44B5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763" y="2241627"/>
            <a:ext cx="5157787" cy="823912"/>
          </a:xfrm>
        </p:spPr>
        <p:txBody>
          <a:bodyPr/>
          <a:lstStyle/>
          <a:p>
            <a:pPr algn="ctr"/>
            <a:r>
              <a:rPr lang="en-US" u="sng" dirty="0"/>
              <a:t>Pros/Cons of Textbook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C3CA503-0BE1-42B0-B2FD-C3E589AAF09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219656" y="3232542"/>
            <a:ext cx="2705930" cy="3614414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rmAutofit fontScale="92500"/>
          </a:bodyPr>
          <a:lstStyle/>
          <a:p>
            <a:r>
              <a:rPr lang="en-US" dirty="0"/>
              <a:t>Pro: Can supplement lecture material. </a:t>
            </a:r>
          </a:p>
          <a:p>
            <a:r>
              <a:rPr lang="en-US" dirty="0"/>
              <a:t>Cons: Expensive.</a:t>
            </a:r>
          </a:p>
          <a:p>
            <a:r>
              <a:rPr lang="en-US" dirty="0"/>
              <a:t>Pro: May be used as firewood once </a:t>
            </a:r>
            <a:r>
              <a:rPr lang="en-US"/>
              <a:t>the course is done.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74C32B8-EEF2-4875-AC77-FD0032895CD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74837" y="2252492"/>
            <a:ext cx="5183188" cy="823912"/>
          </a:xfrm>
        </p:spPr>
        <p:txBody>
          <a:bodyPr/>
          <a:lstStyle/>
          <a:p>
            <a:r>
              <a:rPr lang="en-US" u="sng" dirty="0"/>
              <a:t>Pros/Cons of using online material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E544121-A2C6-473C-96F2-7896096605E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74837" y="3232542"/>
            <a:ext cx="5183188" cy="3684588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rmAutofit fontScale="92500"/>
          </a:bodyPr>
          <a:lstStyle/>
          <a:p>
            <a:r>
              <a:rPr lang="en-US" dirty="0"/>
              <a:t>Pro: Extra video lectures and reading from MIT.</a:t>
            </a:r>
          </a:p>
          <a:p>
            <a:r>
              <a:rPr lang="en-US" dirty="0"/>
              <a:t>Pro: Its MIT and free. </a:t>
            </a:r>
          </a:p>
          <a:p>
            <a:r>
              <a:rPr lang="en-US" dirty="0"/>
              <a:t>Con: May not be exactly the same as material we cover. </a:t>
            </a:r>
          </a:p>
          <a:p>
            <a:r>
              <a:rPr lang="en-US" dirty="0"/>
              <a:t>Con: Cannot be used as firewood once the course is done.</a:t>
            </a:r>
          </a:p>
        </p:txBody>
      </p:sp>
      <p:pic>
        <p:nvPicPr>
          <p:cNvPr id="1026" name="Picture 2" descr="Discrete Mathematics with Applications: Epp, Susanna S.: 9781337694193:  Amazon.com: Books">
            <a:extLst>
              <a:ext uri="{FF2B5EF4-FFF2-40B4-BE49-F238E27FC236}">
                <a16:creationId xmlns:a16="http://schemas.microsoft.com/office/drawing/2014/main" id="{6D88ECDD-C51B-45A8-819A-83C2C5A59C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8126" y="3232542"/>
            <a:ext cx="2891531" cy="36144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2021C3B-8657-4965-9EA6-C2563ADA68FA}"/>
              </a:ext>
            </a:extLst>
          </p:cNvPr>
          <p:cNvSpPr txBox="1"/>
          <p:nvPr/>
        </p:nvSpPr>
        <p:spPr>
          <a:xfrm>
            <a:off x="939249" y="1514466"/>
            <a:ext cx="4005976" cy="646331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Textbook: Discrete Mathematics with Applications 5</a:t>
            </a:r>
            <a:r>
              <a:rPr lang="en-US" baseline="30000" dirty="0"/>
              <a:t>th</a:t>
            </a:r>
            <a:r>
              <a:rPr lang="en-US" dirty="0"/>
              <a:t> Edition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C86C9AB-8B3A-4A7E-A6C2-8ACA7B08ADB7}"/>
              </a:ext>
            </a:extLst>
          </p:cNvPr>
          <p:cNvSpPr txBox="1"/>
          <p:nvPr/>
        </p:nvSpPr>
        <p:spPr>
          <a:xfrm>
            <a:off x="6274837" y="1003512"/>
            <a:ext cx="5467771" cy="1661993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Online Resources:</a:t>
            </a:r>
          </a:p>
          <a:p>
            <a:pPr marL="342900" indent="-342900">
              <a:buAutoNum type="arabicPeriod"/>
            </a:pPr>
            <a:r>
              <a:rPr lang="en-US" sz="1400" dirty="0">
                <a:hlinkClick r:id="rId4"/>
              </a:rPr>
              <a:t>https://ocw.mit.edu/courses/electrical-engineering-and-computer-science/6-042j-mathematics-for-computer-science-fall-2010/</a:t>
            </a:r>
            <a:endParaRPr lang="en-US" sz="1400" dirty="0"/>
          </a:p>
          <a:p>
            <a:pPr marL="342900" indent="-342900">
              <a:buAutoNum type="arabicPeriod"/>
            </a:pPr>
            <a:r>
              <a:rPr lang="en-US" sz="1400" dirty="0">
                <a:hlinkClick r:id="rId5"/>
              </a:rPr>
              <a:t>https://ocw.mit.edu/courses/electrical-engineering-and-computer-science/6-042j-mathematics-for-computer-science-fall-2010/readings/</a:t>
            </a:r>
            <a:endParaRPr lang="en-US" sz="1400" dirty="0"/>
          </a:p>
          <a:p>
            <a:pPr marL="342900" indent="-342900">
              <a:buAutoNum type="arabicPeriod"/>
            </a:pPr>
            <a:r>
              <a:rPr lang="en-US" sz="1400" dirty="0"/>
              <a:t>www.Google.com</a:t>
            </a:r>
          </a:p>
        </p:txBody>
      </p:sp>
    </p:spTree>
    <p:extLst>
      <p:ext uri="{BB962C8B-B14F-4D97-AF65-F5344CB8AC3E}">
        <p14:creationId xmlns:p14="http://schemas.microsoft.com/office/powerpoint/2010/main" val="6371139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9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9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 build="p" animBg="1"/>
      <p:bldP spid="5" grpId="0" build="allAtOnce"/>
      <p:bldP spid="6" grpId="0" build="allAtOnce" animBg="1"/>
      <p:bldP spid="9" grpId="0" build="allAtOnce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589293-A7BF-4B0F-AC49-74EA85C670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0699" y="228393"/>
            <a:ext cx="8461310" cy="1325563"/>
          </a:xfrm>
        </p:spPr>
        <p:txBody>
          <a:bodyPr/>
          <a:lstStyle/>
          <a:p>
            <a:r>
              <a:rPr lang="en-US" u="sng" dirty="0"/>
              <a:t>Preliminary List of Topics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53F478-A71E-43CF-A048-29AF921A46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1729" y="1782349"/>
            <a:ext cx="6127103" cy="4847258"/>
          </a:xfrm>
        </p:spPr>
        <p:txBody>
          <a:bodyPr>
            <a:normAutofit fontScale="85000" lnSpcReduction="20000"/>
          </a:bodyPr>
          <a:lstStyle/>
          <a:p>
            <a:pPr marL="742950" indent="-742950">
              <a:buFont typeface="+mj-lt"/>
              <a:buAutoNum type="arabicPeriod"/>
            </a:pPr>
            <a:r>
              <a:rPr lang="en-US" sz="4400" dirty="0"/>
              <a:t>Sets</a:t>
            </a:r>
          </a:p>
          <a:p>
            <a:pPr marL="742950" indent="-742950">
              <a:buFont typeface="+mj-lt"/>
              <a:buAutoNum type="arabicPeriod"/>
            </a:pPr>
            <a:r>
              <a:rPr lang="en-US" sz="4400" dirty="0"/>
              <a:t>Logic</a:t>
            </a:r>
          </a:p>
          <a:p>
            <a:pPr marL="742950" indent="-742950">
              <a:buFont typeface="+mj-lt"/>
              <a:buAutoNum type="arabicPeriod"/>
            </a:pPr>
            <a:r>
              <a:rPr lang="en-US" sz="4400" dirty="0"/>
              <a:t>Sequences</a:t>
            </a:r>
          </a:p>
          <a:p>
            <a:pPr marL="742950" indent="-742950">
              <a:buFont typeface="+mj-lt"/>
              <a:buAutoNum type="arabicPeriod"/>
            </a:pPr>
            <a:r>
              <a:rPr lang="en-US" sz="4400" dirty="0"/>
              <a:t>Proofs</a:t>
            </a:r>
          </a:p>
          <a:p>
            <a:pPr marL="742950" indent="-742950">
              <a:buFont typeface="+mj-lt"/>
              <a:buAutoNum type="arabicPeriod"/>
            </a:pPr>
            <a:r>
              <a:rPr lang="en-US" sz="4400" dirty="0"/>
              <a:t>Recursion</a:t>
            </a:r>
          </a:p>
          <a:p>
            <a:pPr marL="742950" indent="-742950">
              <a:buFont typeface="+mj-lt"/>
              <a:buAutoNum type="arabicPeriod"/>
            </a:pPr>
            <a:r>
              <a:rPr lang="en-US" sz="4400" dirty="0"/>
              <a:t>Induction</a:t>
            </a:r>
          </a:p>
          <a:p>
            <a:pPr marL="742950" indent="-742950">
              <a:buFont typeface="+mj-lt"/>
              <a:buAutoNum type="arabicPeriod"/>
            </a:pPr>
            <a:r>
              <a:rPr lang="en-US" sz="4400" dirty="0"/>
              <a:t>Special Topics: (Optimization and Machine Learning)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6F2A577-217F-4A3A-BED9-E25A79BF3D8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90049" y="0"/>
            <a:ext cx="550195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123577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3F21079-DE65-5CCC-DA9A-96F028537C6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3568" y="1304143"/>
            <a:ext cx="9597711" cy="5406709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BFD034D-207E-68A9-9664-CB6B86E87146}"/>
              </a:ext>
            </a:extLst>
          </p:cNvPr>
          <p:cNvSpPr txBox="1"/>
          <p:nvPr/>
        </p:nvSpPr>
        <p:spPr>
          <a:xfrm>
            <a:off x="1412411" y="335902"/>
            <a:ext cx="959771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Test you knowledge now, </a:t>
            </a:r>
          </a:p>
          <a:p>
            <a:r>
              <a:rPr lang="en-US" sz="2400" b="1" dirty="0"/>
              <a:t>test your knowledge again at the end of the semester:</a:t>
            </a:r>
          </a:p>
        </p:txBody>
      </p:sp>
    </p:spTree>
    <p:extLst>
      <p:ext uri="{BB962C8B-B14F-4D97-AF65-F5344CB8AC3E}">
        <p14:creationId xmlns:p14="http://schemas.microsoft.com/office/powerpoint/2010/main" val="322167258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A23D7D-F04D-4A1E-B54D-D802728A57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/>
          <a:lstStyle/>
          <a:p>
            <a:pPr algn="ctr"/>
            <a:r>
              <a:rPr lang="en-US" dirty="0"/>
              <a:t>Questions?</a:t>
            </a:r>
          </a:p>
        </p:txBody>
      </p:sp>
    </p:spTree>
    <p:extLst>
      <p:ext uri="{BB962C8B-B14F-4D97-AF65-F5344CB8AC3E}">
        <p14:creationId xmlns:p14="http://schemas.microsoft.com/office/powerpoint/2010/main" val="309262363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D6DB09-8905-429B-9F56-234F9EE9E3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u="sng" dirty="0"/>
              <a:t>Figure Sources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F1E7B0-0BE8-47C7-8EC6-28421CE5E8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>
                <a:hlinkClick r:id="rId2"/>
              </a:rPr>
              <a:t>https://pbs.twimg.com/media/EdDxRTzXoAcHRRY.jpg</a:t>
            </a:r>
            <a:endParaRPr lang="en-US" dirty="0"/>
          </a:p>
          <a:p>
            <a:pPr marL="0" indent="0">
              <a:buNone/>
            </a:pPr>
            <a:r>
              <a:rPr lang="en-US" dirty="0">
                <a:hlinkClick r:id="rId3"/>
              </a:rPr>
              <a:t>https://en.meming.world/images/en/7/79/Panik_Kalm.jpg</a:t>
            </a:r>
            <a:endParaRPr lang="en-US" dirty="0"/>
          </a:p>
          <a:p>
            <a:pPr marL="0" indent="0">
              <a:buNone/>
            </a:pPr>
            <a:r>
              <a:rPr lang="en-US" dirty="0">
                <a:hlinkClick r:id="rId4"/>
              </a:rPr>
              <a:t>https://m.media-amazon.com/images/I/51nxbInnFpL.jpg</a:t>
            </a:r>
            <a:endParaRPr lang="en-US" dirty="0"/>
          </a:p>
          <a:p>
            <a:pPr marL="0" indent="0">
              <a:buNone/>
            </a:pPr>
            <a:r>
              <a:rPr lang="en-US" dirty="0">
                <a:hlinkClick r:id="rId5"/>
              </a:rPr>
              <a:t>https://images-na.ssl-images-amazon.com/images/I/51JHfPwgAJL._SX398_BO1,204,203,200_.jpg</a:t>
            </a:r>
            <a:endParaRPr lang="en-US" dirty="0"/>
          </a:p>
          <a:p>
            <a:pPr marL="0" indent="0">
              <a:buNone/>
            </a:pPr>
            <a:r>
              <a:rPr lang="en-US" dirty="0">
                <a:hlinkClick r:id="rId6"/>
              </a:rPr>
              <a:t>https://i.kym-cdn.com/entries/icons/facebook/000/018/489/nick-young-confused-face-300x256-nqlyaa.jpg</a:t>
            </a:r>
            <a:endParaRPr lang="en-US" dirty="0"/>
          </a:p>
          <a:p>
            <a:pPr marL="0" indent="0">
              <a:buNone/>
            </a:pPr>
            <a:r>
              <a:rPr lang="en-US" dirty="0">
                <a:hlinkClick r:id="rId7"/>
              </a:rPr>
              <a:t>https://ctl.s6img.com/society6/img/LBmnjjTY80iBCUPGHRKFatk_LMg/w_1500/prints/~artwork/s6-original-art-uploads/society6/uploads/misc/318f6925be6d47c885d1cddffc05328b/~~/uncle-sam-i-want-you-prints.jpg</a:t>
            </a:r>
            <a:endParaRPr lang="en-US" dirty="0"/>
          </a:p>
          <a:p>
            <a:pPr marL="0" indent="0">
              <a:buNone/>
            </a:pPr>
            <a:r>
              <a:rPr lang="en-US" dirty="0">
                <a:hlinkClick r:id="rId8"/>
              </a:rPr>
              <a:t>https://mindyourdecisions.com/blog/2022/06/22/brazilian-olympiad-pinocchios-green-hats-viral-question/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97579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157</TotalTime>
  <Words>1333</Words>
  <Application>Microsoft Office PowerPoint</Application>
  <PresentationFormat>Widescreen</PresentationFormat>
  <Paragraphs>239</Paragraphs>
  <Slides>24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9" baseType="lpstr">
      <vt:lpstr>Arial</vt:lpstr>
      <vt:lpstr>Calibri</vt:lpstr>
      <vt:lpstr>Calibri Light</vt:lpstr>
      <vt:lpstr>Cambria Math</vt:lpstr>
      <vt:lpstr>Office Theme</vt:lpstr>
      <vt:lpstr>CSE 2500: Introduction to Discrete Systems</vt:lpstr>
      <vt:lpstr>Course Objective:  Learn discrete math, logic and formal reasoning</vt:lpstr>
      <vt:lpstr>Course Objective:  Learn discrete math, logic and formal reasoning</vt:lpstr>
      <vt:lpstr>Course Objective:  Learn discrete math, logic and formal reasoning</vt:lpstr>
      <vt:lpstr>Course Objective:  Learn discrete math, logic and formal reasoning</vt:lpstr>
      <vt:lpstr>Course Objective:  Learn discrete math, logic and formal reasoning</vt:lpstr>
      <vt:lpstr>Course Objective:  Learn discrete math, logic and formal reasoning</vt:lpstr>
      <vt:lpstr>Course Objective:  Learn discrete math, logic and formal reasoning</vt:lpstr>
      <vt:lpstr>Course Objective:  Learn discrete math, logic and formal reasoning</vt:lpstr>
      <vt:lpstr>Example from MIT’s “Mathematics for Computer Science”</vt:lpstr>
      <vt:lpstr>Example from MIT’s “Mathematics for Computer Science”</vt:lpstr>
      <vt:lpstr>Example from MIT’s “Mathematics for Computer Science”</vt:lpstr>
      <vt:lpstr>Example from MIT’s “Mathematics for Computer Science”</vt:lpstr>
      <vt:lpstr>Example from MIT’s “Mathematics for Computer Science”</vt:lpstr>
      <vt:lpstr>Example from MIT’s “Mathematics for Computer Science”</vt:lpstr>
      <vt:lpstr>Example from MIT’s “Mathematics for Computer Science”</vt:lpstr>
      <vt:lpstr>Why am I taking this course? </vt:lpstr>
      <vt:lpstr>Answering some basic course questions </vt:lpstr>
      <vt:lpstr>How will you be graded?</vt:lpstr>
      <vt:lpstr>Do you need a textbook?</vt:lpstr>
      <vt:lpstr>Preliminary List of Topics</vt:lpstr>
      <vt:lpstr>PowerPoint Presentation</vt:lpstr>
      <vt:lpstr>Questions?</vt:lpstr>
      <vt:lpstr>Figure Sources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 M</dc:creator>
  <cp:lastModifiedBy>K M</cp:lastModifiedBy>
  <cp:revision>81</cp:revision>
  <dcterms:created xsi:type="dcterms:W3CDTF">2022-01-09T23:34:29Z</dcterms:created>
  <dcterms:modified xsi:type="dcterms:W3CDTF">2022-08-30T16:08:27Z</dcterms:modified>
</cp:coreProperties>
</file>