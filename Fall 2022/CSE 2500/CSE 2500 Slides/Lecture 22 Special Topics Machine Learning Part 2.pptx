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72" r:id="rId5"/>
    <p:sldId id="273" r:id="rId6"/>
    <p:sldId id="275" r:id="rId7"/>
    <p:sldId id="324" r:id="rId8"/>
    <p:sldId id="261" r:id="rId9"/>
    <p:sldId id="277" r:id="rId10"/>
    <p:sldId id="329" r:id="rId11"/>
    <p:sldId id="330" r:id="rId12"/>
    <p:sldId id="332" r:id="rId13"/>
    <p:sldId id="333" r:id="rId14"/>
    <p:sldId id="334" r:id="rId15"/>
    <p:sldId id="335" r:id="rId16"/>
    <p:sldId id="325" r:id="rId17"/>
    <p:sldId id="326" r:id="rId18"/>
    <p:sldId id="327" r:id="rId19"/>
    <p:sldId id="328" r:id="rId20"/>
    <p:sldId id="331" r:id="rId21"/>
    <p:sldId id="336" r:id="rId22"/>
    <p:sldId id="337" r:id="rId23"/>
    <p:sldId id="338" r:id="rId24"/>
    <p:sldId id="320" r:id="rId25"/>
    <p:sldId id="339" r:id="rId26"/>
    <p:sldId id="341" r:id="rId27"/>
    <p:sldId id="259" r:id="rId28"/>
    <p:sldId id="34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211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9708-34B5-D106-5EB2-0D8958C22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E716B-BCAD-E57A-FD56-CDEC51282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9B73-4453-A36A-02A7-21F9D344C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2F41D-FE29-AE59-0515-FD8FB014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4A77F-162A-9D87-4DC3-244CC9E7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5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5412-DCF9-0D32-2B85-033FE93E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4AB9D-B192-B72B-01E6-A460D925B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8FD3D-A7F4-D562-E46A-974CBA64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8AFA3-7AB9-98C4-C024-EEF8C897C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C8A60-8424-A283-DEF5-467DB3D6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5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7B66-1E28-4B90-0289-AC74E500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95C80-228B-4C2D-0A27-3759A8B8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CAAE9-6FCC-6972-D8CC-9EB87929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6451C-7393-77DA-6BB4-F440FE65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9079A-32CF-69B7-7CF4-92FF59DE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5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0992-FD26-2E34-63B5-1E1045BE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5A70A-0C8B-05C5-7C62-0ADBF37C5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ACC70-B2A2-0441-3AAB-FA6CB641A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57A1F-1237-6227-0E73-512E14BC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28C0E-9EFA-D9C3-C1FC-71F5B8AD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95865-70DA-29A7-1606-47CEC7B7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3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8F73-86D8-89F3-E95B-294C3D45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465C2-79E9-87D4-9A24-1EE44CEA6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40535-1E00-FAC0-49E2-286DF58D3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76F71A-0837-C6E4-A058-65EBCE77F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3E8A2-DBC3-9C2A-3F44-B8F28AA19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1552-108B-50E9-E4C8-2DD0476B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3709B-7A59-E3A7-ADE6-8332516C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8417F-F9F9-66F8-496D-E2A946963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0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3DF9-4438-FDC7-2BE9-36EDD006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50ABD-5EC7-6E91-CDA2-83E3A8187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4E9CE-B89C-8440-8BC2-BD74FEC68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89766-5787-6463-E164-087E0830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6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D59DC-CF86-C717-F7FE-E414CC58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42EFBB-C86A-52AE-2CF4-B513E4F2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48DBC-1859-6852-E391-6B276E65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73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EF66-7868-6C0B-6A5A-9803CB4B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D4027-0E43-34E1-C08C-FEB344B9F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D1307-5D05-BD7C-3D89-7AA34CC11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568B3-2265-B7D2-AA95-3F6DEB77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AFDD2-F4C3-35C7-6CAB-2CE784AA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701C7-B072-9C65-CFE5-F775FF42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6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A202-3ADF-FBEB-3AC3-F2F916A55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5A1B9-EE1E-4D2D-A616-B0A7E737C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ADE6E-935C-E2AF-A54B-377FEEF3A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67563-8C02-887D-590E-AFB6F7EA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AD48F-389F-01AC-14EC-00F5DBFA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749D4-3B05-AAF4-99DB-4B19E9BE0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6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CC13-DA30-0CDF-3709-F56C19FC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143A7-906C-02F6-C5B0-520C6AAC9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76FE7-CCE0-8E62-B088-71E70C27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6F8E2-D9CD-282D-8465-767C0943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08A6-A108-34DF-154C-F38E9AD5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A5E21-DEF1-5920-EDD6-CA56C5801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9BDD6-DE56-71A7-2017-E555D9906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4B24-C3BF-33CE-0E0F-9922A4435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72A4F-AB2C-7779-0CDC-7FCEA5CE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F39C1-D196-F373-FDED-0FFC8A6D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83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F24DC-FAE8-6272-9451-B96E3416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04AE6-E7BA-F587-616F-BB193D168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5BC5D-9A14-470D-BEBB-C4A3DB11E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0E299-3EF5-4EBD-9974-4D1179AA11E5}" type="datetimeFigureOut">
              <a:rPr lang="en-US" smtClean="0"/>
              <a:t>11/30/2022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52AEE-19C6-4C3A-6075-4AEEE5FEE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C671C-6FCE-2B0F-B3F9-69864B97B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61957-0F98-4F5B-AB04-59BB6A9D4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10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blueapp.grove.ad.uconn.edu/Blu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7" Type="http://schemas.openxmlformats.org/officeDocument/2006/relationships/image" Target="../media/image2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3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i.kym-cdn.com/photos/images/facebook/000/714/989/adc.jpg" TargetMode="External"/><Relationship Id="rId2" Type="http://schemas.openxmlformats.org/officeDocument/2006/relationships/hyperlink" Target="https://gumlet.assettype.com/freepressjournal/2021-11/73de02ef-cd36-47d8-bbae-528d01dc6fe4/f89U3ADr1oiB1s9GkdPOEpXUk5H.jpg?format=webp&amp;w=400&amp;dpr=2.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urrieta.k12.ca.us/cms/lib/CA01000508/Centricity/Domain/1467/Section%207.5%20version%202%20AM.ppt" TargetMode="External"/><Relationship Id="rId5" Type="http://schemas.openxmlformats.org/officeDocument/2006/relationships/hyperlink" Target="https://www.johnston.k12.nc.us/cms/lib/NC02214550/Centricity/Domain/5199/Online%20Ch3.ppt" TargetMode="External"/><Relationship Id="rId4" Type="http://schemas.openxmlformats.org/officeDocument/2006/relationships/hyperlink" Target="https://www.azquotes.com/picture-quotes/quote-no-one-man-should-have-all-that-power-kanye-west-85-46-66.jpg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mecreator.org/static/images/memes/4217960.jpg" TargetMode="External"/><Relationship Id="rId2" Type="http://schemas.openxmlformats.org/officeDocument/2006/relationships/hyperlink" Target="https://www.thesun.co.uk/wp-content/uploads/2016/06/nintchdbpict000242185564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urrieta.k12.ca.us/cms/lib/CA01000508/Centricity/Domain/1467/Section%207.5%20version%202%20AM.ppt" TargetMode="External"/><Relationship Id="rId4" Type="http://schemas.openxmlformats.org/officeDocument/2006/relationships/hyperlink" Target="https://www.johnston.k12.nc.us/cms/lib/NC02214550/Centricity/Domain/5199/Online%20Ch3.p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2500: Introduction to Discrete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454165"/>
            <a:ext cx="9144000" cy="1403835"/>
          </a:xfrm>
        </p:spPr>
        <p:txBody>
          <a:bodyPr/>
          <a:lstStyle/>
          <a:p>
            <a:r>
              <a:rPr lang="en-US" dirty="0"/>
              <a:t>Kaleel Mahmood </a:t>
            </a:r>
          </a:p>
          <a:p>
            <a:r>
              <a:rPr lang="en-US" dirty="0"/>
              <a:t>Department 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65314" y="1222310"/>
            <a:ext cx="12192000" cy="15102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/>
              <a:t>Lecture 22: </a:t>
            </a:r>
            <a:r>
              <a:rPr lang="en-US" sz="4800" i="1" dirty="0"/>
              <a:t>Special Topics </a:t>
            </a:r>
          </a:p>
          <a:p>
            <a:r>
              <a:rPr lang="en-US" sz="4800" dirty="0"/>
              <a:t>Machine Learning Part 2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7232E-CD92-44FC-9DFD-63FC61159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159" y="2822752"/>
            <a:ext cx="2235298" cy="2401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666F-262F-4131-B43F-0D378CD0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174"/>
            <a:ext cx="10515600" cy="13255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The SET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6160F-1255-4401-B37C-15A2963F0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7820" y="1575642"/>
            <a:ext cx="6268616" cy="508518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Please complete it here: </a:t>
            </a:r>
            <a:r>
              <a:rPr lang="en-US" dirty="0">
                <a:hlinkClick r:id="rId2"/>
              </a:rPr>
              <a:t>https://blueapp.grove.ad.uconn.edu/Blue/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you should consider:</a:t>
            </a:r>
          </a:p>
          <a:p>
            <a:r>
              <a:rPr lang="en-US" dirty="0"/>
              <a:t>Lectures NEVER went overtime, always concise and to the point.</a:t>
            </a:r>
          </a:p>
          <a:p>
            <a:r>
              <a:rPr lang="en-US" dirty="0"/>
              <a:t>We were the ONLY section of CSE 2500 to give students exposure to Python and special topics.</a:t>
            </a:r>
          </a:p>
          <a:p>
            <a:r>
              <a:rPr lang="en-US" dirty="0"/>
              <a:t>Only section of CSE 2500 taught using memes (probably).</a:t>
            </a:r>
          </a:p>
          <a:p>
            <a:r>
              <a:rPr lang="en-US" dirty="0"/>
              <a:t>Your feedback is appreciated.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A6C064-8C80-4D02-AB35-D7B789921D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30" t="-3768" r="630" b="3768"/>
          <a:stretch/>
        </p:blipFill>
        <p:spPr>
          <a:xfrm>
            <a:off x="427847" y="2090056"/>
            <a:ext cx="4440351" cy="371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17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5194A-7AC4-41C7-8140-A360B88C0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8C400A-023F-4D20-AD3C-5EC5EF6C8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73027"/>
            <a:ext cx="10515600" cy="1325563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Today’s Lecture Material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73A62-92B5-49D7-914C-29CFAC0081C2}"/>
              </a:ext>
            </a:extLst>
          </p:cNvPr>
          <p:cNvSpPr txBox="1"/>
          <p:nvPr/>
        </p:nvSpPr>
        <p:spPr>
          <a:xfrm>
            <a:off x="586271" y="1461013"/>
            <a:ext cx="30884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Strawberry Lecture Slides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B2A09-9824-46D2-9F6F-1199A845D914}"/>
              </a:ext>
            </a:extLst>
          </p:cNvPr>
          <p:cNvSpPr txBox="1"/>
          <p:nvPr/>
        </p:nvSpPr>
        <p:spPr>
          <a:xfrm>
            <a:off x="4425819" y="1531031"/>
            <a:ext cx="30884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Vanilla </a:t>
            </a:r>
          </a:p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White Board Derivations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22129-14D4-4251-AFCB-5A68043C2CC8}"/>
              </a:ext>
            </a:extLst>
          </p:cNvPr>
          <p:cNvSpPr txBox="1"/>
          <p:nvPr/>
        </p:nvSpPr>
        <p:spPr>
          <a:xfrm>
            <a:off x="8265367" y="1526982"/>
            <a:ext cx="30884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Chocolate</a:t>
            </a:r>
          </a:p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Python </a:t>
            </a:r>
          </a:p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Coding</a:t>
            </a:r>
          </a:p>
        </p:txBody>
      </p:sp>
    </p:spTree>
    <p:extLst>
      <p:ext uri="{BB962C8B-B14F-4D97-AF65-F5344CB8AC3E}">
        <p14:creationId xmlns:p14="http://schemas.microsoft.com/office/powerpoint/2010/main" val="80313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CA5D-4FD4-4C0C-BBEA-F9DCAF31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844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What is the main challenge </a:t>
            </a:r>
            <a:br>
              <a:rPr lang="en-US" dirty="0"/>
            </a:br>
            <a:r>
              <a:rPr lang="en-US" dirty="0"/>
              <a:t>in a machine learning problem?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4341C-FD57-4D5D-A056-18574CE0B2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9886"/>
          <a:stretch/>
        </p:blipFill>
        <p:spPr>
          <a:xfrm>
            <a:off x="10430489" y="2143609"/>
            <a:ext cx="803569" cy="3094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9AA7AD-0AFF-4A00-AF7A-7FE3BCDF1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49"/>
          <a:stretch/>
        </p:blipFill>
        <p:spPr>
          <a:xfrm>
            <a:off x="354562" y="2143609"/>
            <a:ext cx="3126174" cy="309446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DEE997-5B25-40AA-92D9-B0CD6D470037}"/>
                  </a:ext>
                </a:extLst>
              </p:cNvPr>
              <p:cNvSpPr txBox="1"/>
              <p:nvPr/>
            </p:nvSpPr>
            <p:spPr>
              <a:xfrm>
                <a:off x="210147" y="5314275"/>
                <a:ext cx="341500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DEE997-5B25-40AA-92D9-B0CD6D470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47" y="5314275"/>
                <a:ext cx="3415004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41F088-9690-433C-8634-E0BD1A1631A9}"/>
                  </a:ext>
                </a:extLst>
              </p:cNvPr>
              <p:cNvSpPr txBox="1"/>
              <p:nvPr/>
            </p:nvSpPr>
            <p:spPr>
              <a:xfrm>
                <a:off x="9190085" y="5314275"/>
                <a:ext cx="341500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41F088-9690-433C-8634-E0BD1A163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085" y="5314275"/>
                <a:ext cx="3415004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5D53BCCB-99F8-42B5-B995-F03437F934BE}"/>
              </a:ext>
            </a:extLst>
          </p:cNvPr>
          <p:cNvSpPr/>
          <p:nvPr/>
        </p:nvSpPr>
        <p:spPr>
          <a:xfrm rot="21198029">
            <a:off x="4366369" y="2753913"/>
            <a:ext cx="5178489" cy="282192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CD7613-C634-4B64-96E5-1CAFFBB93392}"/>
                  </a:ext>
                </a:extLst>
              </p:cNvPr>
              <p:cNvSpPr txBox="1"/>
              <p:nvPr/>
            </p:nvSpPr>
            <p:spPr>
              <a:xfrm>
                <a:off x="5240936" y="3720567"/>
                <a:ext cx="2911151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CD7613-C634-4B64-96E5-1CAFFBB93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936" y="3720567"/>
                <a:ext cx="2911151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58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BE92-0459-437F-8072-F61179C170D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The Hyperplane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7ED29-35C9-42BA-B722-EE056EC4B6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95731" y="1825625"/>
                <a:ext cx="5858070" cy="4667250"/>
              </a:xfrm>
            </p:spPr>
            <p:txBody>
              <a:bodyPr/>
              <a:lstStyle/>
              <a:p>
                <a:r>
                  <a:rPr lang="en-US" dirty="0"/>
                  <a:t>There are a number of different names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is the line that separates the data into different class labels. </a:t>
                </a:r>
              </a:p>
              <a:p>
                <a:r>
                  <a:rPr lang="en-US" dirty="0"/>
                  <a:t>It can be called the decision boundary, or the hyperplane.</a:t>
                </a:r>
              </a:p>
              <a:p>
                <a:endParaRPr lang="en-US" dirty="0"/>
              </a:p>
              <a:p>
                <a:r>
                  <a:rPr lang="en-US" dirty="0"/>
                  <a:t>Another way to think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is the mapping that transforms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into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7ED29-35C9-42BA-B722-EE056EC4B6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95731" y="1825625"/>
                <a:ext cx="5858070" cy="4667250"/>
              </a:xfrm>
              <a:blipFill>
                <a:blip r:embed="rId2"/>
                <a:stretch>
                  <a:fillRect l="-1873" t="-2089" r="-2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B93C793-2BBA-45CF-87FF-DF59A6E02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89" y="1825625"/>
            <a:ext cx="5042126" cy="440745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DE21709-79E2-403C-9B3D-E009EA24B8D1}"/>
              </a:ext>
            </a:extLst>
          </p:cNvPr>
          <p:cNvCxnSpPr/>
          <p:nvPr/>
        </p:nvCxnSpPr>
        <p:spPr>
          <a:xfrm flipV="1">
            <a:off x="838200" y="2351314"/>
            <a:ext cx="3939073" cy="3508310"/>
          </a:xfrm>
          <a:prstGeom prst="line">
            <a:avLst/>
          </a:prstGeom>
          <a:ln w="76200"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71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9847-E373-43D5-8589-AE82ABBDA9D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Machine learning data is multi-dimensional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F20B7-0EE2-4182-A23F-163571650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4816"/>
          </a:xfrm>
        </p:spPr>
        <p:txBody>
          <a:bodyPr/>
          <a:lstStyle/>
          <a:p>
            <a:r>
              <a:rPr lang="en-US" dirty="0"/>
              <a:t>Mathematical operations can be done in scalar, vector, matrix or tensor operations.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6CA74C-ADE0-49E6-90AE-80CA1FBEB791}"/>
                  </a:ext>
                </a:extLst>
              </p:cNvPr>
              <p:cNvSpPr txBox="1"/>
              <p:nvPr/>
            </p:nvSpPr>
            <p:spPr>
              <a:xfrm>
                <a:off x="838200" y="3231853"/>
                <a:ext cx="201541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6CA74C-ADE0-49E6-90AE-80CA1FBEB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31853"/>
                <a:ext cx="2015412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975176-3BDA-4C51-9FE9-A07D28CFF25F}"/>
                  </a:ext>
                </a:extLst>
              </p:cNvPr>
              <p:cNvSpPr txBox="1"/>
              <p:nvPr/>
            </p:nvSpPr>
            <p:spPr>
              <a:xfrm>
                <a:off x="196719" y="5248102"/>
                <a:ext cx="4250094" cy="1235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975176-3BDA-4C51-9FE9-A07D28CFF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19" y="5248102"/>
                <a:ext cx="4250094" cy="12352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0F3C5-51BD-4277-8BF0-EB78729A1D69}"/>
                  </a:ext>
                </a:extLst>
              </p:cNvPr>
              <p:cNvSpPr txBox="1"/>
              <p:nvPr/>
            </p:nvSpPr>
            <p:spPr>
              <a:xfrm>
                <a:off x="643814" y="4201179"/>
                <a:ext cx="4250094" cy="852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=[1,2,3,4,5]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00F3C5-51BD-4277-8BF0-EB78729A1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14" y="4201179"/>
                <a:ext cx="4250094" cy="8524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D741C1-FA64-4213-8DC2-8AC69863F39B}"/>
              </a:ext>
            </a:extLst>
          </p:cNvPr>
          <p:cNvCxnSpPr>
            <a:cxnSpLocks/>
          </p:cNvCxnSpPr>
          <p:nvPr/>
        </p:nvCxnSpPr>
        <p:spPr>
          <a:xfrm flipH="1">
            <a:off x="2659225" y="2982092"/>
            <a:ext cx="3082212" cy="63448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A1CB1E-4897-4C72-8F7C-48E84D516780}"/>
              </a:ext>
            </a:extLst>
          </p:cNvPr>
          <p:cNvCxnSpPr>
            <a:cxnSpLocks/>
          </p:cNvCxnSpPr>
          <p:nvPr/>
        </p:nvCxnSpPr>
        <p:spPr>
          <a:xfrm flipH="1">
            <a:off x="4677748" y="4001294"/>
            <a:ext cx="3082212" cy="63448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9BC148-57D8-4BF4-A96D-EC500C0E8B43}"/>
              </a:ext>
            </a:extLst>
          </p:cNvPr>
          <p:cNvSpPr txBox="1"/>
          <p:nvPr/>
        </p:nvSpPr>
        <p:spPr>
          <a:xfrm>
            <a:off x="5741437" y="2746037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Scalar= A single number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B54C6-A627-4C61-9F74-6C64A45AD7CC}"/>
              </a:ext>
            </a:extLst>
          </p:cNvPr>
          <p:cNvSpPr txBox="1"/>
          <p:nvPr/>
        </p:nvSpPr>
        <p:spPr>
          <a:xfrm>
            <a:off x="7759960" y="3666449"/>
            <a:ext cx="40339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Vector = A group of numbers in a 1D array.</a:t>
            </a:r>
          </a:p>
          <a:p>
            <a:r>
              <a:rPr lang="en-US" sz="2800" dirty="0"/>
              <a:t>E.g. time series data.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E50397-2C44-47DA-9945-B34BD5EE03A5}"/>
              </a:ext>
            </a:extLst>
          </p:cNvPr>
          <p:cNvCxnSpPr>
            <a:cxnSpLocks/>
          </p:cNvCxnSpPr>
          <p:nvPr/>
        </p:nvCxnSpPr>
        <p:spPr>
          <a:xfrm flipH="1">
            <a:off x="3934409" y="5570932"/>
            <a:ext cx="2998236" cy="43136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901037-7C33-4132-9CED-3C22DE3FDA85}"/>
              </a:ext>
            </a:extLst>
          </p:cNvPr>
          <p:cNvSpPr txBox="1"/>
          <p:nvPr/>
        </p:nvSpPr>
        <p:spPr>
          <a:xfrm>
            <a:off x="7060163" y="5386289"/>
            <a:ext cx="441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Matrix = A 2D array of data.</a:t>
            </a:r>
          </a:p>
          <a:p>
            <a:r>
              <a:rPr lang="en-US" sz="2800" dirty="0"/>
              <a:t>E.g. A black and white image.</a:t>
            </a:r>
          </a:p>
        </p:txBody>
      </p:sp>
    </p:spTree>
    <p:extLst>
      <p:ext uri="{BB962C8B-B14F-4D97-AF65-F5344CB8AC3E}">
        <p14:creationId xmlns:p14="http://schemas.microsoft.com/office/powerpoint/2010/main" val="99451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4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6E96D05-E10C-42B6-9E7B-9DCAD254B732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0"/>
            <a:ext cx="12191999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200" u="sng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Basic Matrix Operations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1DFE94E-2FF1-4C4A-8A6E-58238D4F85C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33400"/>
            <a:ext cx="12192000" cy="6324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600" b="1" u="sng" dirty="0">
                <a:solidFill>
                  <a:srgbClr val="000000"/>
                </a:solidFill>
              </a:rPr>
              <a:t>Matrix</a:t>
            </a:r>
            <a:r>
              <a:rPr lang="en-US" altLang="en-US" sz="3600" b="1" dirty="0">
                <a:solidFill>
                  <a:srgbClr val="000000"/>
                </a:solidFill>
              </a:rPr>
              <a:t> – a rectangular array of numbers, variables, and both</a:t>
            </a:r>
          </a:p>
          <a:p>
            <a:r>
              <a:rPr lang="en-US" altLang="en-US" sz="3600" b="1" u="sng" dirty="0">
                <a:solidFill>
                  <a:srgbClr val="000000"/>
                </a:solidFill>
              </a:rPr>
              <a:t>Order (dimensions)</a:t>
            </a:r>
            <a:r>
              <a:rPr lang="en-US" altLang="en-US" sz="3600" b="1" dirty="0">
                <a:solidFill>
                  <a:srgbClr val="000000"/>
                </a:solidFill>
              </a:rPr>
              <a:t> – describes the number of rows and columns in a matrix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514AC99-6886-4E84-8E3C-81E621516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579" y="3212840"/>
            <a:ext cx="3657600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rabicPlain" startAt="2"/>
            </a:pPr>
            <a:r>
              <a:rPr lang="en-US" altLang="en-US"/>
              <a:t> 	4	5	6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3		7	8	10	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6D20068-733A-4745-962F-6F432EDE6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179" y="3289040"/>
            <a:ext cx="12192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Row 1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Row 2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9CEDF5C6-3BD4-48BC-862C-687D47835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179" y="4508240"/>
            <a:ext cx="611188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lbertus (W1)" pitchFamily="34" charset="0"/>
              </a:rPr>
              <a:t>Column</a:t>
            </a:r>
            <a:r>
              <a:rPr lang="en-US" altLang="en-US"/>
              <a:t> 1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AB6C33F-82C1-40FD-AEF4-AF1E7076F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579" y="4508240"/>
            <a:ext cx="611188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lbertus (W1)" pitchFamily="34" charset="0"/>
              </a:rPr>
              <a:t>Column</a:t>
            </a:r>
            <a:r>
              <a:rPr lang="en-US" altLang="en-US"/>
              <a:t> 2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BAB936B-DDFB-4F4C-B043-D6D5DC58F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979" y="4508240"/>
            <a:ext cx="611188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lbertus (W1)" pitchFamily="34" charset="0"/>
              </a:rPr>
              <a:t>Column</a:t>
            </a:r>
            <a:r>
              <a:rPr lang="en-US" altLang="en-US"/>
              <a:t> 3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69973AB5-8E8F-4BD7-A76E-68F2DE311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779" y="4508240"/>
            <a:ext cx="611188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lbertus (W1)" pitchFamily="34" charset="0"/>
              </a:rPr>
              <a:t>Column</a:t>
            </a:r>
            <a:r>
              <a:rPr lang="en-US" altLang="en-US"/>
              <a:t> 4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E1EB3EE5-60B3-41BF-AF6F-4E95BA71B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379" y="359384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This is a 2 x 4 matrix.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AFB2F114-8A31-4BA9-B9BD-F5E474FC6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8179" y="4279640"/>
            <a:ext cx="611188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lbertus (W1)" pitchFamily="34" charset="0"/>
              </a:rPr>
              <a:t>Rows</a:t>
            </a:r>
            <a:endParaRPr lang="en-US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CD3D066F-D0C5-4D42-B96E-A45D5AC71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3979" y="4279640"/>
            <a:ext cx="611188" cy="173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lbertus (W1)" pitchFamily="34" charset="0"/>
              </a:rPr>
              <a:t>Columns</a:t>
            </a:r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32575686-CB52-47E1-B62B-5E139F9BD7BB}"/>
              </a:ext>
            </a:extLst>
          </p:cNvPr>
          <p:cNvSpPr>
            <a:spLocks/>
          </p:cNvSpPr>
          <p:nvPr/>
        </p:nvSpPr>
        <p:spPr bwMode="auto">
          <a:xfrm>
            <a:off x="7004179" y="3212840"/>
            <a:ext cx="76200" cy="1143000"/>
          </a:xfrm>
          <a:prstGeom prst="rightBracket">
            <a:avLst>
              <a:gd name="adj" fmla="val 125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6D84781-EAF1-4AEB-BEFB-3B082A35C8F6}"/>
              </a:ext>
            </a:extLst>
          </p:cNvPr>
          <p:cNvSpPr>
            <a:spLocks/>
          </p:cNvSpPr>
          <p:nvPr/>
        </p:nvSpPr>
        <p:spPr bwMode="auto">
          <a:xfrm>
            <a:off x="3498979" y="3212840"/>
            <a:ext cx="76200" cy="1143000"/>
          </a:xfrm>
          <a:prstGeom prst="leftBracket">
            <a:avLst>
              <a:gd name="adj" fmla="val 125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12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B169-9ABA-4A3C-8465-CCA2473CF88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000" dirty="0"/>
              <a:t>Review from last time…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A4756D3-89D2-4D47-8C5A-49221A831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16" y="3136705"/>
            <a:ext cx="51371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B3D3CA-31E0-4861-868C-4F893EC49BC2}"/>
              </a:ext>
            </a:extLst>
          </p:cNvPr>
          <p:cNvSpPr txBox="1"/>
          <p:nvPr/>
        </p:nvSpPr>
        <p:spPr>
          <a:xfrm>
            <a:off x="838200" y="1874109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/>
              <a:t>What is the sum of  A and B?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8FD7F-9B6C-4F4E-A5F6-BF76201744D2}"/>
              </a:ext>
            </a:extLst>
          </p:cNvPr>
          <p:cNvSpPr txBox="1"/>
          <p:nvPr/>
        </p:nvSpPr>
        <p:spPr>
          <a:xfrm>
            <a:off x="928849" y="5415657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Undefined! Matrix dimensions must be the same size to add together.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67AC7-28C6-4C54-AD77-7581429ECD0C}"/>
              </a:ext>
            </a:extLst>
          </p:cNvPr>
          <p:cNvSpPr txBox="1"/>
          <p:nvPr/>
        </p:nvSpPr>
        <p:spPr>
          <a:xfrm>
            <a:off x="1007705" y="4124130"/>
            <a:ext cx="4581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A+B?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037CD-65ED-06DF-7A39-4B914F62C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122" y="2826450"/>
            <a:ext cx="4028574" cy="2221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3CCDD3-742B-5303-35A6-571AFB37A30C}"/>
              </a:ext>
            </a:extLst>
          </p:cNvPr>
          <p:cNvSpPr txBox="1"/>
          <p:nvPr/>
        </p:nvSpPr>
        <p:spPr>
          <a:xfrm>
            <a:off x="6697579" y="282645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Matrices:</a:t>
            </a:r>
          </a:p>
        </p:txBody>
      </p:sp>
    </p:spTree>
    <p:extLst>
      <p:ext uri="{BB962C8B-B14F-4D97-AF65-F5344CB8AC3E}">
        <p14:creationId xmlns:p14="http://schemas.microsoft.com/office/powerpoint/2010/main" val="283513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D3F7D01-1E36-453F-9D1E-5FAFF8B7B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6449"/>
            <a:ext cx="1219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u="sng" dirty="0"/>
              <a:t>Matrix Multiplication</a:t>
            </a:r>
            <a:r>
              <a:rPr lang="en-US" altLang="en-US" b="1" dirty="0"/>
              <a:t> – In order to multiply two matrices the columns of the first matrix must be equal to the rows of the second matrix.</a:t>
            </a:r>
          </a:p>
          <a:p>
            <a:r>
              <a:rPr lang="en-US" altLang="en-US" b="1" dirty="0"/>
              <a:t>						[A]   x    [B]</a:t>
            </a:r>
          </a:p>
          <a:p>
            <a:r>
              <a:rPr lang="en-US" altLang="en-US" b="1" dirty="0"/>
              <a:t>		   		                 (m x </a:t>
            </a:r>
            <a:r>
              <a:rPr lang="en-US" altLang="en-US" b="1" dirty="0">
                <a:solidFill>
                  <a:srgbClr val="FF0000"/>
                </a:solidFill>
              </a:rPr>
              <a:t>k</a:t>
            </a:r>
            <a:r>
              <a:rPr lang="en-US" altLang="en-US" b="1" dirty="0"/>
              <a:t>)   (</a:t>
            </a:r>
            <a:r>
              <a:rPr lang="en-US" altLang="en-US" b="1" dirty="0">
                <a:solidFill>
                  <a:srgbClr val="FF0000"/>
                </a:solidFill>
              </a:rPr>
              <a:t>k</a:t>
            </a:r>
            <a:r>
              <a:rPr lang="en-US" altLang="en-US" b="1" dirty="0"/>
              <a:t> x n)</a:t>
            </a:r>
            <a:r>
              <a:rPr lang="en-US" altLang="en-US" dirty="0"/>
              <a:t>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9A3913-C1D0-4A72-9E23-4A31C9522823}"/>
                  </a:ext>
                </a:extLst>
              </p:cNvPr>
              <p:cNvSpPr txBox="1"/>
              <p:nvPr/>
            </p:nvSpPr>
            <p:spPr>
              <a:xfrm>
                <a:off x="1782147" y="3867148"/>
                <a:ext cx="8397551" cy="1339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4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4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9A3913-C1D0-4A72-9E23-4A31C9522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147" y="3867148"/>
                <a:ext cx="8397551" cy="13390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5762D34-E7BE-43D9-96CF-48951CD34B1E}"/>
              </a:ext>
            </a:extLst>
          </p:cNvPr>
          <p:cNvSpPr txBox="1"/>
          <p:nvPr/>
        </p:nvSpPr>
        <p:spPr>
          <a:xfrm>
            <a:off x="4469363" y="3209730"/>
            <a:ext cx="1922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2x</a:t>
            </a:r>
            <a:r>
              <a:rPr lang="en-US" sz="4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8DF09-3F17-47EE-9987-12CBBD8BAC4F}"/>
              </a:ext>
            </a:extLst>
          </p:cNvPr>
          <p:cNvSpPr txBox="1"/>
          <p:nvPr/>
        </p:nvSpPr>
        <p:spPr>
          <a:xfrm>
            <a:off x="7156579" y="3159262"/>
            <a:ext cx="1922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2</a:t>
            </a:r>
            <a:r>
              <a:rPr lang="en-US" sz="4000" dirty="0"/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228946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47B5-D492-4400-9B1C-4BC33B8AD45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Matrix Multiplication: Go row by column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95A39-302A-43E7-90A7-8FF0C3165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593" y="1958457"/>
            <a:ext cx="9410700" cy="4210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5019AB-D679-40D1-99B6-2CB13A5E4234}"/>
              </a:ext>
            </a:extLst>
          </p:cNvPr>
          <p:cNvSpPr txBox="1"/>
          <p:nvPr/>
        </p:nvSpPr>
        <p:spPr>
          <a:xfrm>
            <a:off x="2923981" y="6436276"/>
            <a:ext cx="8073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https://www.mathsisfun.com/algebra/matrix-multiplying.html</a:t>
            </a:r>
          </a:p>
        </p:txBody>
      </p:sp>
    </p:spTree>
    <p:extLst>
      <p:ext uri="{BB962C8B-B14F-4D97-AF65-F5344CB8AC3E}">
        <p14:creationId xmlns:p14="http://schemas.microsoft.com/office/powerpoint/2010/main" val="273520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47B5-D492-4400-9B1C-4BC33B8A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13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Matrix Multiplication: Go row by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418AD-FF5B-4699-9BDD-C0429DF33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623" y="1683771"/>
            <a:ext cx="8349343" cy="2908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66DCAC-9105-4FD1-9AF3-060D0BC50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027" y="4412060"/>
            <a:ext cx="8098777" cy="244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9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1806-8B12-45A8-9702-4ABFCEA5B35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Matrix Multiplication Properties</a:t>
            </a:r>
          </a:p>
        </p:txBody>
      </p:sp>
      <p:pic>
        <p:nvPicPr>
          <p:cNvPr id="3" name="Picture 6" descr="Picture7">
            <a:extLst>
              <a:ext uri="{FF2B5EF4-FFF2-40B4-BE49-F238E27FC236}">
                <a16:creationId xmlns:a16="http://schemas.microsoft.com/office/drawing/2014/main" id="{69C4553C-96EB-410A-9516-B14A02099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737" y="1973229"/>
            <a:ext cx="9662525" cy="327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321431A9-812B-436A-91F5-10A48B55E3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5563" y="5421085"/>
                <a:ext cx="10515600" cy="132556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u="sng" dirty="0">
                    <a:solidFill>
                      <a:srgbClr val="FF0000"/>
                    </a:solidFill>
                  </a:rPr>
                  <a:t>NOTE: </a:t>
                </a:r>
                <a14:m>
                  <m:oMath xmlns:m="http://schemas.openxmlformats.org/officeDocument/2006/math">
                    <m:r>
                      <a:rPr lang="en-US" b="0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US" b="0" i="1" u="sng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𝐵𝐴</m:t>
                    </m:r>
                  </m:oMath>
                </a14:m>
                <a:r>
                  <a:rPr lang="en-US" u="sng" dirty="0">
                    <a:solidFill>
                      <a:srgbClr val="FF0000"/>
                    </a:solidFill>
                  </a:rPr>
                  <a:t> for matrices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321431A9-812B-436A-91F5-10A48B55E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63" y="5421085"/>
                <a:ext cx="10515600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989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B169-9ABA-4A3C-8465-CCA2473CF88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000" dirty="0"/>
              <a:t>A few more matrix properties…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3D3CA-31E0-4861-868C-4F893EC49BC2}"/>
              </a:ext>
            </a:extLst>
          </p:cNvPr>
          <p:cNvSpPr txBox="1"/>
          <p:nvPr/>
        </p:nvSpPr>
        <p:spPr>
          <a:xfrm>
            <a:off x="838200" y="1874109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/>
              <a:t>Matrix Transpose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2DB687-0108-45FF-A539-923DAD418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24" y="2752725"/>
            <a:ext cx="11306175" cy="6762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719B82-B4AB-430F-B097-434589A826EE}"/>
              </a:ext>
            </a:extLst>
          </p:cNvPr>
          <p:cNvSpPr/>
          <p:nvPr/>
        </p:nvSpPr>
        <p:spPr>
          <a:xfrm>
            <a:off x="8612155" y="3077491"/>
            <a:ext cx="284583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7ADD1-33D7-4303-A2A5-49B8DE00DD08}"/>
              </a:ext>
            </a:extLst>
          </p:cNvPr>
          <p:cNvSpPr txBox="1"/>
          <p:nvPr/>
        </p:nvSpPr>
        <p:spPr>
          <a:xfrm>
            <a:off x="3460100" y="6492875"/>
            <a:ext cx="5645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Source: https://en.wikipedia.org/wiki/Transpose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ADF27F-F8E0-471F-AED6-29EBD25DA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750" y="3722841"/>
            <a:ext cx="30099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0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897A-0C68-4804-A4BA-4EF78EB992D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Transpose Properties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D26C3-E981-4EBF-B12C-02945422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392" y="1799445"/>
            <a:ext cx="3587037" cy="1195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C14EC4-5249-4635-849D-80A77A30EE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608"/>
          <a:stretch/>
        </p:blipFill>
        <p:spPr>
          <a:xfrm>
            <a:off x="3609392" y="2995124"/>
            <a:ext cx="5570116" cy="1035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9FAF9E-0B21-476E-A68A-D9AEF3F5E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367" y="4030822"/>
            <a:ext cx="4694852" cy="1143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28ACE8-44BA-4138-97D3-5C7C88D9D8D6}"/>
              </a:ext>
            </a:extLst>
          </p:cNvPr>
          <p:cNvSpPr txBox="1"/>
          <p:nvPr/>
        </p:nvSpPr>
        <p:spPr>
          <a:xfrm>
            <a:off x="558282" y="5855671"/>
            <a:ext cx="11075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/>
              <a:t>Where would the transpose operation be useful?</a:t>
            </a:r>
          </a:p>
        </p:txBody>
      </p:sp>
    </p:spTree>
    <p:extLst>
      <p:ext uri="{BB962C8B-B14F-4D97-AF65-F5344CB8AC3E}">
        <p14:creationId xmlns:p14="http://schemas.microsoft.com/office/powerpoint/2010/main" val="1538630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E51444-2742-48A5-BFFC-23C1B5DA98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75292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 fontScale="90000"/>
              </a:bodyPr>
              <a:lstStyle/>
              <a:p>
                <a:r>
                  <a:rPr lang="en-US" dirty="0"/>
                  <a:t>Simple Example: Let us have a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We want to compute the square of all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and sum them together.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E51444-2742-48A5-BFFC-23C1B5DA98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752924"/>
              </a:xfrm>
              <a:blipFill>
                <a:blip r:embed="rId2"/>
                <a:stretch>
                  <a:fillRect l="-2027" t="-8997" r="-174" b="-14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22BBBA-E01E-40F7-B586-FDC6CD3B1BD9}"/>
                  </a:ext>
                </a:extLst>
              </p:cNvPr>
              <p:cNvSpPr txBox="1"/>
              <p:nvPr/>
            </p:nvSpPr>
            <p:spPr>
              <a:xfrm>
                <a:off x="5494176" y="2701118"/>
                <a:ext cx="529978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0" dirty="0">
                    <a:ea typeface="Cambria Math" panose="02040503050406030204" pitchFamily="18" charset="0"/>
                  </a:rPr>
                  <a:t> Can we do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22BBBA-E01E-40F7-B586-FDC6CD3B1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76" y="2701118"/>
                <a:ext cx="5299787" cy="769441"/>
              </a:xfrm>
              <a:prstGeom prst="rect">
                <a:avLst/>
              </a:prstGeom>
              <a:blipFill>
                <a:blip r:embed="rId3"/>
                <a:stretch>
                  <a:fillRect t="-15873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4DA47-5FCC-4D86-BE42-6F100FDF380B}"/>
                  </a:ext>
                </a:extLst>
              </p:cNvPr>
              <p:cNvSpPr txBox="1"/>
              <p:nvPr/>
            </p:nvSpPr>
            <p:spPr>
              <a:xfrm>
                <a:off x="693575" y="5042004"/>
                <a:ext cx="529978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400" b="0" dirty="0">
                    <a:ea typeface="Cambria Math" panose="02040503050406030204" pitchFamily="18" charset="0"/>
                  </a:rPr>
                  <a:t> Can we do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4DA47-5FCC-4D86-BE42-6F100FDF3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75" y="5042004"/>
                <a:ext cx="5299787" cy="769441"/>
              </a:xfrm>
              <a:prstGeom prst="rect">
                <a:avLst/>
              </a:prstGeom>
              <a:blipFill>
                <a:blip r:embed="rId4"/>
                <a:stretch>
                  <a:fillRect t="-15079" b="-38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50F8CCE-A134-4B9F-B6E0-671AA7CF1F6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207" t="404" r="24063" b="71931"/>
          <a:stretch/>
        </p:blipFill>
        <p:spPr>
          <a:xfrm>
            <a:off x="3408783" y="2659559"/>
            <a:ext cx="1548881" cy="1538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6E0A81-3827-4DEC-8C86-97E53D03FA69}"/>
                  </a:ext>
                </a:extLst>
              </p:cNvPr>
              <p:cNvSpPr txBox="1"/>
              <p:nvPr/>
            </p:nvSpPr>
            <p:spPr>
              <a:xfrm>
                <a:off x="2218353" y="2822416"/>
                <a:ext cx="154888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6E0A81-3827-4DEC-8C86-97E53D03F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353" y="2822416"/>
                <a:ext cx="1548881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6039B19-5EDD-4798-BAF1-9C25612C1EEB}"/>
              </a:ext>
            </a:extLst>
          </p:cNvPr>
          <p:cNvSpPr/>
          <p:nvPr/>
        </p:nvSpPr>
        <p:spPr>
          <a:xfrm>
            <a:off x="838199" y="2286000"/>
            <a:ext cx="10515600" cy="236064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EAF7D1-87AD-4F77-8AB5-7B2733F961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207" t="404" r="24063" b="71931"/>
          <a:stretch/>
        </p:blipFill>
        <p:spPr>
          <a:xfrm>
            <a:off x="6360367" y="4953994"/>
            <a:ext cx="1548881" cy="1538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8B6F6E-C123-4EBF-B27D-5962613819AF}"/>
                  </a:ext>
                </a:extLst>
              </p:cNvPr>
              <p:cNvSpPr txBox="1"/>
              <p:nvPr/>
            </p:nvSpPr>
            <p:spPr>
              <a:xfrm>
                <a:off x="4696409" y="5246014"/>
                <a:ext cx="609755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8B6F6E-C123-4EBF-B27D-596261381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409" y="5246014"/>
                <a:ext cx="6097554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F48828C-18E8-4D9B-912A-50B330EB549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527" r="64820" b="75113"/>
          <a:stretch/>
        </p:blipFill>
        <p:spPr>
          <a:xfrm>
            <a:off x="7856373" y="4814596"/>
            <a:ext cx="1716833" cy="160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63CD-AAFA-4020-A94B-703CABE5F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2678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Matrix Inverse and Identity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9130A-5E65-42B4-B121-49E621351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34" y="1690688"/>
            <a:ext cx="7303731" cy="27744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271B44-56E2-4B2B-9BD4-8B875789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028" y="4577550"/>
            <a:ext cx="8551895" cy="21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30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D368-A88F-43A4-A30F-A73665BF2F7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Computing a Matrix Inverse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DFC7B-0BE6-420B-B5C3-82B4F2716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969050"/>
            <a:ext cx="83439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07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D368-A88F-43A4-A30F-A73665BF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456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Computing a Matrix Inverse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128C6-62B1-4CFE-9E24-1F41D420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7" y="1807612"/>
            <a:ext cx="9648825" cy="3448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1632E-AB02-49EA-83A4-3DDF4BD3E692}"/>
              </a:ext>
            </a:extLst>
          </p:cNvPr>
          <p:cNvSpPr txBox="1"/>
          <p:nvPr/>
        </p:nvSpPr>
        <p:spPr>
          <a:xfrm>
            <a:off x="1474237" y="5633744"/>
            <a:ext cx="91906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But how do we know that this is indeed the inverse of the given matrix?</a:t>
            </a:r>
          </a:p>
        </p:txBody>
      </p:sp>
    </p:spTree>
    <p:extLst>
      <p:ext uri="{BB962C8B-B14F-4D97-AF65-F5344CB8AC3E}">
        <p14:creationId xmlns:p14="http://schemas.microsoft.com/office/powerpoint/2010/main" val="2937436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B5CCF9-4204-4C10-85C3-33ED648DF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34" y="1859513"/>
            <a:ext cx="9372600" cy="476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8FCB94-5FD5-4BCB-AC0C-4F801467E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09" y="601436"/>
            <a:ext cx="84772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31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87BEE-C44A-0DD8-9A28-C73CF50C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i="1" u="sng" dirty="0"/>
              <a:t>Where would we need to use the matrix inverse?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094AD-20A6-39FA-148F-9443AE8511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matrix form assume that A is known and C is known. Can you find B?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094AD-20A6-39FA-148F-9443AE8511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99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5CFFB-1285-4384-BD28-D3382C3E5EB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Use of the matrix inverse: Solve for multiple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4525D2-E539-492F-AEB5-E70FADA33F2E}"/>
                  </a:ext>
                </a:extLst>
              </p:cNvPr>
              <p:cNvSpPr txBox="1"/>
              <p:nvPr/>
            </p:nvSpPr>
            <p:spPr>
              <a:xfrm>
                <a:off x="559836" y="2931139"/>
                <a:ext cx="4114801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=22</m:t>
                      </m:r>
                    </m:oMath>
                  </m:oMathPara>
                </a14:m>
                <a:endParaRPr lang="en-US" sz="4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4525D2-E539-492F-AEB5-E70FADA33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36" y="2931139"/>
                <a:ext cx="4114801" cy="13234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89FFDF6-1885-4A51-BDE5-181C3289FB0F}"/>
              </a:ext>
            </a:extLst>
          </p:cNvPr>
          <p:cNvSpPr txBox="1"/>
          <p:nvPr/>
        </p:nvSpPr>
        <p:spPr>
          <a:xfrm>
            <a:off x="625151" y="1959428"/>
            <a:ext cx="397484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Express the following equations in matrix form: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D8B65AF-329B-409D-9FFB-9A1DD7821B61}"/>
              </a:ext>
            </a:extLst>
          </p:cNvPr>
          <p:cNvSpPr/>
          <p:nvPr/>
        </p:nvSpPr>
        <p:spPr>
          <a:xfrm>
            <a:off x="5066523" y="2492465"/>
            <a:ext cx="1371600" cy="13234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298ED6-E664-4DC4-815D-67B945ABD609}"/>
                  </a:ext>
                </a:extLst>
              </p:cNvPr>
              <p:cNvSpPr txBox="1"/>
              <p:nvPr/>
            </p:nvSpPr>
            <p:spPr>
              <a:xfrm>
                <a:off x="6587412" y="2538791"/>
                <a:ext cx="5299787" cy="1230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4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4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298ED6-E664-4DC4-815D-67B945ABD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412" y="2538791"/>
                <a:ext cx="5299787" cy="1230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CD6096-A8F8-4D3A-9FAE-8E3337065CCA}"/>
                  </a:ext>
                </a:extLst>
              </p:cNvPr>
              <p:cNvSpPr txBox="1"/>
              <p:nvPr/>
            </p:nvSpPr>
            <p:spPr>
              <a:xfrm>
                <a:off x="6438123" y="4473132"/>
                <a:ext cx="529978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CD6096-A8F8-4D3A-9FAE-8E3337065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123" y="4473132"/>
                <a:ext cx="5299787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65B8F0-C1C7-4942-86BC-C01F831FB77B}"/>
                  </a:ext>
                </a:extLst>
              </p:cNvPr>
              <p:cNvSpPr txBox="1"/>
              <p:nvPr/>
            </p:nvSpPr>
            <p:spPr>
              <a:xfrm>
                <a:off x="6288834" y="5440109"/>
                <a:ext cx="529978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65B8F0-C1C7-4942-86BC-C01F831FB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834" y="5440109"/>
                <a:ext cx="5299787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291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5CFFB-1285-4384-BD28-D3382C3E5EB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Use of the matrix inverse: Solve for multiple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298ED6-E664-4DC4-815D-67B945ABD609}"/>
                  </a:ext>
                </a:extLst>
              </p:cNvPr>
              <p:cNvSpPr txBox="1"/>
              <p:nvPr/>
            </p:nvSpPr>
            <p:spPr>
              <a:xfrm>
                <a:off x="838200" y="2438319"/>
                <a:ext cx="3215950" cy="3478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4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4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298ED6-E664-4DC4-815D-67B945ABD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8319"/>
                <a:ext cx="3215950" cy="34781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65B8F0-C1C7-4942-86BC-C01F831FB77B}"/>
                  </a:ext>
                </a:extLst>
              </p:cNvPr>
              <p:cNvSpPr txBox="1"/>
              <p:nvPr/>
            </p:nvSpPr>
            <p:spPr>
              <a:xfrm>
                <a:off x="5178491" y="2053599"/>
                <a:ext cx="529978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C65B8F0-C1C7-4942-86BC-C01F831FB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491" y="2053599"/>
                <a:ext cx="5299787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EF817C-FA56-448B-9E3F-F886B55A27EB}"/>
                  </a:ext>
                </a:extLst>
              </p:cNvPr>
              <p:cNvSpPr txBox="1"/>
              <p:nvPr/>
            </p:nvSpPr>
            <p:spPr>
              <a:xfrm>
                <a:off x="5178491" y="2939280"/>
                <a:ext cx="5299787" cy="1382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4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EF817C-FA56-448B-9E3F-F886B55A2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491" y="2939280"/>
                <a:ext cx="5299787" cy="13825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8FDBFD-EEE6-4700-A898-FABEB0C8CE90}"/>
                  </a:ext>
                </a:extLst>
              </p:cNvPr>
              <p:cNvSpPr txBox="1"/>
              <p:nvPr/>
            </p:nvSpPr>
            <p:spPr>
              <a:xfrm>
                <a:off x="5012095" y="4622532"/>
                <a:ext cx="5632578" cy="1186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8FDBFD-EEE6-4700-A898-FABEB0C8C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095" y="4622532"/>
                <a:ext cx="5632578" cy="11864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2EF1B-FFC0-4D30-A680-28AACF6585E8}"/>
                  </a:ext>
                </a:extLst>
              </p:cNvPr>
              <p:cNvSpPr txBox="1"/>
              <p:nvPr/>
            </p:nvSpPr>
            <p:spPr>
              <a:xfrm>
                <a:off x="4779607" y="6166341"/>
                <a:ext cx="60975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2EF1B-FFC0-4D30-A680-28AACF658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607" y="6166341"/>
                <a:ext cx="609755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id="{AAC1564E-CC42-4AD4-AE96-B2FAAA6C1C29}"/>
              </a:ext>
            </a:extLst>
          </p:cNvPr>
          <p:cNvSpPr/>
          <p:nvPr/>
        </p:nvSpPr>
        <p:spPr>
          <a:xfrm rot="5400000">
            <a:off x="7482624" y="4663586"/>
            <a:ext cx="373225" cy="26322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1AA51711-1874-418F-A939-746A3F59D259}"/>
              </a:ext>
            </a:extLst>
          </p:cNvPr>
          <p:cNvSpPr/>
          <p:nvPr/>
        </p:nvSpPr>
        <p:spPr>
          <a:xfrm rot="5400000" flipV="1">
            <a:off x="9947208" y="5291266"/>
            <a:ext cx="373225" cy="13404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6C34BC-C5EA-4E20-9AD3-F747FF8345C5}"/>
                  </a:ext>
                </a:extLst>
              </p:cNvPr>
              <p:cNvSpPr txBox="1"/>
              <p:nvPr/>
            </p:nvSpPr>
            <p:spPr>
              <a:xfrm>
                <a:off x="7085043" y="6166341"/>
                <a:ext cx="609755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6C34BC-C5EA-4E20-9AD3-F747FF834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043" y="6166341"/>
                <a:ext cx="609755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35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5CFFB-1285-4384-BD28-D3382C3E5EB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Use of the matrix inverse: Solve for multiple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8FDBFD-EEE6-4700-A898-FABEB0C8CE90}"/>
                  </a:ext>
                </a:extLst>
              </p:cNvPr>
              <p:cNvSpPr txBox="1"/>
              <p:nvPr/>
            </p:nvSpPr>
            <p:spPr>
              <a:xfrm>
                <a:off x="1055915" y="1976989"/>
                <a:ext cx="9413032" cy="1186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4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4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8FDBFD-EEE6-4700-A898-FABEB0C8C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915" y="1976989"/>
                <a:ext cx="9413032" cy="11864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DD3D84-DFCA-4CEA-8231-B2866B29C00A}"/>
                  </a:ext>
                </a:extLst>
              </p:cNvPr>
              <p:cNvSpPr txBox="1"/>
              <p:nvPr/>
            </p:nvSpPr>
            <p:spPr>
              <a:xfrm>
                <a:off x="4176226" y="3601291"/>
                <a:ext cx="4114801" cy="132343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=22</m:t>
                      </m:r>
                    </m:oMath>
                  </m:oMathPara>
                </a14:m>
                <a:endParaRPr lang="en-US" sz="4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DD3D84-DFCA-4CEA-8231-B2866B29C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226" y="3601291"/>
                <a:ext cx="4114801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258C39F-A8B7-4C3A-85EC-01D1E4986447}"/>
                  </a:ext>
                </a:extLst>
              </p:cNvPr>
              <p:cNvSpPr txBox="1"/>
              <p:nvPr/>
            </p:nvSpPr>
            <p:spPr>
              <a:xfrm>
                <a:off x="4176226" y="5169436"/>
                <a:ext cx="4114801" cy="132343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5(2)+3(4)=22</m:t>
                      </m:r>
                    </m:oMath>
                  </m:oMathPara>
                </a14:m>
                <a:endParaRPr lang="en-US" sz="4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2(2)+2(4)=12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258C39F-A8B7-4C3A-85EC-01D1E4986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226" y="5169436"/>
                <a:ext cx="4114801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8ACC92D-2FEF-491F-AA68-8E3BD86B6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064" y="4814873"/>
            <a:ext cx="1601656" cy="14799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0B935A-C4F4-4C78-BD2A-27FA50F06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343" y="3449705"/>
            <a:ext cx="3193854" cy="319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4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4823-5578-41CC-B56E-1C5C778F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538"/>
            <a:ext cx="10515600" cy="1325563"/>
          </a:xfrm>
        </p:spPr>
        <p:txBody>
          <a:bodyPr/>
          <a:lstStyle/>
          <a:p>
            <a:pPr algn="ctr"/>
            <a:r>
              <a:rPr lang="en-US" i="1" dirty="0"/>
              <a:t>What did Spiderman mean when he said this?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4AD6AD-A76C-429A-83FE-3121BB4408BA}"/>
              </a:ext>
            </a:extLst>
          </p:cNvPr>
          <p:cNvSpPr txBox="1">
            <a:spLocks/>
          </p:cNvSpPr>
          <p:nvPr/>
        </p:nvSpPr>
        <p:spPr>
          <a:xfrm>
            <a:off x="425689" y="5368751"/>
            <a:ext cx="11244943" cy="132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Most likely he was talking about the power of the linear regression derivation.</a:t>
            </a:r>
          </a:p>
        </p:txBody>
      </p:sp>
      <p:pic>
        <p:nvPicPr>
          <p:cNvPr id="1026" name="Picture 2" descr="With great power, comes great responsibility | Far Flungers | Roger Ebert">
            <a:extLst>
              <a:ext uri="{FF2B5EF4-FFF2-40B4-BE49-F238E27FC236}">
                <a16:creationId xmlns:a16="http://schemas.microsoft.com/office/drawing/2014/main" id="{F21F7EF6-49B0-197B-4AF8-7AC76FAD8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27" y="1701717"/>
            <a:ext cx="4953839" cy="290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F9D87C-72B2-352D-5256-1C1A736B13FB}"/>
              </a:ext>
            </a:extLst>
          </p:cNvPr>
          <p:cNvSpPr txBox="1"/>
          <p:nvPr/>
        </p:nvSpPr>
        <p:spPr>
          <a:xfrm>
            <a:off x="5386137" y="1352498"/>
            <a:ext cx="62844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“With great </a:t>
            </a:r>
            <a:r>
              <a:rPr lang="en-US" sz="6000" b="1" dirty="0"/>
              <a:t>power</a:t>
            </a:r>
            <a:r>
              <a:rPr lang="en-US" sz="6000" dirty="0"/>
              <a:t> comes great </a:t>
            </a:r>
            <a:r>
              <a:rPr lang="en-US" sz="6000" b="1" dirty="0"/>
              <a:t>responsibility.</a:t>
            </a:r>
            <a:r>
              <a:rPr lang="en-US" sz="6000" dirty="0"/>
              <a:t>” </a:t>
            </a:r>
          </a:p>
          <a:p>
            <a:r>
              <a:rPr lang="en-US" sz="5400" dirty="0"/>
              <a:t>– Spiderman </a:t>
            </a:r>
          </a:p>
        </p:txBody>
      </p:sp>
    </p:spTree>
    <p:extLst>
      <p:ext uri="{BB962C8B-B14F-4D97-AF65-F5344CB8AC3E}">
        <p14:creationId xmlns:p14="http://schemas.microsoft.com/office/powerpoint/2010/main" val="13569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CE32-50E4-42F8-9751-5E6AA4F2F1A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Whiteboard derivation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9FE9D-4890-4BD3-AA71-B1D87BC3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762" y="1844286"/>
            <a:ext cx="5042126" cy="440745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4CFCCE-90E0-4890-8D4A-475D888511E5}"/>
              </a:ext>
            </a:extLst>
          </p:cNvPr>
          <p:cNvCxnSpPr/>
          <p:nvPr/>
        </p:nvCxnSpPr>
        <p:spPr>
          <a:xfrm flipV="1">
            <a:off x="3786673" y="2369975"/>
            <a:ext cx="3939073" cy="3508310"/>
          </a:xfrm>
          <a:prstGeom prst="line">
            <a:avLst/>
          </a:prstGeom>
          <a:ln w="76200"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295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CE32-50E4-42F8-9751-5E6AA4F2F1A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Coding Example in Python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9FE9D-4890-4BD3-AA71-B1D87BC3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762" y="1844286"/>
            <a:ext cx="5042126" cy="440745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4CFCCE-90E0-4890-8D4A-475D888511E5}"/>
              </a:ext>
            </a:extLst>
          </p:cNvPr>
          <p:cNvCxnSpPr/>
          <p:nvPr/>
        </p:nvCxnSpPr>
        <p:spPr>
          <a:xfrm flipV="1">
            <a:off x="3786673" y="2369975"/>
            <a:ext cx="3939073" cy="3508310"/>
          </a:xfrm>
          <a:prstGeom prst="line">
            <a:avLst/>
          </a:prstGeom>
          <a:ln w="76200"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464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C2DD-FBF4-4454-9EBC-5B34D6038FA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9E4B-E947-4237-A667-ADCCD9EB656C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>
                <a:hlinkClick r:id="rId2"/>
              </a:rPr>
              <a:t>https://gumlet.assettype.com/freepressjournal/2021-11/73de02ef-cd36-47d8-bbae-528d01dc6fe4/f89U3ADr1oiB1s9GkdPOEpXUk5H.jpg?format=webp&amp;w=400&amp;dpr=2.6</a:t>
            </a:r>
            <a:endParaRPr lang="en-US" dirty="0"/>
          </a:p>
          <a:p>
            <a:r>
              <a:rPr lang="en-US" dirty="0">
                <a:hlinkClick r:id="rId3"/>
              </a:rPr>
              <a:t>https://i.kym-cdn.com/photos/images/facebook/000/714/989/adc.jpg</a:t>
            </a:r>
            <a:endParaRPr lang="en-US" dirty="0"/>
          </a:p>
          <a:p>
            <a:r>
              <a:rPr lang="en-US" dirty="0">
                <a:hlinkClick r:id="rId4"/>
              </a:rPr>
              <a:t>https://www.azquotes.com/picture-quotes/quote-no-one-man-should-have-all-that-power-kanye-west-85-46-66.jpg</a:t>
            </a:r>
            <a:endParaRPr lang="en-US" dirty="0"/>
          </a:p>
          <a:p>
            <a:r>
              <a:rPr lang="en-US" dirty="0"/>
              <a:t>https://static.rogerebert.com/redactor_assets/pictures/far-flung-correspondents/with-great-power-comes-great-responsibility/spiderman2_big-decision.jpg</a:t>
            </a:r>
          </a:p>
          <a:p>
            <a:r>
              <a:rPr lang="en-US" dirty="0"/>
              <a:t>Matrix Slides from: </a:t>
            </a:r>
            <a:r>
              <a:rPr lang="en-US" b="0" i="0" u="none" strike="noStrike" dirty="0">
                <a:solidFill>
                  <a:srgbClr val="1A0DAB"/>
                </a:solidFill>
                <a:effectLst/>
                <a:latin typeface="Roboto" panose="02000000000000000000" pitchFamily="2" charset="0"/>
                <a:hlinkClick r:id="rId5"/>
              </a:rPr>
              <a:t>https://www.johnston.k12.nc.us/cms/lib/NC02214550/Centricity/Domain/5199/Online%20Ch3.ppt</a:t>
            </a:r>
            <a:endParaRPr lang="en-US" dirty="0"/>
          </a:p>
          <a:p>
            <a:r>
              <a:rPr lang="en-US" b="0" i="0" u="none" strike="noStrike" dirty="0">
                <a:solidFill>
                  <a:srgbClr val="1A0DAB"/>
                </a:solidFill>
                <a:effectLst/>
                <a:latin typeface="Roboto" panose="02000000000000000000" pitchFamily="2" charset="0"/>
                <a:hlinkClick r:id="rId6"/>
              </a:rPr>
              <a:t>https://www.murrieta.k12.ca.us/cms/lib/CA01000508/Centricity/Domain/1467/Section%207.5%20version%202%20AM.ppt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73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C2DD-FBF4-4454-9EBC-5B34D6038FA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Figure Sources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9E4B-E947-4237-A667-ADCCD9EB656C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>
                <a:hlinkClick r:id="rId2"/>
              </a:rPr>
              <a:t>https://www.thesun.co.uk/wp-content/uploads/2016/06/nintchdbpict000242185564.jpg</a:t>
            </a:r>
            <a:endParaRPr lang="en-US" dirty="0"/>
          </a:p>
          <a:p>
            <a:r>
              <a:rPr lang="en-US" dirty="0">
                <a:hlinkClick r:id="rId3"/>
              </a:rPr>
              <a:t>https://www.memecreator.org/static/images/memes/4217960.jpg</a:t>
            </a:r>
            <a:endParaRPr lang="en-US" dirty="0"/>
          </a:p>
          <a:p>
            <a:r>
              <a:rPr lang="en-US" dirty="0"/>
              <a:t>https://i.kym-cdn.com/photos/images/newsfeed/001/859/829/b82.png</a:t>
            </a:r>
          </a:p>
          <a:p>
            <a:r>
              <a:rPr lang="en-US" dirty="0"/>
              <a:t>Matrix Slides from: </a:t>
            </a:r>
            <a:r>
              <a:rPr lang="en-US" b="0" i="0" u="none" strike="noStrike" dirty="0">
                <a:solidFill>
                  <a:srgbClr val="1A0DAB"/>
                </a:solidFill>
                <a:effectLst/>
                <a:latin typeface="Roboto" panose="02000000000000000000" pitchFamily="2" charset="0"/>
                <a:hlinkClick r:id="rId4"/>
              </a:rPr>
              <a:t>https://www.johnston.k12.nc.us/cms/lib/NC02214550/Centricity/Domain/5199/Online%20Ch3.ppt</a:t>
            </a:r>
            <a:endParaRPr lang="en-US" dirty="0"/>
          </a:p>
          <a:p>
            <a:r>
              <a:rPr lang="en-US" b="0" i="0" u="none" strike="noStrike" dirty="0">
                <a:solidFill>
                  <a:srgbClr val="1A0DAB"/>
                </a:solidFill>
                <a:effectLst/>
                <a:latin typeface="Roboto" panose="02000000000000000000" pitchFamily="2" charset="0"/>
                <a:hlinkClick r:id="rId5"/>
              </a:rPr>
              <a:t>https://www.murrieta.k12.ca.us/cms/lib/CA01000508/Centricity/Domain/1467/Section%207.5%20version%202%20AM.ppt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145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1051</Words>
  <Application>Microsoft Office PowerPoint</Application>
  <PresentationFormat>Widescreen</PresentationFormat>
  <Paragraphs>134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Albertus (W1)</vt:lpstr>
      <vt:lpstr>Arial</vt:lpstr>
      <vt:lpstr>Calibri</vt:lpstr>
      <vt:lpstr>Calibri Light</vt:lpstr>
      <vt:lpstr>Cambria Math</vt:lpstr>
      <vt:lpstr>Roboto</vt:lpstr>
      <vt:lpstr>Times New Roman</vt:lpstr>
      <vt:lpstr>Office Theme</vt:lpstr>
      <vt:lpstr>CSE 2500: Introduction to Discrete Systems</vt:lpstr>
      <vt:lpstr>The SET Survey</vt:lpstr>
      <vt:lpstr>Today’s Lecture Material</vt:lpstr>
      <vt:lpstr>What is the main challenge  in a machine learning problem?</vt:lpstr>
      <vt:lpstr>The Hyperplane</vt:lpstr>
      <vt:lpstr>Machine learning data is multi-dimensional</vt:lpstr>
      <vt:lpstr>PowerPoint Presentation</vt:lpstr>
      <vt:lpstr>Review from last time…</vt:lpstr>
      <vt:lpstr>PowerPoint Presentation</vt:lpstr>
      <vt:lpstr>Matrix Multiplication: Go row by column</vt:lpstr>
      <vt:lpstr>Matrix Multiplication: Go row by column</vt:lpstr>
      <vt:lpstr>Matrix Multiplication Properties</vt:lpstr>
      <vt:lpstr>A few more matrix properties…</vt:lpstr>
      <vt:lpstr>Transpose Properties</vt:lpstr>
      <vt:lpstr>Simple Example: Let us have a vector e. We want to compute the square of all elements of e and sum them together.</vt:lpstr>
      <vt:lpstr>Matrix Inverse and Identity Matrix</vt:lpstr>
      <vt:lpstr>Computing a Matrix Inverse</vt:lpstr>
      <vt:lpstr>Computing a Matrix Inverse Example</vt:lpstr>
      <vt:lpstr>PowerPoint Presentation</vt:lpstr>
      <vt:lpstr>Where would we need to use the matrix inverse?</vt:lpstr>
      <vt:lpstr>Use of the matrix inverse: Solve for multiple variables</vt:lpstr>
      <vt:lpstr>Use of the matrix inverse: Solve for multiple variables</vt:lpstr>
      <vt:lpstr>Use of the matrix inverse: Solve for multiple variables</vt:lpstr>
      <vt:lpstr>What did Spiderman mean when he said this?</vt:lpstr>
      <vt:lpstr>Whiteboard derivation</vt:lpstr>
      <vt:lpstr>Coding Example in Python</vt:lpstr>
      <vt:lpstr>Figure Sources</vt:lpstr>
      <vt:lpstr>Figure Sources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2500: Introduction to Discrete Systems</dc:title>
  <dc:creator>Mahmood, Kaleel</dc:creator>
  <cp:lastModifiedBy>Mahmood, Kaleel</cp:lastModifiedBy>
  <cp:revision>30</cp:revision>
  <dcterms:created xsi:type="dcterms:W3CDTF">2022-11-30T20:13:22Z</dcterms:created>
  <dcterms:modified xsi:type="dcterms:W3CDTF">2022-12-01T04:34:05Z</dcterms:modified>
</cp:coreProperties>
</file>